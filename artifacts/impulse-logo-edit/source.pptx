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Impulse solves a simple problem: useful ideas are scattered across saved links. The application turns those sources into structured, searchable memory and grounded answers.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Generated visual: OpenAI ImageGen; prompt recorded in task history.</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Saving a URL alone does not preserve meaning. The extension captures content, the Android application provides the user experience, and both rely on the same backend memory pipeline.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docs/01-product-overview.md</a:t>
            </a:r>
            <a:endParaRPr/>
          </a:p>
          <a:p>
            <a:pPr indent="0" lvl="0" marL="0" rtl="0" algn="l">
              <a:spcBef>
                <a:spcPts val="0"/>
              </a:spcBef>
              <a:spcAft>
                <a:spcPts val="0"/>
              </a:spcAft>
              <a:buNone/>
            </a:pPr>
            <a:r>
              <a:rPr lang="en-US" sz="1200"/>
              <a:t>- docs/10-browser-extension.md</a:t>
            </a:r>
            <a:endParaRPr/>
          </a:p>
          <a:p>
            <a:pPr indent="0" lvl="0" marL="0" rtl="0" algn="l">
              <a:spcBef>
                <a:spcPts val="0"/>
              </a:spcBef>
              <a:spcAft>
                <a:spcPts val="0"/>
              </a:spcAft>
              <a:buNone/>
            </a:pPr>
            <a:r>
              <a:rPr lang="en-US" sz="1200"/>
              <a:t>- apps/frontend/app/src/main/java/com/impulse/ui/main/MainScreen.kt</a:t>
            </a:r>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client never talks directly to the database or Gemini. Spring Boot validates the request, calls the FastAPI AI service, validates the returned 768-value embedding, and saves the memory.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apps/extension/utils/extractors.js</a:t>
            </a:r>
            <a:endParaRPr/>
          </a:p>
          <a:p>
            <a:pPr indent="0" lvl="0" marL="0" rtl="0" algn="l">
              <a:spcBef>
                <a:spcPts val="0"/>
              </a:spcBef>
              <a:spcAft>
                <a:spcPts val="0"/>
              </a:spcAft>
              <a:buNone/>
            </a:pPr>
            <a:r>
              <a:rPr lang="en-US" sz="1200"/>
              <a:t>- apps/backend/src/main/kotlin/com/impulse/backend/memory/MemoryService.kt</a:t>
            </a:r>
            <a:endParaRPr/>
          </a:p>
          <a:p>
            <a:pPr indent="0" lvl="0" marL="0" rtl="0" algn="l">
              <a:spcBef>
                <a:spcPts val="0"/>
              </a:spcBef>
              <a:spcAft>
                <a:spcPts val="0"/>
              </a:spcAft>
              <a:buNone/>
            </a:pPr>
            <a:r>
              <a:rPr lang="en-US" sz="1200"/>
              <a:t>- apps/backend/src/main/kotlin/com/impulse/backend/memory/AiMemoryProcessor.kt</a:t>
            </a:r>
            <a:endParaRPr/>
          </a:p>
          <a:p>
            <a:pPr indent="0" lvl="0" marL="0" rtl="0" algn="l">
              <a:spcBef>
                <a:spcPts val="0"/>
              </a:spcBef>
              <a:spcAft>
                <a:spcPts val="0"/>
              </a:spcAft>
              <a:buNone/>
            </a:pPr>
            <a:r>
              <a:rPr lang="en-US" sz="1200"/>
              <a:t>- apps/ai-service/memory_processor.py</a:t>
            </a:r>
            <a:endParaRPr/>
          </a:p>
        </p:txBody>
      </p:sp>
      <p:sp>
        <p:nvSpPr>
          <p:cNvPr id="51" name="Google Shape;5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first LLM converts source content into reusable memory. At query time the question is embedded, hybrid retrieval ranks the user's memories, and only the best six are sent to the final LLM for a grounded response.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docs/04-rag-design.md</a:t>
            </a:r>
            <a:endParaRPr/>
          </a:p>
          <a:p>
            <a:pPr indent="0" lvl="0" marL="0" rtl="0" algn="l">
              <a:spcBef>
                <a:spcPts val="0"/>
              </a:spcBef>
              <a:spcAft>
                <a:spcPts val="0"/>
              </a:spcAft>
              <a:buNone/>
            </a:pPr>
            <a:r>
              <a:rPr lang="en-US" sz="1200"/>
              <a:t>- apps/backend/src/main/kotlin/com/impulse/backend/planning/MemoryRetrievalService.kt</a:t>
            </a:r>
            <a:endParaRPr/>
          </a:p>
          <a:p>
            <a:pPr indent="0" lvl="0" marL="0" rtl="0" algn="l">
              <a:spcBef>
                <a:spcPts val="0"/>
              </a:spcBef>
              <a:spcAft>
                <a:spcPts val="0"/>
              </a:spcAft>
              <a:buNone/>
            </a:pPr>
            <a:r>
              <a:rPr lang="en-US" sz="1200"/>
              <a:t>- apps/backend/src/main/kotlin/com/impulse/backend/planning/PlanningService.kt</a:t>
            </a:r>
            <a:endParaRPr/>
          </a:p>
          <a:p>
            <a:pPr indent="0" lvl="0" marL="0" rtl="0" algn="l">
              <a:spcBef>
                <a:spcPts val="0"/>
              </a:spcBef>
              <a:spcAft>
                <a:spcPts val="0"/>
              </a:spcAft>
              <a:buNone/>
            </a:pPr>
            <a:r>
              <a:rPr lang="en-US" sz="1200"/>
              <a:t>- apps/ai-service/memory_processor.py</a:t>
            </a:r>
            <a:endParaRPr/>
          </a:p>
        </p:txBody>
      </p:sp>
      <p:sp>
        <p:nvSpPr>
          <p:cNvPr id="86" name="Google Shape;8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Future work adds audio and frame analysis, more approved sources, asynchronous processing, faster vector search, reranking, and stronger user controls. The core flow remains stable: understand, store, retrieve, then generate.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docs/11-creatorbrain-impulse-progress.md</a:t>
            </a:r>
            <a:endParaRPr/>
          </a:p>
          <a:p>
            <a:pPr indent="0" lvl="0" marL="0" rtl="0" algn="l">
              <a:spcBef>
                <a:spcPts val="0"/>
              </a:spcBef>
              <a:spcAft>
                <a:spcPts val="0"/>
              </a:spcAft>
              <a:buNone/>
            </a:pPr>
            <a:r>
              <a:rPr lang="en-US" sz="1200"/>
              <a:t>- docs/08-link-ingestion-plan.md</a:t>
            </a:r>
            <a:endParaRPr/>
          </a:p>
          <a:p>
            <a:pPr indent="0" lvl="0" marL="0" rtl="0" algn="l">
              <a:spcBef>
                <a:spcPts val="0"/>
              </a:spcBef>
              <a:spcAft>
                <a:spcPts val="0"/>
              </a:spcAft>
              <a:buNone/>
            </a:pPr>
            <a:r>
              <a:rPr lang="en-US" sz="1200"/>
              <a:t>- docs/04-rag-design.md</a:t>
            </a:r>
            <a:endParaRPr/>
          </a:p>
        </p:txBody>
      </p:sp>
      <p:sp>
        <p:nvSpPr>
          <p:cNvPr id="146" name="Google Shape;14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Impulse creates a reusable personal knowledge layer from content the user already values. Questions and feedback are welcome.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Generated visual: OpenAI ImageGen; prompt recorded in task history.</a:t>
            </a:r>
            <a:endParaRPr/>
          </a:p>
        </p:txBody>
      </p:sp>
      <p:sp>
        <p:nvSpPr>
          <p:cNvPr id="173" name="Google Shape;17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3">
            <a:alphaModFix/>
          </a:blip>
          <a:srcRect b="0" l="21860" r="21860" t="0"/>
          <a:stretch/>
        </p:blipFill>
        <p:spPr>
          <a:xfrm>
            <a:off x="5334000" y="0"/>
            <a:ext cx="6858000" cy="6858000"/>
          </a:xfrm>
          <a:prstGeom prst="rect">
            <a:avLst/>
          </a:prstGeom>
          <a:noFill/>
          <a:ln>
            <a:noFill/>
          </a:ln>
        </p:spPr>
      </p:pic>
      <p:sp>
        <p:nvSpPr>
          <p:cNvPr id="17" name="Google Shape;17;p3"/>
          <p:cNvSpPr/>
          <p:nvPr/>
        </p:nvSpPr>
        <p:spPr>
          <a:xfrm>
            <a:off x="419100" y="457200"/>
            <a:ext cx="47625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75">
                <a:solidFill>
                  <a:srgbClr val="CC4824"/>
                </a:solidFill>
                <a:latin typeface="Arial"/>
                <a:ea typeface="Arial"/>
                <a:cs typeface="Arial"/>
                <a:sym typeface="Arial"/>
              </a:rPr>
              <a:t>IMPULSE • PERSONAL KNOWLEDGE + PLANNING</a:t>
            </a:r>
            <a:endParaRPr/>
          </a:p>
        </p:txBody>
      </p:sp>
      <p:sp>
        <p:nvSpPr>
          <p:cNvPr id="18" name="Google Shape;18;p3"/>
          <p:cNvSpPr/>
          <p:nvPr/>
        </p:nvSpPr>
        <p:spPr>
          <a:xfrm>
            <a:off x="419100" y="1466850"/>
            <a:ext cx="4476750" cy="781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4525">
                <a:solidFill>
                  <a:srgbClr val="24231F"/>
                </a:solidFill>
                <a:latin typeface="Georgia"/>
                <a:ea typeface="Georgia"/>
                <a:cs typeface="Georgia"/>
                <a:sym typeface="Georgia"/>
              </a:rPr>
              <a:t>Impulse</a:t>
            </a:r>
            <a:endParaRPr/>
          </a:p>
        </p:txBody>
      </p:sp>
      <p:sp>
        <p:nvSpPr>
          <p:cNvPr id="19" name="Google Shape;19;p3"/>
          <p:cNvSpPr/>
          <p:nvPr/>
        </p:nvSpPr>
        <p:spPr>
          <a:xfrm>
            <a:off x="419100" y="2286000"/>
            <a:ext cx="47625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700">
                <a:solidFill>
                  <a:srgbClr val="24231F"/>
                </a:solidFill>
                <a:latin typeface="Georgia"/>
                <a:ea typeface="Georgia"/>
                <a:cs typeface="Georgia"/>
                <a:sym typeface="Georgia"/>
              </a:rPr>
              <a:t>Save once. Understand once.</a:t>
            </a:r>
            <a:endParaRPr/>
          </a:p>
          <a:p>
            <a:pPr indent="0" lvl="0" marL="0" marR="0" rtl="0" algn="l">
              <a:spcBef>
                <a:spcPts val="0"/>
              </a:spcBef>
              <a:spcAft>
                <a:spcPts val="0"/>
              </a:spcAft>
              <a:buNone/>
            </a:pPr>
            <a:r>
              <a:rPr b="0" lang="en-US" sz="2700">
                <a:solidFill>
                  <a:srgbClr val="24231F"/>
                </a:solidFill>
                <a:latin typeface="Georgia"/>
                <a:ea typeface="Georgia"/>
                <a:cs typeface="Georgia"/>
                <a:sym typeface="Georgia"/>
              </a:rPr>
              <a:t>Use it when it matters.</a:t>
            </a:r>
            <a:endParaRPr/>
          </a:p>
        </p:txBody>
      </p:sp>
      <p:sp>
        <p:nvSpPr>
          <p:cNvPr id="20" name="Google Shape;20;p3"/>
          <p:cNvSpPr/>
          <p:nvPr/>
        </p:nvSpPr>
        <p:spPr>
          <a:xfrm>
            <a:off x="419100" y="3638550"/>
            <a:ext cx="4667250" cy="857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650">
                <a:solidFill>
                  <a:srgbClr val="6D6A63"/>
                </a:solidFill>
                <a:latin typeface="Arial"/>
                <a:ea typeface="Arial"/>
                <a:cs typeface="Arial"/>
                <a:sym typeface="Arial"/>
              </a:rPr>
              <a:t>Saved videos, posts and web pages become searchable memories, grounded answers and practical plans.</a:t>
            </a:r>
            <a:endParaRPr/>
          </a:p>
        </p:txBody>
      </p:sp>
      <p:sp>
        <p:nvSpPr>
          <p:cNvPr id="21" name="Google Shape;21;p3"/>
          <p:cNvSpPr/>
          <p:nvPr/>
        </p:nvSpPr>
        <p:spPr>
          <a:xfrm>
            <a:off x="419100" y="5219700"/>
            <a:ext cx="8572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900">
                <a:solidFill>
                  <a:srgbClr val="CC4824"/>
                </a:solidFill>
                <a:latin typeface="Arial"/>
                <a:ea typeface="Arial"/>
                <a:cs typeface="Arial"/>
                <a:sym typeface="Arial"/>
              </a:rPr>
              <a:t>TEAM</a:t>
            </a:r>
            <a:endParaRPr/>
          </a:p>
        </p:txBody>
      </p:sp>
      <p:sp>
        <p:nvSpPr>
          <p:cNvPr id="22" name="Google Shape;22;p3"/>
          <p:cNvSpPr/>
          <p:nvPr/>
        </p:nvSpPr>
        <p:spPr>
          <a:xfrm>
            <a:off x="419100" y="5486400"/>
            <a:ext cx="4667250"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75">
                <a:solidFill>
                  <a:srgbClr val="24231F"/>
                </a:solidFill>
                <a:latin typeface="Arial"/>
                <a:ea typeface="Arial"/>
                <a:cs typeface="Arial"/>
                <a:sym typeface="Arial"/>
              </a:rPr>
              <a:t>Kiran Kumar Sahoo  •  Apurvaa Avinandita  •  Jagadheshvar B 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27" name="Shape 27"/>
        <p:cNvGrpSpPr/>
        <p:nvPr/>
      </p:nvGrpSpPr>
      <p:grpSpPr>
        <a:xfrm>
          <a:off x="0" y="0"/>
          <a:ext cx="0" cy="0"/>
          <a:chOff x="0" y="0"/>
          <a:chExt cx="0" cy="0"/>
        </a:xfrm>
      </p:grpSpPr>
      <p:sp>
        <p:nvSpPr>
          <p:cNvPr id="28" name="Google Shape;28;p4"/>
          <p:cNvSpPr/>
          <p:nvPr/>
        </p:nvSpPr>
        <p:spPr>
          <a:xfrm>
            <a:off x="400050" y="266700"/>
            <a:ext cx="10953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850">
                <a:solidFill>
                  <a:srgbClr val="24231F"/>
                </a:solidFill>
                <a:latin typeface="Georgia"/>
                <a:ea typeface="Georgia"/>
                <a:cs typeface="Georgia"/>
                <a:sym typeface="Georgia"/>
              </a:rPr>
              <a:t>A saved link is not yet useful knowledge</a:t>
            </a:r>
            <a:endParaRPr/>
          </a:p>
        </p:txBody>
      </p:sp>
      <p:sp>
        <p:nvSpPr>
          <p:cNvPr id="29" name="Google Shape;29;p4"/>
          <p:cNvSpPr/>
          <p:nvPr/>
        </p:nvSpPr>
        <p:spPr>
          <a:xfrm>
            <a:off x="11315700" y="6286500"/>
            <a:ext cx="476250" cy="2095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lang="en-US" sz="775">
                <a:solidFill>
                  <a:srgbClr val="6D6A63"/>
                </a:solidFill>
                <a:latin typeface="Arial"/>
                <a:ea typeface="Arial"/>
                <a:cs typeface="Arial"/>
                <a:sym typeface="Arial"/>
              </a:rPr>
              <a:t>02</a:t>
            </a:r>
            <a:endParaRPr/>
          </a:p>
        </p:txBody>
      </p:sp>
      <p:sp>
        <p:nvSpPr>
          <p:cNvPr id="30" name="Google Shape;30;p4"/>
          <p:cNvSpPr/>
          <p:nvPr/>
        </p:nvSpPr>
        <p:spPr>
          <a:xfrm>
            <a:off x="419100" y="1162050"/>
            <a:ext cx="238125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6D6A63"/>
                </a:solidFill>
                <a:latin typeface="Arial"/>
                <a:ea typeface="Arial"/>
                <a:cs typeface="Arial"/>
                <a:sym typeface="Arial"/>
              </a:rPr>
              <a:t>Customer problem</a:t>
            </a:r>
            <a:endParaRPr/>
          </a:p>
        </p:txBody>
      </p:sp>
      <p:sp>
        <p:nvSpPr>
          <p:cNvPr id="31" name="Google Shape;31;p4"/>
          <p:cNvSpPr/>
          <p:nvPr/>
        </p:nvSpPr>
        <p:spPr>
          <a:xfrm>
            <a:off x="419100" y="1600200"/>
            <a:ext cx="4572000" cy="1809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625">
                <a:solidFill>
                  <a:srgbClr val="24231F"/>
                </a:solidFill>
                <a:latin typeface="Arial"/>
                <a:ea typeface="Arial"/>
                <a:cs typeface="Arial"/>
                <a:sym typeface="Arial"/>
              </a:rPr>
              <a:t>Links are fragmented.</a:t>
            </a:r>
            <a:endParaRPr/>
          </a:p>
          <a:p>
            <a:pPr indent="0" lvl="0" marL="0" marR="0" rtl="0" algn="l">
              <a:spcBef>
                <a:spcPts val="0"/>
              </a:spcBef>
              <a:spcAft>
                <a:spcPts val="0"/>
              </a:spcAft>
              <a:buNone/>
            </a:pPr>
            <a:r>
              <a:rPr b="1" lang="en-US" sz="2625">
                <a:solidFill>
                  <a:srgbClr val="24231F"/>
                </a:solidFill>
                <a:latin typeface="Arial"/>
                <a:ea typeface="Arial"/>
                <a:cs typeface="Arial"/>
                <a:sym typeface="Arial"/>
              </a:rPr>
              <a:t>Details are forgotten.</a:t>
            </a:r>
            <a:endParaRPr/>
          </a:p>
          <a:p>
            <a:pPr indent="0" lvl="0" marL="0" marR="0" rtl="0" algn="l">
              <a:spcBef>
                <a:spcPts val="0"/>
              </a:spcBef>
              <a:spcAft>
                <a:spcPts val="0"/>
              </a:spcAft>
              <a:buNone/>
            </a:pPr>
            <a:r>
              <a:rPr b="1" lang="en-US" sz="2625">
                <a:solidFill>
                  <a:srgbClr val="24231F"/>
                </a:solidFill>
                <a:latin typeface="Arial"/>
                <a:ea typeface="Arial"/>
                <a:cs typeface="Arial"/>
                <a:sym typeface="Arial"/>
              </a:rPr>
              <a:t>Generic AI lacks context.</a:t>
            </a:r>
            <a:endParaRPr/>
          </a:p>
        </p:txBody>
      </p:sp>
      <p:sp>
        <p:nvSpPr>
          <p:cNvPr id="32" name="Google Shape;32;p4"/>
          <p:cNvSpPr/>
          <p:nvPr/>
        </p:nvSpPr>
        <p:spPr>
          <a:xfrm>
            <a:off x="5286375" y="2381250"/>
            <a:ext cx="1143000" cy="4191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6762750" y="1162050"/>
            <a:ext cx="28575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CC4824"/>
                </a:solidFill>
                <a:latin typeface="Arial"/>
                <a:ea typeface="Arial"/>
                <a:cs typeface="Arial"/>
                <a:sym typeface="Arial"/>
              </a:rPr>
              <a:t>How Impulse solves it</a:t>
            </a:r>
            <a:endParaRPr/>
          </a:p>
        </p:txBody>
      </p:sp>
      <p:sp>
        <p:nvSpPr>
          <p:cNvPr id="34" name="Google Shape;34;p4"/>
          <p:cNvSpPr/>
          <p:nvPr/>
        </p:nvSpPr>
        <p:spPr>
          <a:xfrm>
            <a:off x="6762750" y="1619250"/>
            <a:ext cx="4667250" cy="876300"/>
          </a:xfrm>
          <a:prstGeom prst="roundRect">
            <a:avLst>
              <a:gd fmla="val 8696"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6762750" y="1619250"/>
            <a:ext cx="76200" cy="8763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972300" y="1743075"/>
            <a:ext cx="43434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Understand once</a:t>
            </a:r>
            <a:endParaRPr/>
          </a:p>
        </p:txBody>
      </p:sp>
      <p:sp>
        <p:nvSpPr>
          <p:cNvPr id="37" name="Google Shape;37;p4"/>
          <p:cNvSpPr/>
          <p:nvPr/>
        </p:nvSpPr>
        <p:spPr>
          <a:xfrm>
            <a:off x="6972300" y="2076450"/>
            <a:ext cx="43434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Extract compact facts, topics and useful actions.</a:t>
            </a:r>
            <a:endParaRPr/>
          </a:p>
        </p:txBody>
      </p:sp>
      <p:sp>
        <p:nvSpPr>
          <p:cNvPr id="38" name="Google Shape;38;p4"/>
          <p:cNvSpPr/>
          <p:nvPr/>
        </p:nvSpPr>
        <p:spPr>
          <a:xfrm>
            <a:off x="6762750" y="2686050"/>
            <a:ext cx="4667250" cy="876300"/>
          </a:xfrm>
          <a:prstGeom prst="roundRect">
            <a:avLst>
              <a:gd fmla="val 8696"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6762750" y="2686050"/>
            <a:ext cx="76200" cy="8763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6972300" y="2809875"/>
            <a:ext cx="43434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Store for retrieval</a:t>
            </a:r>
            <a:endParaRPr/>
          </a:p>
        </p:txBody>
      </p:sp>
      <p:sp>
        <p:nvSpPr>
          <p:cNvPr id="41" name="Google Shape;41;p4"/>
          <p:cNvSpPr/>
          <p:nvPr/>
        </p:nvSpPr>
        <p:spPr>
          <a:xfrm>
            <a:off x="6972300" y="3143250"/>
            <a:ext cx="43434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Keep human-readable data and its vector meaning.</a:t>
            </a:r>
            <a:endParaRPr/>
          </a:p>
        </p:txBody>
      </p:sp>
      <p:sp>
        <p:nvSpPr>
          <p:cNvPr id="42" name="Google Shape;42;p4"/>
          <p:cNvSpPr/>
          <p:nvPr/>
        </p:nvSpPr>
        <p:spPr>
          <a:xfrm>
            <a:off x="6762750" y="3752850"/>
            <a:ext cx="4667250" cy="876300"/>
          </a:xfrm>
          <a:prstGeom prst="roundRect">
            <a:avLst>
              <a:gd fmla="val 8696"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6762750" y="3752850"/>
            <a:ext cx="76200" cy="8763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972300" y="3876675"/>
            <a:ext cx="43434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Answer with evidence</a:t>
            </a:r>
            <a:endParaRPr/>
          </a:p>
        </p:txBody>
      </p:sp>
      <p:sp>
        <p:nvSpPr>
          <p:cNvPr id="45" name="Google Shape;45;p4"/>
          <p:cNvSpPr/>
          <p:nvPr/>
        </p:nvSpPr>
        <p:spPr>
          <a:xfrm>
            <a:off x="6972300" y="4210050"/>
            <a:ext cx="43434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Retrieve relevant memories before the final LLM responds.</a:t>
            </a:r>
            <a:endParaRPr/>
          </a:p>
        </p:txBody>
      </p:sp>
      <p:sp>
        <p:nvSpPr>
          <p:cNvPr id="46" name="Google Shape;46;p4"/>
          <p:cNvSpPr/>
          <p:nvPr/>
        </p:nvSpPr>
        <p:spPr>
          <a:xfrm>
            <a:off x="419100" y="4953000"/>
            <a:ext cx="11010900" cy="876300"/>
          </a:xfrm>
          <a:prstGeom prst="rect">
            <a:avLst/>
          </a:prstGeom>
          <a:solidFill>
            <a:srgbClr val="F0EDE5"/>
          </a:solidFill>
          <a:ln cap="flat" cmpd="sng" w="14275">
            <a:solidFill>
              <a:srgbClr val="F0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685800" y="5095875"/>
            <a:ext cx="10477500"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24231F"/>
                </a:solidFill>
                <a:latin typeface="Arial"/>
                <a:ea typeface="Arial"/>
                <a:cs typeface="Arial"/>
                <a:sym typeface="Arial"/>
              </a:rPr>
              <a:t>Target customers: students, creators, travelers and professionals who save useful content but cannot find or reuse it when needed.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2" name="Shape 52"/>
        <p:cNvGrpSpPr/>
        <p:nvPr/>
      </p:nvGrpSpPr>
      <p:grpSpPr>
        <a:xfrm>
          <a:off x="0" y="0"/>
          <a:ext cx="0" cy="0"/>
          <a:chOff x="0" y="0"/>
          <a:chExt cx="0" cy="0"/>
        </a:xfrm>
      </p:grpSpPr>
      <p:sp>
        <p:nvSpPr>
          <p:cNvPr id="53" name="Google Shape;53;p5"/>
          <p:cNvSpPr/>
          <p:nvPr/>
        </p:nvSpPr>
        <p:spPr>
          <a:xfrm>
            <a:off x="400050" y="266700"/>
            <a:ext cx="10953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850">
                <a:solidFill>
                  <a:srgbClr val="24231F"/>
                </a:solidFill>
                <a:latin typeface="Georgia"/>
                <a:ea typeface="Georgia"/>
                <a:cs typeface="Georgia"/>
                <a:sym typeface="Georgia"/>
              </a:rPr>
              <a:t>One end-to-end flow turns a URL into searchable memory</a:t>
            </a:r>
            <a:endParaRPr/>
          </a:p>
        </p:txBody>
      </p:sp>
      <p:sp>
        <p:nvSpPr>
          <p:cNvPr id="54" name="Google Shape;54;p5"/>
          <p:cNvSpPr/>
          <p:nvPr/>
        </p:nvSpPr>
        <p:spPr>
          <a:xfrm>
            <a:off x="11315700" y="6286500"/>
            <a:ext cx="476250" cy="2095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lang="en-US" sz="775">
                <a:solidFill>
                  <a:srgbClr val="6D6A63"/>
                </a:solidFill>
                <a:latin typeface="Arial"/>
                <a:ea typeface="Arial"/>
                <a:cs typeface="Arial"/>
                <a:sym typeface="Arial"/>
              </a:rPr>
              <a:t>03</a:t>
            </a:r>
            <a:endParaRPr/>
          </a:p>
        </p:txBody>
      </p:sp>
      <p:sp>
        <p:nvSpPr>
          <p:cNvPr id="55" name="Google Shape;55;p5"/>
          <p:cNvSpPr/>
          <p:nvPr/>
        </p:nvSpPr>
        <p:spPr>
          <a:xfrm>
            <a:off x="419100" y="952500"/>
            <a:ext cx="85725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400">
                <a:solidFill>
                  <a:srgbClr val="6D6A63"/>
                </a:solidFill>
                <a:latin typeface="Arial"/>
                <a:ea typeface="Arial"/>
                <a:cs typeface="Arial"/>
                <a:sym typeface="Arial"/>
              </a:rPr>
              <a:t>Capture → trusted backend → AI understanding → searchable memory</a:t>
            </a:r>
            <a:endParaRPr/>
          </a:p>
        </p:txBody>
      </p:sp>
      <p:sp>
        <p:nvSpPr>
          <p:cNvPr id="56" name="Google Shape;56;p5"/>
          <p:cNvSpPr/>
          <p:nvPr/>
        </p:nvSpPr>
        <p:spPr>
          <a:xfrm>
            <a:off x="2143125" y="2686050"/>
            <a:ext cx="523875" cy="3429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4514850" y="2686050"/>
            <a:ext cx="523875" cy="3429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6886575" y="2686050"/>
            <a:ext cx="523875" cy="3429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9258300" y="2686050"/>
            <a:ext cx="523875" cy="3429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419100" y="1981200"/>
            <a:ext cx="1724025" cy="1752600"/>
          </a:xfrm>
          <a:prstGeom prst="roundRect">
            <a:avLst>
              <a:gd fmla="val 4420"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419100" y="1981200"/>
            <a:ext cx="76200" cy="17526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28650" y="2105025"/>
            <a:ext cx="14001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1  Capture</a:t>
            </a:r>
            <a:endParaRPr/>
          </a:p>
        </p:txBody>
      </p:sp>
      <p:sp>
        <p:nvSpPr>
          <p:cNvPr id="63" name="Google Shape;63;p5"/>
          <p:cNvSpPr/>
          <p:nvPr/>
        </p:nvSpPr>
        <p:spPr>
          <a:xfrm>
            <a:off x="628650" y="2438400"/>
            <a:ext cx="1400175" cy="1200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Chrome or Android sends URL, visible content and user note.</a:t>
            </a:r>
            <a:endParaRPr/>
          </a:p>
        </p:txBody>
      </p:sp>
      <p:sp>
        <p:nvSpPr>
          <p:cNvPr id="64" name="Google Shape;64;p5"/>
          <p:cNvSpPr/>
          <p:nvPr/>
        </p:nvSpPr>
        <p:spPr>
          <a:xfrm>
            <a:off x="2667000" y="1981200"/>
            <a:ext cx="1847850" cy="1752600"/>
          </a:xfrm>
          <a:prstGeom prst="roundRect">
            <a:avLst>
              <a:gd fmla="val 4348"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2667000" y="1981200"/>
            <a:ext cx="76200" cy="1752600"/>
          </a:xfrm>
          <a:prstGeom prst="rect">
            <a:avLst/>
          </a:prstGeom>
          <a:solidFill>
            <a:srgbClr val="24231F"/>
          </a:solidFill>
          <a:ln cap="flat" cmpd="sng" w="9525">
            <a:solidFill>
              <a:srgbClr val="2423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2876550" y="2105025"/>
            <a:ext cx="15240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2  Backend</a:t>
            </a:r>
            <a:endParaRPr/>
          </a:p>
        </p:txBody>
      </p:sp>
      <p:sp>
        <p:nvSpPr>
          <p:cNvPr id="67" name="Google Shape;67;p5"/>
          <p:cNvSpPr/>
          <p:nvPr/>
        </p:nvSpPr>
        <p:spPr>
          <a:xfrm>
            <a:off x="2876550" y="2438400"/>
            <a:ext cx="1524000" cy="1200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Validates source, user and payload. Calls the AI service.</a:t>
            </a:r>
            <a:endParaRPr/>
          </a:p>
        </p:txBody>
      </p:sp>
      <p:sp>
        <p:nvSpPr>
          <p:cNvPr id="68" name="Google Shape;68;p5"/>
          <p:cNvSpPr/>
          <p:nvPr/>
        </p:nvSpPr>
        <p:spPr>
          <a:xfrm>
            <a:off x="5038725" y="1981200"/>
            <a:ext cx="1847850" cy="1752600"/>
          </a:xfrm>
          <a:prstGeom prst="roundRect">
            <a:avLst>
              <a:gd fmla="val 4348"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5038725" y="1981200"/>
            <a:ext cx="76200" cy="1752600"/>
          </a:xfrm>
          <a:prstGeom prst="rect">
            <a:avLst/>
          </a:prstGeom>
          <a:solidFill>
            <a:srgbClr val="806C52"/>
          </a:solidFill>
          <a:ln cap="flat" cmpd="sng" w="9525">
            <a:solidFill>
              <a:srgbClr val="806C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5248275" y="2105025"/>
            <a:ext cx="15240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3  AI service</a:t>
            </a:r>
            <a:endParaRPr/>
          </a:p>
        </p:txBody>
      </p:sp>
      <p:sp>
        <p:nvSpPr>
          <p:cNvPr id="71" name="Google Shape;71;p5"/>
          <p:cNvSpPr/>
          <p:nvPr/>
        </p:nvSpPr>
        <p:spPr>
          <a:xfrm>
            <a:off x="5248275" y="2438400"/>
            <a:ext cx="1524000" cy="1200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6D6A63"/>
                </a:solidFill>
              </a:rPr>
              <a:t>E</a:t>
            </a:r>
            <a:r>
              <a:rPr b="0" lang="en-US" sz="1200">
                <a:solidFill>
                  <a:srgbClr val="6D6A63"/>
                </a:solidFill>
                <a:latin typeface="Arial"/>
                <a:ea typeface="Arial"/>
                <a:cs typeface="Arial"/>
                <a:sym typeface="Arial"/>
              </a:rPr>
              <a:t>xtracts supplied text, analyzes them</a:t>
            </a:r>
            <a:r>
              <a:rPr lang="en-US" sz="1200">
                <a:solidFill>
                  <a:srgbClr val="6D6A63"/>
                </a:solidFill>
              </a:rPr>
              <a:t>, creates </a:t>
            </a:r>
            <a:r>
              <a:rPr lang="en-US" sz="1200">
                <a:solidFill>
                  <a:srgbClr val="6D6A63"/>
                </a:solidFill>
              </a:rPr>
              <a:t>embedding</a:t>
            </a:r>
            <a:r>
              <a:rPr lang="en-US" sz="1200">
                <a:solidFill>
                  <a:srgbClr val="6D6A63"/>
                </a:solidFill>
              </a:rPr>
              <a:t> and stores them in databases.</a:t>
            </a:r>
            <a:endParaRPr/>
          </a:p>
        </p:txBody>
      </p:sp>
      <p:sp>
        <p:nvSpPr>
          <p:cNvPr id="72" name="Google Shape;72;p5"/>
          <p:cNvSpPr/>
          <p:nvPr/>
        </p:nvSpPr>
        <p:spPr>
          <a:xfrm>
            <a:off x="7410450" y="1981200"/>
            <a:ext cx="1847850" cy="1752600"/>
          </a:xfrm>
          <a:prstGeom prst="roundRect">
            <a:avLst>
              <a:gd fmla="val 4348"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7410450" y="1981200"/>
            <a:ext cx="76200" cy="17526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7620000" y="2105025"/>
            <a:ext cx="15240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4  First LLM</a:t>
            </a:r>
            <a:endParaRPr/>
          </a:p>
        </p:txBody>
      </p:sp>
      <p:sp>
        <p:nvSpPr>
          <p:cNvPr id="75" name="Google Shape;75;p5"/>
          <p:cNvSpPr/>
          <p:nvPr/>
        </p:nvSpPr>
        <p:spPr>
          <a:xfrm>
            <a:off x="7620000" y="2438400"/>
            <a:ext cx="1524000" cy="1200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Creates summary, category, tags, topics and actions.</a:t>
            </a:r>
            <a:endParaRPr/>
          </a:p>
        </p:txBody>
      </p:sp>
      <p:sp>
        <p:nvSpPr>
          <p:cNvPr id="76" name="Google Shape;76;p5"/>
          <p:cNvSpPr/>
          <p:nvPr/>
        </p:nvSpPr>
        <p:spPr>
          <a:xfrm>
            <a:off x="9782175" y="1981200"/>
            <a:ext cx="1724025" cy="1752600"/>
          </a:xfrm>
          <a:prstGeom prst="roundRect">
            <a:avLst>
              <a:gd fmla="val 4420"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9782175" y="1981200"/>
            <a:ext cx="76200" cy="1752600"/>
          </a:xfrm>
          <a:prstGeom prst="rect">
            <a:avLst/>
          </a:prstGeom>
          <a:solidFill>
            <a:srgbClr val="26734D"/>
          </a:solidFill>
          <a:ln cap="flat" cmpd="sng" w="9525">
            <a:solidFill>
              <a:srgbClr val="267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9991725" y="2105025"/>
            <a:ext cx="14001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5  Persist</a:t>
            </a:r>
            <a:endParaRPr/>
          </a:p>
        </p:txBody>
      </p:sp>
      <p:sp>
        <p:nvSpPr>
          <p:cNvPr id="79" name="Google Shape;79;p5"/>
          <p:cNvSpPr/>
          <p:nvPr/>
        </p:nvSpPr>
        <p:spPr>
          <a:xfrm>
            <a:off x="9991725" y="2438400"/>
            <a:ext cx="1400175" cy="1200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Stores structured memory plus a 768-value embedding.</a:t>
            </a:r>
            <a:endParaRPr/>
          </a:p>
        </p:txBody>
      </p:sp>
      <p:sp>
        <p:nvSpPr>
          <p:cNvPr id="80" name="Google Shape;80;p5"/>
          <p:cNvSpPr/>
          <p:nvPr/>
        </p:nvSpPr>
        <p:spPr>
          <a:xfrm>
            <a:off x="419100" y="4286250"/>
            <a:ext cx="11087100" cy="1162050"/>
          </a:xfrm>
          <a:prstGeom prst="rect">
            <a:avLst/>
          </a:prstGeom>
          <a:solidFill>
            <a:srgbClr val="F0EDE5"/>
          </a:solidFill>
          <a:ln cap="flat" cmpd="sng" w="14275">
            <a:solidFill>
              <a:srgbClr val="F0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647700" y="4438650"/>
            <a:ext cx="238125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75">
                <a:solidFill>
                  <a:srgbClr val="24231F"/>
                </a:solidFill>
                <a:latin typeface="Arial"/>
                <a:ea typeface="Arial"/>
                <a:cs typeface="Arial"/>
                <a:sym typeface="Arial"/>
              </a:rPr>
              <a:t>What is saved</a:t>
            </a:r>
            <a:endParaRPr/>
          </a:p>
        </p:txBody>
      </p:sp>
      <p:sp>
        <p:nvSpPr>
          <p:cNvPr id="82" name="Google Shape;82;p5"/>
          <p:cNvSpPr/>
          <p:nvPr/>
        </p:nvSpPr>
        <p:spPr>
          <a:xfrm>
            <a:off x="647700" y="4819650"/>
            <a:ext cx="1038225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417">
                <a:solidFill>
                  <a:srgbClr val="24231F"/>
                </a:solidFill>
                <a:latin typeface="Arial"/>
                <a:ea typeface="Arial"/>
                <a:cs typeface="Arial"/>
                <a:sym typeface="Arial"/>
              </a:rPr>
              <a:t>PostgreSQL: URL, title, summary, category, tags, topics and actions   •   pgvector: 768 numbers representing semantic meaning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87" name="Shape 87"/>
        <p:cNvGrpSpPr/>
        <p:nvPr/>
      </p:nvGrpSpPr>
      <p:grpSpPr>
        <a:xfrm>
          <a:off x="0" y="0"/>
          <a:ext cx="0" cy="0"/>
          <a:chOff x="0" y="0"/>
          <a:chExt cx="0" cy="0"/>
        </a:xfrm>
      </p:grpSpPr>
      <p:sp>
        <p:nvSpPr>
          <p:cNvPr id="88" name="Google Shape;88;p6"/>
          <p:cNvSpPr/>
          <p:nvPr/>
        </p:nvSpPr>
        <p:spPr>
          <a:xfrm>
            <a:off x="400050" y="266700"/>
            <a:ext cx="10953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850">
                <a:solidFill>
                  <a:srgbClr val="24231F"/>
                </a:solidFill>
                <a:latin typeface="Georgia"/>
                <a:ea typeface="Georgia"/>
                <a:cs typeface="Georgia"/>
                <a:sym typeface="Georgia"/>
              </a:rPr>
              <a:t>LLM and RAG: understand once, find the right memory, answer</a:t>
            </a:r>
            <a:endParaRPr/>
          </a:p>
        </p:txBody>
      </p:sp>
      <p:sp>
        <p:nvSpPr>
          <p:cNvPr id="89" name="Google Shape;89;p6"/>
          <p:cNvSpPr/>
          <p:nvPr/>
        </p:nvSpPr>
        <p:spPr>
          <a:xfrm>
            <a:off x="11315700" y="6286500"/>
            <a:ext cx="476250" cy="2095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lang="en-US" sz="775">
                <a:solidFill>
                  <a:srgbClr val="6D6A63"/>
                </a:solidFill>
                <a:latin typeface="Arial"/>
                <a:ea typeface="Arial"/>
                <a:cs typeface="Arial"/>
                <a:sym typeface="Arial"/>
              </a:rPr>
              <a:t>04</a:t>
            </a:r>
            <a:endParaRPr/>
          </a:p>
        </p:txBody>
      </p:sp>
      <p:sp>
        <p:nvSpPr>
          <p:cNvPr id="90" name="Google Shape;90;p6"/>
          <p:cNvSpPr/>
          <p:nvPr/>
        </p:nvSpPr>
        <p:spPr>
          <a:xfrm>
            <a:off x="419100" y="1028700"/>
            <a:ext cx="419100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150">
                <a:solidFill>
                  <a:srgbClr val="CC4824"/>
                </a:solidFill>
                <a:latin typeface="Arial"/>
                <a:ea typeface="Arial"/>
                <a:cs typeface="Arial"/>
                <a:sym typeface="Arial"/>
              </a:rPr>
              <a:t>INGEST • happens once per new source</a:t>
            </a:r>
            <a:endParaRPr/>
          </a:p>
        </p:txBody>
      </p:sp>
      <p:sp>
        <p:nvSpPr>
          <p:cNvPr id="91" name="Google Shape;91;p6"/>
          <p:cNvSpPr/>
          <p:nvPr/>
        </p:nvSpPr>
        <p:spPr>
          <a:xfrm>
            <a:off x="2333625" y="180975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4762500" y="180975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7191375" y="180975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9620250" y="180975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419100" y="1428750"/>
            <a:ext cx="1914525" cy="1066800"/>
          </a:xfrm>
          <a:prstGeom prst="roundRect">
            <a:avLst>
              <a:gd fmla="val 7143"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419100" y="1428750"/>
            <a:ext cx="76200" cy="1066800"/>
          </a:xfrm>
          <a:prstGeom prst="rect">
            <a:avLst/>
          </a:prstGeom>
          <a:solidFill>
            <a:srgbClr val="24231F"/>
          </a:solidFill>
          <a:ln cap="flat" cmpd="sng" w="9525">
            <a:solidFill>
              <a:srgbClr val="2423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628650" y="1552575"/>
            <a:ext cx="15906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Source content</a:t>
            </a:r>
            <a:endParaRPr/>
          </a:p>
        </p:txBody>
      </p:sp>
      <p:sp>
        <p:nvSpPr>
          <p:cNvPr id="98" name="Google Shape;98;p6"/>
          <p:cNvSpPr/>
          <p:nvPr/>
        </p:nvSpPr>
        <p:spPr>
          <a:xfrm>
            <a:off x="628650" y="1885950"/>
            <a:ext cx="15906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6D6A63"/>
                </a:solidFill>
              </a:rPr>
              <a:t>Videos, Posts, </a:t>
            </a:r>
            <a:r>
              <a:rPr b="0" lang="en-US" sz="1200">
                <a:solidFill>
                  <a:srgbClr val="6D6A63"/>
                </a:solidFill>
                <a:latin typeface="Arial"/>
                <a:ea typeface="Arial"/>
                <a:cs typeface="Arial"/>
                <a:sym typeface="Arial"/>
              </a:rPr>
              <a:t>Caption, visible text</a:t>
            </a:r>
            <a:endParaRPr/>
          </a:p>
        </p:txBody>
      </p:sp>
      <p:sp>
        <p:nvSpPr>
          <p:cNvPr id="99" name="Google Shape;99;p6"/>
          <p:cNvSpPr/>
          <p:nvPr/>
        </p:nvSpPr>
        <p:spPr>
          <a:xfrm>
            <a:off x="2809875" y="1428750"/>
            <a:ext cx="1952625" cy="1066800"/>
          </a:xfrm>
          <a:prstGeom prst="roundRect">
            <a:avLst>
              <a:gd fmla="val 7143"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2809875" y="1428750"/>
            <a:ext cx="76200" cy="10668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3019425" y="1552575"/>
            <a:ext cx="16287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First LLM</a:t>
            </a:r>
            <a:endParaRPr/>
          </a:p>
        </p:txBody>
      </p:sp>
      <p:sp>
        <p:nvSpPr>
          <p:cNvPr id="102" name="Google Shape;102;p6"/>
          <p:cNvSpPr/>
          <p:nvPr/>
        </p:nvSpPr>
        <p:spPr>
          <a:xfrm>
            <a:off x="3019425" y="1885950"/>
            <a:ext cx="16287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Turns content into clean notes and tags</a:t>
            </a:r>
            <a:endParaRPr/>
          </a:p>
        </p:txBody>
      </p:sp>
      <p:sp>
        <p:nvSpPr>
          <p:cNvPr id="103" name="Google Shape;103;p6"/>
          <p:cNvSpPr/>
          <p:nvPr/>
        </p:nvSpPr>
        <p:spPr>
          <a:xfrm>
            <a:off x="5238750" y="1428750"/>
            <a:ext cx="1952625" cy="1066800"/>
          </a:xfrm>
          <a:prstGeom prst="roundRect">
            <a:avLst>
              <a:gd fmla="val 7143"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5238750" y="1428750"/>
            <a:ext cx="76200" cy="10668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5448300" y="1552575"/>
            <a:ext cx="16287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Embedding</a:t>
            </a:r>
            <a:endParaRPr/>
          </a:p>
        </p:txBody>
      </p:sp>
      <p:sp>
        <p:nvSpPr>
          <p:cNvPr id="106" name="Google Shape;106;p6"/>
          <p:cNvSpPr/>
          <p:nvPr/>
        </p:nvSpPr>
        <p:spPr>
          <a:xfrm>
            <a:off x="5448300" y="1885950"/>
            <a:ext cx="16287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Meaning becomes 768 numbers</a:t>
            </a:r>
            <a:endParaRPr/>
          </a:p>
        </p:txBody>
      </p:sp>
      <p:sp>
        <p:nvSpPr>
          <p:cNvPr id="107" name="Google Shape;107;p6"/>
          <p:cNvSpPr/>
          <p:nvPr/>
        </p:nvSpPr>
        <p:spPr>
          <a:xfrm>
            <a:off x="7667625" y="1428750"/>
            <a:ext cx="1952625" cy="1066800"/>
          </a:xfrm>
          <a:prstGeom prst="roundRect">
            <a:avLst>
              <a:gd fmla="val 7143"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7667625" y="1428750"/>
            <a:ext cx="76200" cy="1066800"/>
          </a:xfrm>
          <a:prstGeom prst="rect">
            <a:avLst/>
          </a:prstGeom>
          <a:solidFill>
            <a:srgbClr val="26734D"/>
          </a:solidFill>
          <a:ln cap="flat" cmpd="sng" w="9525">
            <a:solidFill>
              <a:srgbClr val="267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7877175" y="1552575"/>
            <a:ext cx="16287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Memory store</a:t>
            </a:r>
            <a:endParaRPr/>
          </a:p>
        </p:txBody>
      </p:sp>
      <p:sp>
        <p:nvSpPr>
          <p:cNvPr id="110" name="Google Shape;110;p6"/>
          <p:cNvSpPr/>
          <p:nvPr/>
        </p:nvSpPr>
        <p:spPr>
          <a:xfrm>
            <a:off x="7877175" y="1885950"/>
            <a:ext cx="16287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PostgreSQL + pgvector</a:t>
            </a:r>
            <a:endParaRPr/>
          </a:p>
        </p:txBody>
      </p:sp>
      <p:sp>
        <p:nvSpPr>
          <p:cNvPr id="111" name="Google Shape;111;p6"/>
          <p:cNvSpPr/>
          <p:nvPr/>
        </p:nvSpPr>
        <p:spPr>
          <a:xfrm>
            <a:off x="10096500" y="1428750"/>
            <a:ext cx="1409700" cy="1066800"/>
          </a:xfrm>
          <a:prstGeom prst="roundRect">
            <a:avLst>
              <a:gd fmla="val 7143" name="adj"/>
            </a:avLst>
          </a:prstGeom>
          <a:solidFill>
            <a:srgbClr val="D6EE72"/>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10096500" y="1428750"/>
            <a:ext cx="76200" cy="1066800"/>
          </a:xfrm>
          <a:prstGeom prst="rect">
            <a:avLst/>
          </a:prstGeom>
          <a:solidFill>
            <a:srgbClr val="24231F"/>
          </a:solidFill>
          <a:ln cap="flat" cmpd="sng" w="9525">
            <a:solidFill>
              <a:srgbClr val="2423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10306050" y="1552575"/>
            <a:ext cx="108585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Reusable</a:t>
            </a:r>
            <a:endParaRPr/>
          </a:p>
        </p:txBody>
      </p:sp>
      <p:sp>
        <p:nvSpPr>
          <p:cNvPr id="114" name="Google Shape;114;p6"/>
          <p:cNvSpPr/>
          <p:nvPr/>
        </p:nvSpPr>
        <p:spPr>
          <a:xfrm>
            <a:off x="10306050" y="1885950"/>
            <a:ext cx="1085850"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Analyze once</a:t>
            </a:r>
            <a:endParaRPr/>
          </a:p>
        </p:txBody>
      </p:sp>
      <p:sp>
        <p:nvSpPr>
          <p:cNvPr id="115" name="Google Shape;115;p6"/>
          <p:cNvSpPr/>
          <p:nvPr/>
        </p:nvSpPr>
        <p:spPr>
          <a:xfrm>
            <a:off x="419100" y="2990850"/>
            <a:ext cx="419100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150">
                <a:solidFill>
                  <a:srgbClr val="CC4824"/>
                </a:solidFill>
                <a:latin typeface="Arial"/>
                <a:ea typeface="Arial"/>
                <a:cs typeface="Arial"/>
                <a:sym typeface="Arial"/>
              </a:rPr>
              <a:t>ASK • happens for every question</a:t>
            </a:r>
            <a:endParaRPr/>
          </a:p>
        </p:txBody>
      </p:sp>
      <p:sp>
        <p:nvSpPr>
          <p:cNvPr id="116" name="Google Shape;116;p6"/>
          <p:cNvSpPr/>
          <p:nvPr/>
        </p:nvSpPr>
        <p:spPr>
          <a:xfrm>
            <a:off x="2333625" y="381000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4762500" y="381000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7191375" y="381000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9620250" y="3810000"/>
            <a:ext cx="476250" cy="304800"/>
          </a:xfrm>
          <a:prstGeom prst="rightArrow">
            <a:avLst>
              <a:gd fmla="val 50000" name="adj1"/>
              <a:gd fmla="val 50000" name="adj2"/>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419100" y="3429000"/>
            <a:ext cx="1914525" cy="1066800"/>
          </a:xfrm>
          <a:prstGeom prst="roundRect">
            <a:avLst>
              <a:gd fmla="val 7143"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419100" y="3429000"/>
            <a:ext cx="76200" cy="1066800"/>
          </a:xfrm>
          <a:prstGeom prst="rect">
            <a:avLst/>
          </a:prstGeom>
          <a:solidFill>
            <a:srgbClr val="24231F"/>
          </a:solidFill>
          <a:ln cap="flat" cmpd="sng" w="9525">
            <a:solidFill>
              <a:srgbClr val="2423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628650" y="3552825"/>
            <a:ext cx="15906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User question</a:t>
            </a:r>
            <a:endParaRPr/>
          </a:p>
        </p:txBody>
      </p:sp>
      <p:sp>
        <p:nvSpPr>
          <p:cNvPr id="123" name="Google Shape;123;p6"/>
          <p:cNvSpPr/>
          <p:nvPr/>
        </p:nvSpPr>
        <p:spPr>
          <a:xfrm>
            <a:off x="628650" y="3886200"/>
            <a:ext cx="15906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Goal and constraints</a:t>
            </a:r>
            <a:endParaRPr/>
          </a:p>
        </p:txBody>
      </p:sp>
      <p:sp>
        <p:nvSpPr>
          <p:cNvPr id="124" name="Google Shape;124;p6"/>
          <p:cNvSpPr/>
          <p:nvPr/>
        </p:nvSpPr>
        <p:spPr>
          <a:xfrm>
            <a:off x="2809875" y="3429000"/>
            <a:ext cx="1952625" cy="1066800"/>
          </a:xfrm>
          <a:prstGeom prst="roundRect">
            <a:avLst>
              <a:gd fmla="val 7143"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2809875" y="3429000"/>
            <a:ext cx="76200" cy="106680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3019425" y="3552825"/>
            <a:ext cx="18384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24231F"/>
                </a:solidFill>
                <a:latin typeface="Arial"/>
                <a:ea typeface="Arial"/>
                <a:cs typeface="Arial"/>
                <a:sym typeface="Arial"/>
              </a:rPr>
              <a:t>Question</a:t>
            </a:r>
            <a:r>
              <a:rPr b="1" lang="en-US" sz="1300">
                <a:solidFill>
                  <a:srgbClr val="24231F"/>
                </a:solidFill>
              </a:rPr>
              <a:t> </a:t>
            </a:r>
            <a:r>
              <a:rPr b="1" lang="en-US" sz="1400">
                <a:solidFill>
                  <a:srgbClr val="24231F"/>
                </a:solidFill>
              </a:rPr>
              <a:t>Embedding</a:t>
            </a:r>
            <a:endParaRPr/>
          </a:p>
        </p:txBody>
      </p:sp>
      <p:sp>
        <p:nvSpPr>
          <p:cNvPr id="127" name="Google Shape;127;p6"/>
          <p:cNvSpPr/>
          <p:nvPr/>
        </p:nvSpPr>
        <p:spPr>
          <a:xfrm>
            <a:off x="3019425" y="3886200"/>
            <a:ext cx="16287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Question becomes 768 numbers</a:t>
            </a:r>
            <a:endParaRPr/>
          </a:p>
        </p:txBody>
      </p:sp>
      <p:sp>
        <p:nvSpPr>
          <p:cNvPr id="128" name="Google Shape;128;p6"/>
          <p:cNvSpPr/>
          <p:nvPr/>
        </p:nvSpPr>
        <p:spPr>
          <a:xfrm>
            <a:off x="5238750" y="3429000"/>
            <a:ext cx="1952625" cy="1066800"/>
          </a:xfrm>
          <a:prstGeom prst="roundRect">
            <a:avLst>
              <a:gd fmla="val 7143"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5238750" y="3429000"/>
            <a:ext cx="76200" cy="1066800"/>
          </a:xfrm>
          <a:prstGeom prst="rect">
            <a:avLst/>
          </a:prstGeom>
          <a:solidFill>
            <a:srgbClr val="806C52"/>
          </a:solidFill>
          <a:ln cap="flat" cmpd="sng" w="9525">
            <a:solidFill>
              <a:srgbClr val="806C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5448300" y="3552825"/>
            <a:ext cx="16287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RAG search</a:t>
            </a:r>
            <a:endParaRPr/>
          </a:p>
        </p:txBody>
      </p:sp>
      <p:sp>
        <p:nvSpPr>
          <p:cNvPr id="131" name="Google Shape;131;p6"/>
          <p:cNvSpPr/>
          <p:nvPr/>
        </p:nvSpPr>
        <p:spPr>
          <a:xfrm>
            <a:off x="5448300" y="3886200"/>
            <a:ext cx="16287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Finds close meaning and matching words</a:t>
            </a:r>
            <a:endParaRPr/>
          </a:p>
        </p:txBody>
      </p:sp>
      <p:sp>
        <p:nvSpPr>
          <p:cNvPr id="132" name="Google Shape;132;p6"/>
          <p:cNvSpPr/>
          <p:nvPr/>
        </p:nvSpPr>
        <p:spPr>
          <a:xfrm>
            <a:off x="7667625" y="3429000"/>
            <a:ext cx="1952625" cy="1066800"/>
          </a:xfrm>
          <a:prstGeom prst="roundRect">
            <a:avLst>
              <a:gd fmla="val 7143"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7667625" y="3429000"/>
            <a:ext cx="76200" cy="1066800"/>
          </a:xfrm>
          <a:prstGeom prst="rect">
            <a:avLst/>
          </a:prstGeom>
          <a:solidFill>
            <a:srgbClr val="26734D"/>
          </a:solidFill>
          <a:ln cap="flat" cmpd="sng" w="9525">
            <a:solidFill>
              <a:srgbClr val="267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7877175" y="3552825"/>
            <a:ext cx="1628775"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Top memories</a:t>
            </a:r>
            <a:endParaRPr/>
          </a:p>
        </p:txBody>
      </p:sp>
      <p:sp>
        <p:nvSpPr>
          <p:cNvPr id="135" name="Google Shape;135;p6"/>
          <p:cNvSpPr/>
          <p:nvPr/>
        </p:nvSpPr>
        <p:spPr>
          <a:xfrm>
            <a:off x="7877175" y="3886200"/>
            <a:ext cx="16287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At most 6; weak matches removed</a:t>
            </a:r>
            <a:endParaRPr/>
          </a:p>
        </p:txBody>
      </p:sp>
      <p:sp>
        <p:nvSpPr>
          <p:cNvPr id="136" name="Google Shape;136;p6"/>
          <p:cNvSpPr/>
          <p:nvPr/>
        </p:nvSpPr>
        <p:spPr>
          <a:xfrm>
            <a:off x="10096500" y="3429000"/>
            <a:ext cx="1409700" cy="1066800"/>
          </a:xfrm>
          <a:prstGeom prst="roundRect">
            <a:avLst>
              <a:gd fmla="val 7143" name="adj"/>
            </a:avLst>
          </a:prstGeom>
          <a:solidFill>
            <a:srgbClr val="D6EE72"/>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10096500" y="3429000"/>
            <a:ext cx="76200" cy="1066800"/>
          </a:xfrm>
          <a:prstGeom prst="rect">
            <a:avLst/>
          </a:prstGeom>
          <a:solidFill>
            <a:srgbClr val="24231F"/>
          </a:solidFill>
          <a:ln cap="flat" cmpd="sng" w="9525">
            <a:solidFill>
              <a:srgbClr val="2423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10306050" y="3552825"/>
            <a:ext cx="108585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Final LLM</a:t>
            </a:r>
            <a:endParaRPr/>
          </a:p>
        </p:txBody>
      </p:sp>
      <p:sp>
        <p:nvSpPr>
          <p:cNvPr id="139" name="Google Shape;139;p6"/>
          <p:cNvSpPr/>
          <p:nvPr/>
        </p:nvSpPr>
        <p:spPr>
          <a:xfrm>
            <a:off x="10306050" y="3886200"/>
            <a:ext cx="1085850"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Grounded answer</a:t>
            </a:r>
            <a:endParaRPr/>
          </a:p>
        </p:txBody>
      </p:sp>
      <p:sp>
        <p:nvSpPr>
          <p:cNvPr id="140" name="Google Shape;140;p6"/>
          <p:cNvSpPr/>
          <p:nvPr/>
        </p:nvSpPr>
        <p:spPr>
          <a:xfrm>
            <a:off x="419100" y="4953000"/>
            <a:ext cx="11087100" cy="1066800"/>
          </a:xfrm>
          <a:prstGeom prst="rect">
            <a:avLst/>
          </a:prstGeom>
          <a:solidFill>
            <a:srgbClr val="F0EDE5"/>
          </a:solidFill>
          <a:ln cap="flat" cmpd="sng" w="14275">
            <a:solidFill>
              <a:srgbClr val="F0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685800" y="5067300"/>
            <a:ext cx="371475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150">
                <a:solidFill>
                  <a:srgbClr val="CC4824"/>
                </a:solidFill>
                <a:latin typeface="Arial"/>
                <a:ea typeface="Arial"/>
                <a:cs typeface="Arial"/>
                <a:sym typeface="Arial"/>
              </a:rPr>
              <a:t>The backend is the safety boundary</a:t>
            </a:r>
            <a:endParaRPr/>
          </a:p>
        </p:txBody>
      </p:sp>
      <p:sp>
        <p:nvSpPr>
          <p:cNvPr id="142" name="Google Shape;142;p6"/>
          <p:cNvSpPr/>
          <p:nvPr/>
        </p:nvSpPr>
        <p:spPr>
          <a:xfrm>
            <a:off x="685800" y="5381625"/>
            <a:ext cx="10553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24231F"/>
                </a:solidFill>
                <a:latin typeface="Arial"/>
                <a:ea typeface="Arial"/>
                <a:cs typeface="Arial"/>
                <a:sym typeface="Arial"/>
              </a:rPr>
              <a:t>Before saving: required fields + exactly 768 embedding values. Before answering: correct user only, weak matches removed, duplicates removed, maximum 6 memories.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47" name="Shape 147"/>
        <p:cNvGrpSpPr/>
        <p:nvPr/>
      </p:nvGrpSpPr>
      <p:grpSpPr>
        <a:xfrm>
          <a:off x="0" y="0"/>
          <a:ext cx="0" cy="0"/>
          <a:chOff x="0" y="0"/>
          <a:chExt cx="0" cy="0"/>
        </a:xfrm>
      </p:grpSpPr>
      <p:sp>
        <p:nvSpPr>
          <p:cNvPr id="148" name="Google Shape;148;p7"/>
          <p:cNvSpPr/>
          <p:nvPr/>
        </p:nvSpPr>
        <p:spPr>
          <a:xfrm>
            <a:off x="400050" y="266700"/>
            <a:ext cx="1095375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850">
                <a:solidFill>
                  <a:srgbClr val="24231F"/>
                </a:solidFill>
                <a:latin typeface="Georgia"/>
                <a:ea typeface="Georgia"/>
                <a:cs typeface="Georgia"/>
                <a:sym typeface="Georgia"/>
              </a:rPr>
              <a:t>Future scope: richer inputs, faster retrieval, more control</a:t>
            </a:r>
            <a:endParaRPr/>
          </a:p>
        </p:txBody>
      </p:sp>
      <p:sp>
        <p:nvSpPr>
          <p:cNvPr id="149" name="Google Shape;149;p7"/>
          <p:cNvSpPr/>
          <p:nvPr/>
        </p:nvSpPr>
        <p:spPr>
          <a:xfrm>
            <a:off x="11315700" y="6286500"/>
            <a:ext cx="476250" cy="2095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lang="en-US" sz="775">
                <a:solidFill>
                  <a:srgbClr val="6D6A63"/>
                </a:solidFill>
                <a:latin typeface="Arial"/>
                <a:ea typeface="Arial"/>
                <a:cs typeface="Arial"/>
                <a:sym typeface="Arial"/>
              </a:rPr>
              <a:t>05</a:t>
            </a:r>
            <a:endParaRPr/>
          </a:p>
        </p:txBody>
      </p:sp>
      <p:sp>
        <p:nvSpPr>
          <p:cNvPr id="150" name="Google Shape;150;p7"/>
          <p:cNvSpPr/>
          <p:nvPr/>
        </p:nvSpPr>
        <p:spPr>
          <a:xfrm>
            <a:off x="419100" y="971550"/>
            <a:ext cx="83820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6D6A63"/>
                </a:solidFill>
                <a:latin typeface="Arial"/>
                <a:ea typeface="Arial"/>
                <a:cs typeface="Arial"/>
                <a:sym typeface="Arial"/>
              </a:rPr>
              <a:t>Add capability in stages without changing the core architecture</a:t>
            </a:r>
            <a:endParaRPr/>
          </a:p>
        </p:txBody>
      </p:sp>
      <p:sp>
        <p:nvSpPr>
          <p:cNvPr id="151" name="Google Shape;151;p7"/>
          <p:cNvSpPr/>
          <p:nvPr/>
        </p:nvSpPr>
        <p:spPr>
          <a:xfrm>
            <a:off x="419100" y="1638300"/>
            <a:ext cx="2571750" cy="2381250"/>
          </a:xfrm>
          <a:prstGeom prst="roundRect">
            <a:avLst>
              <a:gd fmla="val 3200"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419100" y="1638300"/>
            <a:ext cx="76200" cy="2381250"/>
          </a:xfrm>
          <a:prstGeom prst="rect">
            <a:avLst/>
          </a:prstGeom>
          <a:solidFill>
            <a:srgbClr val="CC4824"/>
          </a:solidFill>
          <a:ln cap="flat" cmpd="sng" w="9525">
            <a:solidFill>
              <a:srgbClr val="CC48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628650" y="1762125"/>
            <a:ext cx="22479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1  Multimodal analysis</a:t>
            </a:r>
            <a:endParaRPr/>
          </a:p>
        </p:txBody>
      </p:sp>
      <p:sp>
        <p:nvSpPr>
          <p:cNvPr id="154" name="Google Shape;154;p7"/>
          <p:cNvSpPr/>
          <p:nvPr/>
        </p:nvSpPr>
        <p:spPr>
          <a:xfrm>
            <a:off x="628650" y="2095500"/>
            <a:ext cx="22479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Transcribe audio</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Analyze selected video frames</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Read on-screen text</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Combine speech, image and caption</a:t>
            </a:r>
            <a:endParaRPr/>
          </a:p>
        </p:txBody>
      </p:sp>
      <p:sp>
        <p:nvSpPr>
          <p:cNvPr id="155" name="Google Shape;155;p7"/>
          <p:cNvSpPr/>
          <p:nvPr/>
        </p:nvSpPr>
        <p:spPr>
          <a:xfrm>
            <a:off x="3219450" y="1638300"/>
            <a:ext cx="2571750" cy="2381250"/>
          </a:xfrm>
          <a:prstGeom prst="roundRect">
            <a:avLst>
              <a:gd fmla="val 3200"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3219450" y="1638300"/>
            <a:ext cx="76200" cy="2381250"/>
          </a:xfrm>
          <a:prstGeom prst="rect">
            <a:avLst/>
          </a:prstGeom>
          <a:solidFill>
            <a:srgbClr val="806C52"/>
          </a:solidFill>
          <a:ln cap="flat" cmpd="sng" w="9525">
            <a:solidFill>
              <a:srgbClr val="806C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3429000" y="1762125"/>
            <a:ext cx="22479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2  More sources</a:t>
            </a:r>
            <a:endParaRPr/>
          </a:p>
        </p:txBody>
      </p:sp>
      <p:sp>
        <p:nvSpPr>
          <p:cNvPr id="158" name="Google Shape;158;p7"/>
          <p:cNvSpPr/>
          <p:nvPr/>
        </p:nvSpPr>
        <p:spPr>
          <a:xfrm>
            <a:off x="3429000" y="2095500"/>
            <a:ext cx="22479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Approved social integrations</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Documents and podcasts</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Private sources with consent</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Duplicate and source-quality checks</a:t>
            </a:r>
            <a:endParaRPr/>
          </a:p>
        </p:txBody>
      </p:sp>
      <p:sp>
        <p:nvSpPr>
          <p:cNvPr id="159" name="Google Shape;159;p7"/>
          <p:cNvSpPr/>
          <p:nvPr/>
        </p:nvSpPr>
        <p:spPr>
          <a:xfrm>
            <a:off x="6019800" y="1638300"/>
            <a:ext cx="2571750" cy="2381250"/>
          </a:xfrm>
          <a:prstGeom prst="roundRect">
            <a:avLst>
              <a:gd fmla="val 3200" name="adj"/>
            </a:avLst>
          </a:prstGeom>
          <a:solidFill>
            <a:srgbClr val="F8E7E0"/>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6019800" y="1638300"/>
            <a:ext cx="76200" cy="2381250"/>
          </a:xfrm>
          <a:prstGeom prst="rect">
            <a:avLst/>
          </a:prstGeom>
          <a:solidFill>
            <a:srgbClr val="26734D"/>
          </a:solidFill>
          <a:ln cap="flat" cmpd="sng" w="9525">
            <a:solidFill>
              <a:srgbClr val="267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6229350" y="1762125"/>
            <a:ext cx="22479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3  Scale retrieval</a:t>
            </a:r>
            <a:endParaRPr/>
          </a:p>
        </p:txBody>
      </p:sp>
      <p:sp>
        <p:nvSpPr>
          <p:cNvPr id="162" name="Google Shape;162;p7"/>
          <p:cNvSpPr/>
          <p:nvPr/>
        </p:nvSpPr>
        <p:spPr>
          <a:xfrm>
            <a:off x="6229350" y="2095500"/>
            <a:ext cx="22479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Async processing and retries</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pgvector ANN search</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Reranking and caching</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Re-embed when models improve</a:t>
            </a:r>
            <a:endParaRPr/>
          </a:p>
        </p:txBody>
      </p:sp>
      <p:sp>
        <p:nvSpPr>
          <p:cNvPr id="163" name="Google Shape;163;p7"/>
          <p:cNvSpPr/>
          <p:nvPr/>
        </p:nvSpPr>
        <p:spPr>
          <a:xfrm>
            <a:off x="8820150" y="1638300"/>
            <a:ext cx="2686050" cy="2381250"/>
          </a:xfrm>
          <a:prstGeom prst="roundRect">
            <a:avLst>
              <a:gd fmla="val 3200" name="adj"/>
            </a:avLst>
          </a:prstGeom>
          <a:solidFill>
            <a:srgbClr val="FFFEFA"/>
          </a:solidFill>
          <a:ln cap="flat" cmpd="sng" w="14275">
            <a:solidFill>
              <a:srgbClr val="DFD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8820150" y="1638300"/>
            <a:ext cx="76200" cy="2381250"/>
          </a:xfrm>
          <a:prstGeom prst="rect">
            <a:avLst/>
          </a:prstGeom>
          <a:solidFill>
            <a:srgbClr val="24231F"/>
          </a:solidFill>
          <a:ln cap="flat" cmpd="sng" w="9525">
            <a:solidFill>
              <a:srgbClr val="2423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9029700" y="1762125"/>
            <a:ext cx="236220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24231F"/>
                </a:solidFill>
                <a:latin typeface="Arial"/>
                <a:ea typeface="Arial"/>
                <a:cs typeface="Arial"/>
                <a:sym typeface="Arial"/>
              </a:rPr>
              <a:t>4  User control</a:t>
            </a:r>
            <a:endParaRPr/>
          </a:p>
        </p:txBody>
      </p:sp>
      <p:sp>
        <p:nvSpPr>
          <p:cNvPr id="166" name="Google Shape;166;p7"/>
          <p:cNvSpPr/>
          <p:nvPr/>
        </p:nvSpPr>
        <p:spPr>
          <a:xfrm>
            <a:off x="9029700" y="2095500"/>
            <a:ext cx="23622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00">
                <a:solidFill>
                  <a:srgbClr val="6D6A63"/>
                </a:solidFill>
                <a:latin typeface="Arial"/>
                <a:ea typeface="Arial"/>
                <a:cs typeface="Arial"/>
                <a:sym typeface="Arial"/>
              </a:rPr>
              <a:t>Edit AI-generated tags</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Feedback on recommendations</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Explain why each source was used</a:t>
            </a:r>
            <a:endParaRPr/>
          </a:p>
          <a:p>
            <a:pPr indent="0" lvl="0" marL="0" marR="0" rtl="0" algn="l">
              <a:spcBef>
                <a:spcPts val="0"/>
              </a:spcBef>
              <a:spcAft>
                <a:spcPts val="0"/>
              </a:spcAft>
              <a:buNone/>
            </a:pPr>
            <a:r>
              <a:rPr b="0" lang="en-US" sz="1200">
                <a:solidFill>
                  <a:srgbClr val="6D6A63"/>
                </a:solidFill>
                <a:latin typeface="Arial"/>
                <a:ea typeface="Arial"/>
                <a:cs typeface="Arial"/>
                <a:sym typeface="Arial"/>
              </a:rPr>
              <a:t>Privacy and retention controls</a:t>
            </a:r>
            <a:endParaRPr/>
          </a:p>
        </p:txBody>
      </p:sp>
      <p:sp>
        <p:nvSpPr>
          <p:cNvPr id="167" name="Google Shape;167;p7"/>
          <p:cNvSpPr/>
          <p:nvPr/>
        </p:nvSpPr>
        <p:spPr>
          <a:xfrm>
            <a:off x="419100" y="4629150"/>
            <a:ext cx="11087100" cy="1066800"/>
          </a:xfrm>
          <a:prstGeom prst="rect">
            <a:avLst/>
          </a:prstGeom>
          <a:solidFill>
            <a:srgbClr val="F0EDE5"/>
          </a:solidFill>
          <a:ln cap="flat" cmpd="sng" w="14275">
            <a:solidFill>
              <a:srgbClr val="F0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685800" y="4762500"/>
            <a:ext cx="333375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CC4824"/>
                </a:solidFill>
                <a:latin typeface="Arial"/>
                <a:ea typeface="Arial"/>
                <a:cs typeface="Arial"/>
                <a:sym typeface="Arial"/>
              </a:rPr>
              <a:t>The architecture stays the same</a:t>
            </a:r>
            <a:endParaRPr/>
          </a:p>
        </p:txBody>
      </p:sp>
      <p:sp>
        <p:nvSpPr>
          <p:cNvPr id="169" name="Google Shape;169;p7"/>
          <p:cNvSpPr/>
          <p:nvPr/>
        </p:nvSpPr>
        <p:spPr>
          <a:xfrm>
            <a:off x="685800" y="5124450"/>
            <a:ext cx="1028700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192">
                <a:solidFill>
                  <a:srgbClr val="24231F"/>
                </a:solidFill>
                <a:latin typeface="Arial"/>
                <a:ea typeface="Arial"/>
                <a:cs typeface="Arial"/>
                <a:sym typeface="Arial"/>
              </a:rPr>
              <a:t>Capture → understand → embed → store → retrieve → generate. Future features improve each stage without breaking the trusted backend boundary.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174" name="Shape 174"/>
        <p:cNvGrpSpPr/>
        <p:nvPr/>
      </p:nvGrpSpPr>
      <p:grpSpPr>
        <a:xfrm>
          <a:off x="0" y="0"/>
          <a:ext cx="0" cy="0"/>
          <a:chOff x="0" y="0"/>
          <a:chExt cx="0" cy="0"/>
        </a:xfrm>
      </p:grpSpPr>
      <p:pic>
        <p:nvPicPr>
          <p:cNvPr id="175" name="Google Shape;175;p8"/>
          <p:cNvPicPr preferRelativeResize="0"/>
          <p:nvPr/>
        </p:nvPicPr>
        <p:blipFill rotWithShape="1">
          <a:blip r:embed="rId3">
            <a:alphaModFix/>
          </a:blip>
          <a:srcRect b="0" l="28504" r="28504" t="0"/>
          <a:stretch/>
        </p:blipFill>
        <p:spPr>
          <a:xfrm>
            <a:off x="6953250" y="0"/>
            <a:ext cx="5238750" cy="6858000"/>
          </a:xfrm>
          <a:prstGeom prst="rect">
            <a:avLst/>
          </a:prstGeom>
          <a:noFill/>
          <a:ln>
            <a:noFill/>
          </a:ln>
        </p:spPr>
      </p:pic>
      <p:sp>
        <p:nvSpPr>
          <p:cNvPr id="176" name="Google Shape;176;p8"/>
          <p:cNvSpPr/>
          <p:nvPr/>
        </p:nvSpPr>
        <p:spPr>
          <a:xfrm>
            <a:off x="419100" y="495300"/>
            <a:ext cx="38100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75">
                <a:solidFill>
                  <a:srgbClr val="CC4824"/>
                </a:solidFill>
                <a:latin typeface="Arial"/>
                <a:ea typeface="Arial"/>
                <a:cs typeface="Arial"/>
                <a:sym typeface="Arial"/>
              </a:rPr>
              <a:t>IMPULSE • CREATORBRAIN</a:t>
            </a:r>
            <a:endParaRPr/>
          </a:p>
        </p:txBody>
      </p:sp>
      <p:sp>
        <p:nvSpPr>
          <p:cNvPr id="177" name="Google Shape;177;p8"/>
          <p:cNvSpPr/>
          <p:nvPr/>
        </p:nvSpPr>
        <p:spPr>
          <a:xfrm>
            <a:off x="419100" y="2038350"/>
            <a:ext cx="5334000" cy="87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4650">
                <a:solidFill>
                  <a:srgbClr val="24231F"/>
                </a:solidFill>
                <a:latin typeface="Georgia"/>
                <a:ea typeface="Georgia"/>
                <a:cs typeface="Georgia"/>
                <a:sym typeface="Georgia"/>
              </a:rPr>
              <a:t>Questions?</a:t>
            </a:r>
            <a:endParaRPr/>
          </a:p>
        </p:txBody>
      </p:sp>
      <p:sp>
        <p:nvSpPr>
          <p:cNvPr id="178" name="Google Shape;178;p8"/>
          <p:cNvSpPr/>
          <p:nvPr/>
        </p:nvSpPr>
        <p:spPr>
          <a:xfrm>
            <a:off x="419100" y="3124200"/>
            <a:ext cx="53340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100">
                <a:solidFill>
                  <a:srgbClr val="6D6A63"/>
                </a:solidFill>
                <a:latin typeface="Arial"/>
                <a:ea typeface="Arial"/>
                <a:cs typeface="Arial"/>
                <a:sym typeface="Arial"/>
              </a:rPr>
              <a:t>Save once. Understand once.</a:t>
            </a:r>
            <a:endParaRPr/>
          </a:p>
          <a:p>
            <a:pPr indent="0" lvl="0" marL="0" marR="0" rtl="0" algn="l">
              <a:spcBef>
                <a:spcPts val="0"/>
              </a:spcBef>
              <a:spcAft>
                <a:spcPts val="0"/>
              </a:spcAft>
              <a:buNone/>
            </a:pPr>
            <a:r>
              <a:rPr b="0" lang="en-US" sz="2100">
                <a:solidFill>
                  <a:srgbClr val="6D6A63"/>
                </a:solidFill>
                <a:latin typeface="Arial"/>
                <a:ea typeface="Arial"/>
                <a:cs typeface="Arial"/>
                <a:sym typeface="Arial"/>
              </a:rPr>
              <a:t>Retrieve whenever it matters.</a:t>
            </a:r>
            <a:endParaRPr/>
          </a:p>
        </p:txBody>
      </p:sp>
      <p:sp>
        <p:nvSpPr>
          <p:cNvPr id="179" name="Google Shape;179;p8"/>
          <p:cNvSpPr/>
          <p:nvPr/>
        </p:nvSpPr>
        <p:spPr>
          <a:xfrm>
            <a:off x="419100" y="4876800"/>
            <a:ext cx="5715000" cy="876300"/>
          </a:xfrm>
          <a:prstGeom prst="rect">
            <a:avLst/>
          </a:prstGeom>
          <a:solidFill>
            <a:srgbClr val="F0EDE5"/>
          </a:solidFill>
          <a:ln cap="flat" cmpd="sng" w="14275">
            <a:solidFill>
              <a:srgbClr val="F0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685800" y="5067300"/>
            <a:ext cx="5181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89">
                <a:solidFill>
                  <a:srgbClr val="24231F"/>
                </a:solidFill>
                <a:latin typeface="Arial"/>
                <a:ea typeface="Arial"/>
                <a:cs typeface="Arial"/>
                <a:sym typeface="Arial"/>
              </a:rPr>
              <a:t>Capture → Understand → Embed → Retrieve → Answer</a:t>
            </a:r>
            <a:endParaRPr/>
          </a:p>
        </p:txBody>
      </p:sp>
      <p:sp>
        <p:nvSpPr>
          <p:cNvPr id="181" name="Google Shape;181;p8"/>
          <p:cNvSpPr/>
          <p:nvPr/>
        </p:nvSpPr>
        <p:spPr>
          <a:xfrm>
            <a:off x="6400800" y="6286500"/>
            <a:ext cx="381000" cy="20955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lang="en-US" sz="775">
                <a:solidFill>
                  <a:srgbClr val="6D6A63"/>
                </a:solidFill>
                <a:latin typeface="Arial"/>
                <a:ea typeface="Arial"/>
                <a:cs typeface="Arial"/>
                <a:sym typeface="Arial"/>
              </a:rPr>
              <a:t>06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