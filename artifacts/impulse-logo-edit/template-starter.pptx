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07dab28f11164bc2" /><Relationship Type="http://schemas.openxmlformats.org/officeDocument/2006/relationships/extended-properties" Target="/docProps/app.xml" Id="R971593c9324142d5" /><Relationship Type="http://schemas.openxmlformats.org/officeDocument/2006/relationships/officeDocument" Target="/ppt/presentation.xml" Id="R2726f8f282dc4fa2" /></Relationships>
</file>

<file path=ppt/presentation.xml><?xml version="1.0" encoding="utf-8"?>
<p:presentation xmlns:p="http://schemas.openxmlformats.org/presentationml/2006/main">
  <p:sldMasterIdLst>
    <p:sldMasterId xmlns:r="http://schemas.openxmlformats.org/officeDocument/2006/relationships" id="2147483648" r:id="R6b5d0ec9c9234ec4"/>
  </p:sldMasterIdLst>
  <p:notesMasterIdLst>
    <p:notesMasterId xmlns:r="http://schemas.openxmlformats.org/officeDocument/2006/relationships" r:id="R083eb421e60f46c8"/>
  </p:notesMasterIdLst>
  <p:sldIdLst>
    <p:sldId xmlns:r="http://schemas.openxmlformats.org/officeDocument/2006/relationships" id="256" r:id="R30bf311341c240c1"/>
    <p:sldId xmlns:r="http://schemas.openxmlformats.org/officeDocument/2006/relationships" id="257" r:id="Rc6096e5fd3a04893"/>
    <p:sldId xmlns:r="http://schemas.openxmlformats.org/officeDocument/2006/relationships" id="258" r:id="R8f7ef73451c445bc"/>
    <p:sldId xmlns:r="http://schemas.openxmlformats.org/officeDocument/2006/relationships" id="259" r:id="Rc268d3f586f44770"/>
    <p:sldId xmlns:r="http://schemas.openxmlformats.org/officeDocument/2006/relationships" id="260" r:id="Rfc5f58ae56184123"/>
    <p:sldId xmlns:r="http://schemas.openxmlformats.org/officeDocument/2006/relationships" id="261" r:id="R06ad8dcda3814351"/>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f3c8bb42a78b40a1" /><Relationship Type="http://schemas.openxmlformats.org/officeDocument/2006/relationships/slideMaster" Target="/ppt/slideMasters/slideMaster1.xml" Id="R6b5d0ec9c9234ec4" /><Relationship Type="http://schemas.openxmlformats.org/officeDocument/2006/relationships/notesMaster" Target="/ppt/notesMasters/notesMaster1.xml" Id="R083eb421e60f46c8" /><Relationship Type="http://schemas.openxmlformats.org/officeDocument/2006/relationships/presProps" Target="/ppt/presProps.xml" Id="Rfe4019ab3da4405b" /><Relationship Type="http://schemas.openxmlformats.org/officeDocument/2006/relationships/tableStyles" Target="/ppt/tableStyles.xml" Id="R2429c80d479f4da6" /><Relationship Type="http://schemas.openxmlformats.org/officeDocument/2006/relationships/slide" Target="/ppt/slides/slide1.xml" Id="R30bf311341c240c1" /><Relationship Type="http://schemas.openxmlformats.org/officeDocument/2006/relationships/slide" Target="/ppt/slides/slide2.xml" Id="Rc6096e5fd3a04893" /><Relationship Type="http://schemas.openxmlformats.org/officeDocument/2006/relationships/slide" Target="/ppt/slides/slide3.xml" Id="R8f7ef73451c445bc" /><Relationship Type="http://schemas.openxmlformats.org/officeDocument/2006/relationships/slide" Target="/ppt/slides/slide4.xml" Id="Rc268d3f586f44770" /><Relationship Type="http://schemas.openxmlformats.org/officeDocument/2006/relationships/slide" Target="/ppt/slides/slide5.xml" Id="Rfc5f58ae56184123" /><Relationship Type="http://schemas.openxmlformats.org/officeDocument/2006/relationships/slide" Target="/ppt/slides/slide6.xml" Id="R06ad8dcda3814351"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d68a985ba23c4a13"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dk2" tx2="lt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hatGP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77c4784427b74941" /><Relationship Type="http://schemas.openxmlformats.org/officeDocument/2006/relationships/notesMaster" Target="/ppt/notesMasters/notesMaster1.xml" Id="R6344f5dc0d114524" /></Relationships>
</file>

<file path=ppt/notesSlides/_rels/notesSlide2.xml.rels>&#65279;<?xml version="1.0" encoding="utf-8"?><Relationships xmlns="http://schemas.openxmlformats.org/package/2006/relationships"><Relationship Type="http://schemas.openxmlformats.org/officeDocument/2006/relationships/slide" Target="/ppt/slides/slide2.xml" Id="R9945517ece814af2" /><Relationship Type="http://schemas.openxmlformats.org/officeDocument/2006/relationships/notesMaster" Target="/ppt/notesMasters/notesMaster1.xml" Id="R4b7c87607a1842b7" /></Relationships>
</file>

<file path=ppt/notesSlides/_rels/notesSlide3.xml.rels>&#65279;<?xml version="1.0" encoding="utf-8"?><Relationships xmlns="http://schemas.openxmlformats.org/package/2006/relationships"><Relationship Type="http://schemas.openxmlformats.org/officeDocument/2006/relationships/slide" Target="/ppt/slides/slide3.xml" Id="Ree87befcf1144b37" /><Relationship Type="http://schemas.openxmlformats.org/officeDocument/2006/relationships/notesMaster" Target="/ppt/notesMasters/notesMaster1.xml" Id="R198956a400434f9d" /></Relationships>
</file>

<file path=ppt/notesSlides/_rels/notesSlide4.xml.rels>&#65279;<?xml version="1.0" encoding="utf-8"?><Relationships xmlns="http://schemas.openxmlformats.org/package/2006/relationships"><Relationship Type="http://schemas.openxmlformats.org/officeDocument/2006/relationships/slide" Target="/ppt/slides/slide4.xml" Id="R19a35329038a4b37" /><Relationship Type="http://schemas.openxmlformats.org/officeDocument/2006/relationships/notesMaster" Target="/ppt/notesMasters/notesMaster1.xml" Id="Raebe727e99f448e7" /></Relationships>
</file>

<file path=ppt/notesSlides/_rels/notesSlide5.xml.rels>&#65279;<?xml version="1.0" encoding="utf-8"?><Relationships xmlns="http://schemas.openxmlformats.org/package/2006/relationships"><Relationship Type="http://schemas.openxmlformats.org/officeDocument/2006/relationships/slide" Target="/ppt/slides/slide5.xml" Id="Rf5cb98316c864a72" /><Relationship Type="http://schemas.openxmlformats.org/officeDocument/2006/relationships/notesMaster" Target="/ppt/notesMasters/notesMaster1.xml" Id="Rb0da5ca05f1b4bfc" /></Relationships>
</file>

<file path=ppt/notesSlides/_rels/notesSlide6.xml.rels>&#65279;<?xml version="1.0" encoding="utf-8"?><Relationships xmlns="http://schemas.openxmlformats.org/package/2006/relationships"><Relationship Type="http://schemas.openxmlformats.org/officeDocument/2006/relationships/slide" Target="/ppt/slides/slide6.xml" Id="R82589684b6264125" /><Relationship Type="http://schemas.openxmlformats.org/officeDocument/2006/relationships/notesMaster" Target="/ppt/notesMasters/notesMaster1.xml" Id="Rcff3dfc6b5eb4af7"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rPr sz="1200"/>
              <a:t>Impulse solves a simple problem: useful ideas are scattered across saved links. The application turns those sources into structured, searchable memory and grounded answers.</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rPr sz="1200"/>
              <a:t>[Sources]</a:t>
            </a:r>
          </a:p>
          <a:p xmlns:a="http://schemas.openxmlformats.org/drawingml/2006/main">
            <a:pPr marL="0" lvl="0" indent="0" algn="l">
              <a:spcBef>
                <a:spcPts val="0"/>
              </a:spcBef>
              <a:spcAft>
                <a:spcPts val="0"/>
              </a:spcAft>
              <a:buNone/>
            </a:pPr>
            <a:r>
              <a:rPr sz="1200"/>
              <a:t>- Generated visual: OpenAI ImageGen; prompt recorded in task history.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rPr sz="1200"/>
              <a:t>Saving a URL alone does not preserve meaning. The extension captures content, the Android application provides the user experience, and both rely on the same backend memory pipeline.</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rPr sz="1200"/>
              <a:t>[Sources]</a:t>
            </a:r>
          </a:p>
          <a:p xmlns:a="http://schemas.openxmlformats.org/drawingml/2006/main">
            <a:pPr marL="0" lvl="0" indent="0" algn="l">
              <a:spcBef>
                <a:spcPts val="0"/>
              </a:spcBef>
              <a:spcAft>
                <a:spcPts val="0"/>
              </a:spcAft>
              <a:buNone/>
            </a:pPr>
            <a:r>
              <a:rPr sz="1200"/>
              <a:t>- docs/01-product-overview.md</a:t>
            </a:r>
          </a:p>
          <a:p xmlns:a="http://schemas.openxmlformats.org/drawingml/2006/main">
            <a:pPr marL="0" lvl="0" indent="0" algn="l">
              <a:spcBef>
                <a:spcPts val="0"/>
              </a:spcBef>
              <a:spcAft>
                <a:spcPts val="0"/>
              </a:spcAft>
              <a:buNone/>
            </a:pPr>
            <a:r>
              <a:rPr sz="1200"/>
              <a:t>- docs/10-browser-extension.md</a:t>
            </a:r>
          </a:p>
          <a:p xmlns:a="http://schemas.openxmlformats.org/drawingml/2006/main">
            <a:pPr marL="0" lvl="0" indent="0" algn="l">
              <a:spcBef>
                <a:spcPts val="0"/>
              </a:spcBef>
              <a:spcAft>
                <a:spcPts val="0"/>
              </a:spcAft>
              <a:buNone/>
            </a:pPr>
            <a:r>
              <a:rPr sz="1200"/>
              <a:t>- apps/frontend/app/src/main/java/com/impulse/ui/main/MainScreen.kt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rPr sz="1200"/>
              <a:t>The client never talks directly to the database or Gemini. Spring Boot validates the request, calls the FastAPI AI service, validates the returned 768-value embedding, and saves the memory.</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rPr sz="1200"/>
              <a:t>[Sources]</a:t>
            </a:r>
          </a:p>
          <a:p xmlns:a="http://schemas.openxmlformats.org/drawingml/2006/main">
            <a:pPr marL="0" lvl="0" indent="0" algn="l">
              <a:spcBef>
                <a:spcPts val="0"/>
              </a:spcBef>
              <a:spcAft>
                <a:spcPts val="0"/>
              </a:spcAft>
              <a:buNone/>
            </a:pPr>
            <a:r>
              <a:rPr sz="1200"/>
              <a:t>- apps/extension/utils/extractors.js</a:t>
            </a:r>
          </a:p>
          <a:p xmlns:a="http://schemas.openxmlformats.org/drawingml/2006/main">
            <a:pPr marL="0" lvl="0" indent="0" algn="l">
              <a:spcBef>
                <a:spcPts val="0"/>
              </a:spcBef>
              <a:spcAft>
                <a:spcPts val="0"/>
              </a:spcAft>
              <a:buNone/>
            </a:pPr>
            <a:r>
              <a:rPr sz="1200"/>
              <a:t>- apps/backend/src/main/kotlin/com/impulse/backend/memory/MemoryService.kt</a:t>
            </a:r>
          </a:p>
          <a:p xmlns:a="http://schemas.openxmlformats.org/drawingml/2006/main">
            <a:pPr marL="0" lvl="0" indent="0" algn="l">
              <a:spcBef>
                <a:spcPts val="0"/>
              </a:spcBef>
              <a:spcAft>
                <a:spcPts val="0"/>
              </a:spcAft>
              <a:buNone/>
            </a:pPr>
            <a:r>
              <a:rPr sz="1200"/>
              <a:t>- apps/backend/src/main/kotlin/com/impulse/backend/memory/AiMemoryProcessor.kt</a:t>
            </a:r>
          </a:p>
          <a:p xmlns:a="http://schemas.openxmlformats.org/drawingml/2006/main">
            <a:pPr marL="0" lvl="0" indent="0" algn="l">
              <a:spcBef>
                <a:spcPts val="0"/>
              </a:spcBef>
              <a:spcAft>
                <a:spcPts val="0"/>
              </a:spcAft>
              <a:buNone/>
            </a:pPr>
            <a:r>
              <a:rPr sz="1200"/>
              <a:t>- apps/ai-service/memory_processor.py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rPr sz="1200"/>
              <a:t>The first LLM converts source content into reusable memory. At query time the question is embedded, hybrid retrieval ranks the user's memories, and only the best six are sent to the final LLM for a grounded response.</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rPr sz="1200"/>
              <a:t>[Sources]</a:t>
            </a:r>
          </a:p>
          <a:p xmlns:a="http://schemas.openxmlformats.org/drawingml/2006/main">
            <a:pPr marL="0" lvl="0" indent="0" algn="l">
              <a:spcBef>
                <a:spcPts val="0"/>
              </a:spcBef>
              <a:spcAft>
                <a:spcPts val="0"/>
              </a:spcAft>
              <a:buNone/>
            </a:pPr>
            <a:r>
              <a:rPr sz="1200"/>
              <a:t>- docs/04-rag-design.md</a:t>
            </a:r>
          </a:p>
          <a:p xmlns:a="http://schemas.openxmlformats.org/drawingml/2006/main">
            <a:pPr marL="0" lvl="0" indent="0" algn="l">
              <a:spcBef>
                <a:spcPts val="0"/>
              </a:spcBef>
              <a:spcAft>
                <a:spcPts val="0"/>
              </a:spcAft>
              <a:buNone/>
            </a:pPr>
            <a:r>
              <a:rPr sz="1200"/>
              <a:t>- apps/backend/src/main/kotlin/com/impulse/backend/planning/MemoryRetrievalService.kt</a:t>
            </a:r>
          </a:p>
          <a:p xmlns:a="http://schemas.openxmlformats.org/drawingml/2006/main">
            <a:pPr marL="0" lvl="0" indent="0" algn="l">
              <a:spcBef>
                <a:spcPts val="0"/>
              </a:spcBef>
              <a:spcAft>
                <a:spcPts val="0"/>
              </a:spcAft>
              <a:buNone/>
            </a:pPr>
            <a:r>
              <a:rPr sz="1200"/>
              <a:t>- apps/backend/src/main/kotlin/com/impulse/backend/planning/PlanningService.kt</a:t>
            </a:r>
          </a:p>
          <a:p xmlns:a="http://schemas.openxmlformats.org/drawingml/2006/main">
            <a:pPr marL="0" lvl="0" indent="0" algn="l">
              <a:spcBef>
                <a:spcPts val="0"/>
              </a:spcBef>
              <a:spcAft>
                <a:spcPts val="0"/>
              </a:spcAft>
              <a:buNone/>
            </a:pPr>
            <a:r>
              <a:rPr sz="1200"/>
              <a:t>- apps/ai-service/memory_processor.py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rPr sz="1200"/>
              <a:t>Future work adds audio and frame analysis, more approved sources, asynchronous processing, faster vector search, reranking, and stronger user controls. The core flow remains stable: understand, store, retrieve, then generate.</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rPr sz="1200"/>
              <a:t>[Sources]</a:t>
            </a:r>
          </a:p>
          <a:p xmlns:a="http://schemas.openxmlformats.org/drawingml/2006/main">
            <a:pPr marL="0" lvl="0" indent="0" algn="l">
              <a:spcBef>
                <a:spcPts val="0"/>
              </a:spcBef>
              <a:spcAft>
                <a:spcPts val="0"/>
              </a:spcAft>
              <a:buNone/>
            </a:pPr>
            <a:r>
              <a:rPr sz="1200"/>
              <a:t>- docs/11-creatorbrain-impulse-progress.md</a:t>
            </a:r>
          </a:p>
          <a:p xmlns:a="http://schemas.openxmlformats.org/drawingml/2006/main">
            <a:pPr marL="0" lvl="0" indent="0" algn="l">
              <a:spcBef>
                <a:spcPts val="0"/>
              </a:spcBef>
              <a:spcAft>
                <a:spcPts val="0"/>
              </a:spcAft>
              <a:buNone/>
            </a:pPr>
            <a:r>
              <a:rPr sz="1200"/>
              <a:t>- docs/08-link-ingestion-plan.md</a:t>
            </a:r>
          </a:p>
          <a:p xmlns:a="http://schemas.openxmlformats.org/drawingml/2006/main">
            <a:pPr marL="0" lvl="0" indent="0" algn="l">
              <a:spcBef>
                <a:spcPts val="0"/>
              </a:spcBef>
              <a:spcAft>
                <a:spcPts val="0"/>
              </a:spcAft>
              <a:buNone/>
            </a:pPr>
            <a:r>
              <a:rPr sz="1200"/>
              <a:t>- docs/04-rag-design.md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rPr sz="1200"/>
              <a:t>Impulse creates a reusable personal knowledge layer from content the user already values. Questions and feedback are welcome.</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rPr sz="1200"/>
              <a:t>[Sources]</a:t>
            </a:r>
          </a:p>
          <a:p xmlns:a="http://schemas.openxmlformats.org/drawingml/2006/main">
            <a:pPr marL="0" lvl="0" indent="0" algn="l">
              <a:spcBef>
                <a:spcPts val="0"/>
              </a:spcBef>
              <a:spcAft>
                <a:spcPts val="0"/>
              </a:spcAft>
              <a:buNone/>
            </a:pPr>
            <a:r>
              <a:rPr sz="1200"/>
              <a:t>- Generated visual: OpenAI ImageGen; prompt recorded in task history.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ef53d03447bc4776" /></Relationships>
</file>

<file path=ppt/slideLayouts/slideLayout1.xml><?xml version="1.0" encoding="utf-8"?>
<p:sldLayout xmlns:p="http://schemas.openxmlformats.org/presentationml/2006/main" matchingName="Title Slide" type="title">
  <p:cSld name="TITL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26809ffd44e541cb" /><Relationship Type="http://schemas.openxmlformats.org/officeDocument/2006/relationships/slideLayout" Target="/ppt/slideLayouts/slideLayout1.xml" Id="R60e28e5b8a1b4e4d" /></Relationships>
</file>

<file path=ppt/slideMasters/slideMaster1.xml><?xml version="1.0" encoding="utf-8"?>
<p:sldMaster xmlns:p="http://schemas.openxmlformats.org/presentationml/2006/main">
  <p:cSld>
    <p:bg>
      <p:bgPr>
        <a:solidFill xmlns:a="http://schemas.openxmlformats.org/drawingml/2006/main">
          <a:schemeClr val="lt1"/>
        </a:solidFill>
      </p:bgPr>
    </p:bg>
    <p:spTree>
      <p:nvGrpSpPr>
        <p:cNvPr id="1" name=""/>
        <p:cNvGrpSpPr/>
        <p:nvPr/>
      </p:nvGrpSpPr>
      <p:grpSpPr>
        <a:xfrm xmlns:a="http://schemas.openxmlformats.org/drawingml/2006/main"/>
      </p:grpSpPr>
    </p:spTree>
  </p:cSld>
  <p:clrMap bg1="lt1" tx1="dk1" bg2="dk2" tx2="lt2" accent1="accent1" accent2="accent2" accent3="accent3" accent4="accent4" accent5="accent5" accent6="accent6" hlink="hlink" folHlink="folHlink"/>
  <p:sldLayoutIdLst>
    <p:sldLayoutId xmlns:r="http://schemas.openxmlformats.org/officeDocument/2006/relationships" id="2147483649" r:id="R60e28e5b8a1b4e4d"/>
  </p:sldLayoutIdLst>
  <p:hf sldNum="0" hdr="0" ftr="0" dt="0"/>
  <p:txStyles>
    <p:titleStyle>
      <a:lvl1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9pPr>
    </p:titleStyle>
    <p:bodyStyle>
      <a:lvl1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9pPr>
    </p:bodyStyle>
    <p:otherStyle>
      <a:lvl1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hatGP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0f97d5c994bf400f" /><Relationship Type="http://schemas.openxmlformats.org/officeDocument/2006/relationships/image" Target="/ppt/media/image.png" Id="R3772cb9b8e584882" /><Relationship Type="http://schemas.openxmlformats.org/officeDocument/2006/relationships/notesSlide" Target="/ppt/notesSlides/notesSlide1.xml" Id="R5343d159360b41e6"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82a5a6fc45f7448b" /><Relationship Type="http://schemas.openxmlformats.org/officeDocument/2006/relationships/notesSlide" Target="/ppt/notesSlides/notesSlide2.xml" Id="Rd0d26dee529c4fb3"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7a3b667905fc4689" /><Relationship Type="http://schemas.openxmlformats.org/officeDocument/2006/relationships/notesSlide" Target="/ppt/notesSlides/notesSlide3.xml" Id="R9c4ba5396ca94fb8"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9c130e13cb1746ae" /><Relationship Type="http://schemas.openxmlformats.org/officeDocument/2006/relationships/notesSlide" Target="/ppt/notesSlides/notesSlide4.xml" Id="Rf6ae6d9b95f0454a"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90d67078c79246a5" /><Relationship Type="http://schemas.openxmlformats.org/officeDocument/2006/relationships/notesSlide" Target="/ppt/notesSlides/notesSlide5.xml" Id="R65c44133b5974350"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e5ded957d7d843e3" /><Relationship Type="http://schemas.openxmlformats.org/officeDocument/2006/relationships/image" Target="/ppt/media/image.png" Id="R6f9fea228cac404c" /><Relationship Type="http://schemas.openxmlformats.org/officeDocument/2006/relationships/notesSlide" Target="/ppt/notesSlides/notesSlide6.xml" Id="R6270fddd87cf4392" /></Relationships>
</file>

<file path=ppt/slides/slide1.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pic>
        <p:nvPicPr>
          <p:cNvPr id="24" name="Google Shape;16;p3"/>
          <p:cNvPicPr>
            <a:picLocks xmlns:a="http://schemas.openxmlformats.org/drawingml/2006/main" noChangeAspect="1"/>
          </p:cNvPicPr>
          <p:nvPr/>
        </p:nvPicPr>
        <p:blipFill rotWithShape="1">
          <a:blip xmlns:r="http://schemas.openxmlformats.org/officeDocument/2006/relationships" xmlns:a="http://schemas.openxmlformats.org/drawingml/2006/main" r:embed="R3772cb9b8e584882">
            <a:alphaModFix/>
          </a:blip>
          <a:srcRect xmlns:a="http://schemas.openxmlformats.org/drawingml/2006/main" l="21860" t="0" r="21860" b="0"/>
          <a:stretch xmlns:a="http://schemas.openxmlformats.org/drawingml/2006/main"/>
        </p:blipFill>
        <p:spPr>
          <a:xfrm xmlns:a="http://schemas.openxmlformats.org/drawingml/2006/main">
            <a:off x="5334000" y="0"/>
            <a:ext cx="6858000" cy="6858000"/>
          </a:xfrm>
          <a:prstGeom xmlns:a="http://schemas.openxmlformats.org/drawingml/2006/main" prst="rect">
            <a:avLst/>
          </a:prstGeom>
          <a:ln xmlns:a="http://schemas.openxmlformats.org/drawingml/2006/main">
            <a:noFill/>
          </a:ln>
        </p:spPr>
      </p:pic>
      <p:sp>
        <p:nvSpPr>
          <p:cNvPr id="17" name="Google Shape;17;p3">
            <a:extLst xmlns:a="http://schemas.openxmlformats.org/drawingml/2006/main">
              <a:ext uri="{FF2B5EF4-FFF2-40B4-BE49-F238E27FC236}">
                <a16:creationId xmlns:a16="http://schemas.microsoft.com/office/drawing/2014/main" id="{175FF588-9BCA-4876-8DDA-5356E4E176CC}"/>
              </a:ext>
            </a:extLst>
          </p:cNvPr>
          <p:cNvSpPr>
            <a:spLocks xmlns:a="http://schemas.openxmlformats.org/drawingml/2006/main" noGrp="1"/>
          </p:cNvSpPr>
          <p:nvPr/>
        </p:nvSpPr>
        <p:spPr>
          <a:xfrm xmlns:a="http://schemas.openxmlformats.org/drawingml/2006/main">
            <a:off x="419100" y="457200"/>
            <a:ext cx="4762500" cy="3238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l">
              <a:spcBef>
                <a:spcPts val="0"/>
              </a:spcBef>
              <a:spcAft>
                <a:spcPts val="0"/>
              </a:spcAft>
              <a:buNone/>
            </a:pPr>
            <a:r>
              <a:rPr sz="1275" b="1">
                <a:solidFill>
                  <a:srgbClr val="CC4824"/>
                </a:solidFill>
                <a:latin typeface="Arial"/>
                <a:ea typeface="Arial"/>
                <a:cs typeface="Arial"/>
              </a:rPr>
              <a:t>IMPULSE • PERSONAL KNOWLEDGE + PLANNING</a:t>
            </a:r>
          </a:p>
        </p:txBody>
      </p:sp>
      <p:sp>
        <p:nvSpPr>
          <p:cNvPr id="18" name="Google Shape;18;p3">
            <a:extLst xmlns:a="http://schemas.openxmlformats.org/drawingml/2006/main">
              <a:ext uri="{FF2B5EF4-FFF2-40B4-BE49-F238E27FC236}">
                <a16:creationId xmlns:a16="http://schemas.microsoft.com/office/drawing/2014/main" id="{EA75EB4B-DE39-4D20-8734-FA74D30FF18F}"/>
              </a:ext>
            </a:extLst>
          </p:cNvPr>
          <p:cNvSpPr>
            <a:spLocks xmlns:a="http://schemas.openxmlformats.org/drawingml/2006/main" noGrp="1"/>
          </p:cNvSpPr>
          <p:nvPr/>
        </p:nvSpPr>
        <p:spPr>
          <a:xfrm xmlns:a="http://schemas.openxmlformats.org/drawingml/2006/main">
            <a:off x="419100" y="1466850"/>
            <a:ext cx="4476750" cy="7810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l">
              <a:spcBef>
                <a:spcPts val="0"/>
              </a:spcBef>
              <a:spcAft>
                <a:spcPts val="0"/>
              </a:spcAft>
              <a:buNone/>
            </a:pPr>
            <a:r>
              <a:rPr sz="4525" b="0">
                <a:solidFill>
                  <a:srgbClr val="24231F"/>
                </a:solidFill>
                <a:latin typeface="Georgia"/>
                <a:ea typeface="Georgia"/>
                <a:cs typeface="Georgia"/>
              </a:rPr>
              <a:t>Impulse</a:t>
            </a:r>
          </a:p>
        </p:txBody>
      </p:sp>
      <p:sp>
        <p:nvSpPr>
          <p:cNvPr id="19" name="Google Shape;19;p3">
            <a:extLst xmlns:a="http://schemas.openxmlformats.org/drawingml/2006/main">
              <a:ext uri="{FF2B5EF4-FFF2-40B4-BE49-F238E27FC236}">
                <a16:creationId xmlns:a16="http://schemas.microsoft.com/office/drawing/2014/main" id="{11F9B037-9E09-4846-B71E-ED6C0CF8D27C}"/>
              </a:ext>
            </a:extLst>
          </p:cNvPr>
          <p:cNvSpPr>
            <a:spLocks xmlns:a="http://schemas.openxmlformats.org/drawingml/2006/main" noGrp="1"/>
          </p:cNvSpPr>
          <p:nvPr/>
        </p:nvSpPr>
        <p:spPr>
          <a:xfrm xmlns:a="http://schemas.openxmlformats.org/drawingml/2006/main">
            <a:off x="419100" y="2286000"/>
            <a:ext cx="4762500" cy="1143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l">
              <a:spcBef>
                <a:spcPts val="0"/>
              </a:spcBef>
              <a:spcAft>
                <a:spcPts val="0"/>
              </a:spcAft>
              <a:buNone/>
            </a:pPr>
            <a:r>
              <a:rPr sz="2700" b="0">
                <a:solidFill>
                  <a:srgbClr val="24231F"/>
                </a:solidFill>
                <a:latin typeface="Georgia"/>
                <a:ea typeface="Georgia"/>
                <a:cs typeface="Georgia"/>
              </a:rPr>
              <a:t>Save once. Understand once.</a:t>
            </a:r>
          </a:p>
          <a:p xmlns:a="http://schemas.openxmlformats.org/drawingml/2006/main">
            <a:pPr marL="0" marR="0" lvl="0" indent="0" algn="l">
              <a:spcBef>
                <a:spcPts val="0"/>
              </a:spcBef>
              <a:spcAft>
                <a:spcPts val="0"/>
              </a:spcAft>
              <a:buNone/>
            </a:pPr>
            <a:r>
              <a:rPr sz="2700" b="0">
                <a:solidFill>
                  <a:srgbClr val="24231F"/>
                </a:solidFill>
                <a:latin typeface="Georgia"/>
                <a:ea typeface="Georgia"/>
                <a:cs typeface="Georgia"/>
              </a:rPr>
              <a:t>Use it when it matters.</a:t>
            </a:r>
          </a:p>
        </p:txBody>
      </p:sp>
      <p:sp>
        <p:nvSpPr>
          <p:cNvPr id="20" name="Google Shape;20;p3">
            <a:extLst xmlns:a="http://schemas.openxmlformats.org/drawingml/2006/main">
              <a:ext uri="{FF2B5EF4-FFF2-40B4-BE49-F238E27FC236}">
                <a16:creationId xmlns:a16="http://schemas.microsoft.com/office/drawing/2014/main" id="{796AF7F8-6E77-456C-B2B3-B884243255B0}"/>
              </a:ext>
            </a:extLst>
          </p:cNvPr>
          <p:cNvSpPr>
            <a:spLocks xmlns:a="http://schemas.openxmlformats.org/drawingml/2006/main" noGrp="1"/>
          </p:cNvSpPr>
          <p:nvPr/>
        </p:nvSpPr>
        <p:spPr>
          <a:xfrm xmlns:a="http://schemas.openxmlformats.org/drawingml/2006/main">
            <a:off x="419100" y="3638550"/>
            <a:ext cx="4667250" cy="8572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l">
              <a:spcBef>
                <a:spcPts val="0"/>
              </a:spcBef>
              <a:spcAft>
                <a:spcPts val="0"/>
              </a:spcAft>
              <a:buNone/>
            </a:pPr>
            <a:r>
              <a:rPr sz="1650" b="0">
                <a:solidFill>
                  <a:srgbClr val="6D6A63"/>
                </a:solidFill>
                <a:latin typeface="Arial"/>
                <a:ea typeface="Arial"/>
                <a:cs typeface="Arial"/>
              </a:rPr>
              <a:t>Saved videos, posts and web pages become searchable memories, grounded answers and practical plans.</a:t>
            </a:r>
          </a:p>
        </p:txBody>
      </p:sp>
      <p:sp>
        <p:nvSpPr>
          <p:cNvPr id="21" name="Google Shape;21;p3">
            <a:extLst xmlns:a="http://schemas.openxmlformats.org/drawingml/2006/main">
              <a:ext uri="{FF2B5EF4-FFF2-40B4-BE49-F238E27FC236}">
                <a16:creationId xmlns:a16="http://schemas.microsoft.com/office/drawing/2014/main" id="{9130BBA9-01D0-461A-B9B0-6E7AA1B35A81}"/>
              </a:ext>
            </a:extLst>
          </p:cNvPr>
          <p:cNvSpPr>
            <a:spLocks xmlns:a="http://schemas.openxmlformats.org/drawingml/2006/main" noGrp="1"/>
          </p:cNvSpPr>
          <p:nvPr/>
        </p:nvSpPr>
        <p:spPr>
          <a:xfrm xmlns:a="http://schemas.openxmlformats.org/drawingml/2006/main">
            <a:off x="419100" y="5219700"/>
            <a:ext cx="85725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l">
              <a:spcBef>
                <a:spcPts val="0"/>
              </a:spcBef>
              <a:spcAft>
                <a:spcPts val="0"/>
              </a:spcAft>
              <a:buNone/>
            </a:pPr>
            <a:r>
              <a:rPr sz="900" b="1">
                <a:solidFill>
                  <a:srgbClr val="CC4824"/>
                </a:solidFill>
                <a:latin typeface="Arial"/>
                <a:ea typeface="Arial"/>
                <a:cs typeface="Arial"/>
              </a:rPr>
              <a:t>TEAM</a:t>
            </a:r>
          </a:p>
        </p:txBody>
      </p:sp>
      <p:sp>
        <p:nvSpPr>
          <p:cNvPr id="22" name="Google Shape;22;p3">
            <a:extLst xmlns:a="http://schemas.openxmlformats.org/drawingml/2006/main">
              <a:ext uri="{FF2B5EF4-FFF2-40B4-BE49-F238E27FC236}">
                <a16:creationId xmlns:a16="http://schemas.microsoft.com/office/drawing/2014/main" id="{7734E9DB-CB62-457B-8DB8-4D94C7FE3A31}"/>
              </a:ext>
            </a:extLst>
          </p:cNvPr>
          <p:cNvSpPr>
            <a:spLocks xmlns:a="http://schemas.openxmlformats.org/drawingml/2006/main" noGrp="1"/>
          </p:cNvSpPr>
          <p:nvPr/>
        </p:nvSpPr>
        <p:spPr>
          <a:xfrm xmlns:a="http://schemas.openxmlformats.org/drawingml/2006/main">
            <a:off x="419100" y="5486400"/>
            <a:ext cx="4667250" cy="5143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l">
              <a:spcBef>
                <a:spcPts val="0"/>
              </a:spcBef>
              <a:spcAft>
                <a:spcPts val="0"/>
              </a:spcAft>
              <a:buNone/>
            </a:pPr>
            <a:r>
              <a:rPr sz="1275" b="1">
                <a:solidFill>
                  <a:srgbClr val="24231F"/>
                </a:solidFill>
                <a:latin typeface="Arial"/>
                <a:ea typeface="Arial"/>
                <a:cs typeface="Arial"/>
              </a:rPr>
              <a:t>Kiran Kumar Sahoo  •  Apurvaa Avinandita  •  Jagadheshvar B P</a:t>
            </a:r>
          </a:p>
        </p:txBody>
      </p:sp>
    </p:spTree>
    <p:extLst>
      <p:ext uri="{BB962C8B-B14F-4D97-AF65-F5344CB8AC3E}">
        <p14:creationId xmlns:p14="http://schemas.microsoft.com/office/powerpoint/2010/main" val="1726465767"/>
      </p:ext>
    </p:extLst>
  </p:cSld>
</p:sld>
</file>

<file path=ppt/slides/slide2.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28" name="Google Shape;28;p4">
            <a:extLst xmlns:a="http://schemas.openxmlformats.org/drawingml/2006/main">
              <a:ext uri="{FF2B5EF4-FFF2-40B4-BE49-F238E27FC236}">
                <a16:creationId xmlns:a16="http://schemas.microsoft.com/office/drawing/2014/main" id="{E9968BF7-40F0-4D98-A1E4-2FF195594584}"/>
              </a:ext>
            </a:extLst>
          </p:cNvPr>
          <p:cNvSpPr>
            <a:spLocks xmlns:a="http://schemas.openxmlformats.org/drawingml/2006/main" noGrp="1"/>
          </p:cNvSpPr>
          <p:nvPr/>
        </p:nvSpPr>
        <p:spPr>
          <a:xfrm xmlns:a="http://schemas.openxmlformats.org/drawingml/2006/main">
            <a:off x="400050" y="266700"/>
            <a:ext cx="10953750" cy="685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l">
              <a:spcBef>
                <a:spcPts val="0"/>
              </a:spcBef>
              <a:spcAft>
                <a:spcPts val="0"/>
              </a:spcAft>
              <a:buNone/>
            </a:pPr>
            <a:r>
              <a:rPr sz="2850" b="0">
                <a:solidFill>
                  <a:srgbClr val="24231F"/>
                </a:solidFill>
                <a:latin typeface="Georgia"/>
                <a:ea typeface="Georgia"/>
                <a:cs typeface="Georgia"/>
              </a:rPr>
              <a:t>A saved link is not yet useful knowledge</a:t>
            </a:r>
          </a:p>
        </p:txBody>
      </p:sp>
      <p:sp>
        <p:nvSpPr>
          <p:cNvPr id="29" name="Google Shape;29;p4">
            <a:extLst xmlns:a="http://schemas.openxmlformats.org/drawingml/2006/main">
              <a:ext uri="{FF2B5EF4-FFF2-40B4-BE49-F238E27FC236}">
                <a16:creationId xmlns:a16="http://schemas.microsoft.com/office/drawing/2014/main" id="{97BF6277-FBE1-405C-856E-248742D7274E}"/>
              </a:ext>
            </a:extLst>
          </p:cNvPr>
          <p:cNvSpPr>
            <a:spLocks xmlns:a="http://schemas.openxmlformats.org/drawingml/2006/main" noGrp="1"/>
          </p:cNvSpPr>
          <p:nvPr/>
        </p:nvSpPr>
        <p:spPr>
          <a:xfrm xmlns:a="http://schemas.openxmlformats.org/drawingml/2006/main">
            <a:off x="11315700" y="6286500"/>
            <a:ext cx="476250" cy="2095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r">
              <a:spcBef>
                <a:spcPts val="0"/>
              </a:spcBef>
              <a:spcAft>
                <a:spcPts val="0"/>
              </a:spcAft>
              <a:buNone/>
            </a:pPr>
            <a:r>
              <a:rPr sz="775" b="0">
                <a:solidFill>
                  <a:srgbClr val="6D6A63"/>
                </a:solidFill>
                <a:latin typeface="Arial"/>
                <a:ea typeface="Arial"/>
                <a:cs typeface="Arial"/>
              </a:rPr>
              <a:t>02</a:t>
            </a:r>
          </a:p>
        </p:txBody>
      </p:sp>
      <p:sp>
        <p:nvSpPr>
          <p:cNvPr id="30" name="Google Shape;30;p4">
            <a:extLst xmlns:a="http://schemas.openxmlformats.org/drawingml/2006/main">
              <a:ext uri="{FF2B5EF4-FFF2-40B4-BE49-F238E27FC236}">
                <a16:creationId xmlns:a16="http://schemas.microsoft.com/office/drawing/2014/main" id="{305D6997-47F5-4E8A-B640-8DAF1AD39770}"/>
              </a:ext>
            </a:extLst>
          </p:cNvPr>
          <p:cNvSpPr>
            <a:spLocks xmlns:a="http://schemas.openxmlformats.org/drawingml/2006/main" noGrp="1"/>
          </p:cNvSpPr>
          <p:nvPr/>
        </p:nvSpPr>
        <p:spPr>
          <a:xfrm xmlns:a="http://schemas.openxmlformats.org/drawingml/2006/main">
            <a:off x="419100" y="1162050"/>
            <a:ext cx="2381250" cy="304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l">
              <a:spcBef>
                <a:spcPts val="0"/>
              </a:spcBef>
              <a:spcAft>
                <a:spcPts val="0"/>
              </a:spcAft>
              <a:buNone/>
            </a:pPr>
            <a:r>
              <a:rPr sz="1400" b="1">
                <a:solidFill>
                  <a:srgbClr val="6D6A63"/>
                </a:solidFill>
                <a:latin typeface="Arial"/>
                <a:ea typeface="Arial"/>
                <a:cs typeface="Arial"/>
              </a:rPr>
              <a:t>Customer problem</a:t>
            </a:r>
          </a:p>
        </p:txBody>
      </p:sp>
      <p:sp>
        <p:nvSpPr>
          <p:cNvPr id="31" name="Google Shape;31;p4">
            <a:extLst xmlns:a="http://schemas.openxmlformats.org/drawingml/2006/main">
              <a:ext uri="{FF2B5EF4-FFF2-40B4-BE49-F238E27FC236}">
                <a16:creationId xmlns:a16="http://schemas.microsoft.com/office/drawing/2014/main" id="{5010970A-498D-4990-A303-4A59D4489A3F}"/>
              </a:ext>
            </a:extLst>
          </p:cNvPr>
          <p:cNvSpPr>
            <a:spLocks xmlns:a="http://schemas.openxmlformats.org/drawingml/2006/main" noGrp="1"/>
          </p:cNvSpPr>
          <p:nvPr/>
        </p:nvSpPr>
        <p:spPr>
          <a:xfrm xmlns:a="http://schemas.openxmlformats.org/drawingml/2006/main">
            <a:off x="419100" y="1600200"/>
            <a:ext cx="4572000" cy="18097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l">
              <a:spcBef>
                <a:spcPts val="0"/>
              </a:spcBef>
              <a:spcAft>
                <a:spcPts val="0"/>
              </a:spcAft>
              <a:buNone/>
            </a:pPr>
            <a:r>
              <a:rPr sz="2625" b="1">
                <a:solidFill>
                  <a:srgbClr val="24231F"/>
                </a:solidFill>
                <a:latin typeface="Arial"/>
                <a:ea typeface="Arial"/>
                <a:cs typeface="Arial"/>
              </a:rPr>
              <a:t>Links are fragmented.</a:t>
            </a:r>
          </a:p>
          <a:p xmlns:a="http://schemas.openxmlformats.org/drawingml/2006/main">
            <a:pPr marL="0" marR="0" lvl="0" indent="0" algn="l">
              <a:spcBef>
                <a:spcPts val="0"/>
              </a:spcBef>
              <a:spcAft>
                <a:spcPts val="0"/>
              </a:spcAft>
              <a:buNone/>
            </a:pPr>
            <a:r>
              <a:rPr sz="2625" b="1">
                <a:solidFill>
                  <a:srgbClr val="24231F"/>
                </a:solidFill>
                <a:latin typeface="Arial"/>
                <a:ea typeface="Arial"/>
                <a:cs typeface="Arial"/>
              </a:rPr>
              <a:t>Details are forgotten.</a:t>
            </a:r>
          </a:p>
          <a:p xmlns:a="http://schemas.openxmlformats.org/drawingml/2006/main">
            <a:pPr marL="0" marR="0" lvl="0" indent="0" algn="l">
              <a:spcBef>
                <a:spcPts val="0"/>
              </a:spcBef>
              <a:spcAft>
                <a:spcPts val="0"/>
              </a:spcAft>
              <a:buNone/>
            </a:pPr>
            <a:r>
              <a:rPr sz="2625" b="1">
                <a:solidFill>
                  <a:srgbClr val="24231F"/>
                </a:solidFill>
                <a:latin typeface="Arial"/>
                <a:ea typeface="Arial"/>
                <a:cs typeface="Arial"/>
              </a:rPr>
              <a:t>Generic AI lacks context.</a:t>
            </a:r>
          </a:p>
        </p:txBody>
      </p:sp>
      <p:sp>
        <p:nvSpPr>
          <p:cNvPr id="32" name="Google Shape;32;p4">
            <a:extLst xmlns:a="http://schemas.openxmlformats.org/drawingml/2006/main">
              <a:ext uri="{FF2B5EF4-FFF2-40B4-BE49-F238E27FC236}">
                <a16:creationId xmlns:a16="http://schemas.microsoft.com/office/drawing/2014/main" id="{98FE3C82-C5CB-4B35-A0F2-8523C035F975}"/>
              </a:ext>
            </a:extLst>
          </p:cNvPr>
          <p:cNvSpPr>
            <a:spLocks xmlns:a="http://schemas.openxmlformats.org/drawingml/2006/main" noGrp="1"/>
          </p:cNvSpPr>
          <p:nvPr/>
        </p:nvSpPr>
        <p:spPr>
          <a:xfrm xmlns:a="http://schemas.openxmlformats.org/drawingml/2006/main">
            <a:off x="5286375" y="2381250"/>
            <a:ext cx="1143000" cy="419100"/>
          </a:xfrm>
          <a:prstGeom xmlns:a="http://schemas.openxmlformats.org/drawingml/2006/main" prst="rightArrow">
            <a:avLst>
              <a:gd name="adj1" fmla="val 50000"/>
              <a:gd name="adj2" fmla="val 50000"/>
            </a:avLst>
          </a:prstGeom>
          <a:solidFill xmlns:a="http://schemas.openxmlformats.org/drawingml/2006/main">
            <a:srgbClr val="CC4824"/>
          </a:solidFill>
          <a:ln xmlns:a="http://schemas.openxmlformats.org/drawingml/2006/main" w="9525" cmpd="sng">
            <a:solidFill>
              <a:srgbClr val="CC4824"/>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p>
        </p:txBody>
      </p:sp>
      <p:sp>
        <p:nvSpPr>
          <p:cNvPr id="33" name="Google Shape;33;p4">
            <a:extLst xmlns:a="http://schemas.openxmlformats.org/drawingml/2006/main">
              <a:ext uri="{FF2B5EF4-FFF2-40B4-BE49-F238E27FC236}">
                <a16:creationId xmlns:a16="http://schemas.microsoft.com/office/drawing/2014/main" id="{D5292703-9357-4C64-921B-3FA3C820BCBE}"/>
              </a:ext>
            </a:extLst>
          </p:cNvPr>
          <p:cNvSpPr>
            <a:spLocks xmlns:a="http://schemas.openxmlformats.org/drawingml/2006/main" noGrp="1"/>
          </p:cNvSpPr>
          <p:nvPr/>
        </p:nvSpPr>
        <p:spPr>
          <a:xfrm xmlns:a="http://schemas.openxmlformats.org/drawingml/2006/main">
            <a:off x="6762750" y="1162050"/>
            <a:ext cx="2857500" cy="304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l">
              <a:spcBef>
                <a:spcPts val="0"/>
              </a:spcBef>
              <a:spcAft>
                <a:spcPts val="0"/>
              </a:spcAft>
              <a:buNone/>
            </a:pPr>
            <a:r>
              <a:rPr sz="1400" b="1">
                <a:solidFill>
                  <a:srgbClr val="CC4824"/>
                </a:solidFill>
                <a:latin typeface="Arial"/>
                <a:ea typeface="Arial"/>
                <a:cs typeface="Arial"/>
              </a:rPr>
              <a:t>How Impulse solves it</a:t>
            </a:r>
          </a:p>
        </p:txBody>
      </p:sp>
      <p:sp>
        <p:nvSpPr>
          <p:cNvPr id="34" name="Google Shape;34;p4">
            <a:extLst xmlns:a="http://schemas.openxmlformats.org/drawingml/2006/main">
              <a:ext uri="{FF2B5EF4-FFF2-40B4-BE49-F238E27FC236}">
                <a16:creationId xmlns:a16="http://schemas.microsoft.com/office/drawing/2014/main" id="{4DBD2467-2502-4B1A-903C-52190476A89A}"/>
              </a:ext>
            </a:extLst>
          </p:cNvPr>
          <p:cNvSpPr>
            <a:spLocks xmlns:a="http://schemas.openxmlformats.org/drawingml/2006/main" noGrp="1"/>
          </p:cNvSpPr>
          <p:nvPr/>
        </p:nvSpPr>
        <p:spPr>
          <a:xfrm xmlns:a="http://schemas.openxmlformats.org/drawingml/2006/main">
            <a:off x="6762750" y="1619250"/>
            <a:ext cx="4667250" cy="876300"/>
          </a:xfrm>
          <a:prstGeom xmlns:a="http://schemas.openxmlformats.org/drawingml/2006/main" prst="roundRect">
            <a:avLst>
              <a:gd name="adj" fmla="val 8696"/>
            </a:avLst>
          </a:prstGeom>
          <a:solidFill xmlns:a="http://schemas.openxmlformats.org/drawingml/2006/main">
            <a:srgbClr val="F8E7E0"/>
          </a:solidFill>
          <a:ln xmlns:a="http://schemas.openxmlformats.org/drawingml/2006/main" w="14275" cmpd="sng">
            <a:solidFill>
              <a:srgbClr val="DFDBD0"/>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p>
        </p:txBody>
      </p:sp>
      <p:sp>
        <p:nvSpPr>
          <p:cNvPr id="35" name="Google Shape;35;p4">
            <a:extLst xmlns:a="http://schemas.openxmlformats.org/drawingml/2006/main">
              <a:ext uri="{FF2B5EF4-FFF2-40B4-BE49-F238E27FC236}">
                <a16:creationId xmlns:a16="http://schemas.microsoft.com/office/drawing/2014/main" id="{9734BA73-412B-47EE-800C-9EA2CE57D95A}"/>
              </a:ext>
            </a:extLst>
          </p:cNvPr>
          <p:cNvSpPr>
            <a:spLocks xmlns:a="http://schemas.openxmlformats.org/drawingml/2006/main" noGrp="1"/>
          </p:cNvSpPr>
          <p:nvPr/>
        </p:nvSpPr>
        <p:spPr>
          <a:xfrm xmlns:a="http://schemas.openxmlformats.org/drawingml/2006/main">
            <a:off x="6762750" y="1619250"/>
            <a:ext cx="76200" cy="876300"/>
          </a:xfrm>
          <a:prstGeom xmlns:a="http://schemas.openxmlformats.org/drawingml/2006/main" prst="rect">
            <a:avLst/>
          </a:prstGeom>
          <a:solidFill xmlns:a="http://schemas.openxmlformats.org/drawingml/2006/main">
            <a:srgbClr val="CC4824"/>
          </a:solidFill>
          <a:ln xmlns:a="http://schemas.openxmlformats.org/drawingml/2006/main" w="9525" cmpd="sng">
            <a:solidFill>
              <a:srgbClr val="CC4824"/>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p>
        </p:txBody>
      </p:sp>
      <p:sp>
        <p:nvSpPr>
          <p:cNvPr id="36" name="Google Shape;36;p4">
            <a:extLst xmlns:a="http://schemas.openxmlformats.org/drawingml/2006/main">
              <a:ext uri="{FF2B5EF4-FFF2-40B4-BE49-F238E27FC236}">
                <a16:creationId xmlns:a16="http://schemas.microsoft.com/office/drawing/2014/main" id="{671B18D0-AD81-4B61-84E0-7DF0D049459A}"/>
              </a:ext>
            </a:extLst>
          </p:cNvPr>
          <p:cNvSpPr>
            <a:spLocks xmlns:a="http://schemas.openxmlformats.org/drawingml/2006/main" noGrp="1"/>
          </p:cNvSpPr>
          <p:nvPr/>
        </p:nvSpPr>
        <p:spPr>
          <a:xfrm xmlns:a="http://schemas.openxmlformats.org/drawingml/2006/main">
            <a:off x="6972300" y="1743075"/>
            <a:ext cx="4343400" cy="304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l">
              <a:spcBef>
                <a:spcPts val="0"/>
              </a:spcBef>
              <a:spcAft>
                <a:spcPts val="0"/>
              </a:spcAft>
              <a:buNone/>
            </a:pPr>
            <a:r>
              <a:rPr sz="1400" b="1">
                <a:solidFill>
                  <a:srgbClr val="24231F"/>
                </a:solidFill>
                <a:latin typeface="Arial"/>
                <a:ea typeface="Arial"/>
                <a:cs typeface="Arial"/>
              </a:rPr>
              <a:t>Understand once</a:t>
            </a:r>
          </a:p>
        </p:txBody>
      </p:sp>
      <p:sp>
        <p:nvSpPr>
          <p:cNvPr id="37" name="Google Shape;37;p4">
            <a:extLst xmlns:a="http://schemas.openxmlformats.org/drawingml/2006/main">
              <a:ext uri="{FF2B5EF4-FFF2-40B4-BE49-F238E27FC236}">
                <a16:creationId xmlns:a16="http://schemas.microsoft.com/office/drawing/2014/main" id="{2FB0CA16-24FC-4353-93E1-6B2C07E1F3F6}"/>
              </a:ext>
            </a:extLst>
          </p:cNvPr>
          <p:cNvSpPr>
            <a:spLocks xmlns:a="http://schemas.openxmlformats.org/drawingml/2006/main" noGrp="1"/>
          </p:cNvSpPr>
          <p:nvPr/>
        </p:nvSpPr>
        <p:spPr>
          <a:xfrm xmlns:a="http://schemas.openxmlformats.org/drawingml/2006/main">
            <a:off x="6972300" y="2076450"/>
            <a:ext cx="4343400" cy="3238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l">
              <a:spcBef>
                <a:spcPts val="0"/>
              </a:spcBef>
              <a:spcAft>
                <a:spcPts val="0"/>
              </a:spcAft>
              <a:buNone/>
            </a:pPr>
            <a:r>
              <a:rPr sz="1200" b="0">
                <a:solidFill>
                  <a:srgbClr val="6D6A63"/>
                </a:solidFill>
                <a:latin typeface="Arial"/>
                <a:ea typeface="Arial"/>
                <a:cs typeface="Arial"/>
              </a:rPr>
              <a:t>Extract compact facts, topics and useful actions.</a:t>
            </a:r>
          </a:p>
        </p:txBody>
      </p:sp>
      <p:sp>
        <p:nvSpPr>
          <p:cNvPr id="38" name="Google Shape;38;p4">
            <a:extLst xmlns:a="http://schemas.openxmlformats.org/drawingml/2006/main">
              <a:ext uri="{FF2B5EF4-FFF2-40B4-BE49-F238E27FC236}">
                <a16:creationId xmlns:a16="http://schemas.microsoft.com/office/drawing/2014/main" id="{FDAB920A-ADAD-4BB0-8308-AD1A3B35A9DC}"/>
              </a:ext>
            </a:extLst>
          </p:cNvPr>
          <p:cNvSpPr>
            <a:spLocks xmlns:a="http://schemas.openxmlformats.org/drawingml/2006/main" noGrp="1"/>
          </p:cNvSpPr>
          <p:nvPr/>
        </p:nvSpPr>
        <p:spPr>
          <a:xfrm xmlns:a="http://schemas.openxmlformats.org/drawingml/2006/main">
            <a:off x="6762750" y="2686050"/>
            <a:ext cx="4667250" cy="876300"/>
          </a:xfrm>
          <a:prstGeom xmlns:a="http://schemas.openxmlformats.org/drawingml/2006/main" prst="roundRect">
            <a:avLst>
              <a:gd name="adj" fmla="val 8696"/>
            </a:avLst>
          </a:prstGeom>
          <a:solidFill xmlns:a="http://schemas.openxmlformats.org/drawingml/2006/main">
            <a:srgbClr val="F8E7E0"/>
          </a:solidFill>
          <a:ln xmlns:a="http://schemas.openxmlformats.org/drawingml/2006/main" w="14275" cmpd="sng">
            <a:solidFill>
              <a:srgbClr val="DFDBD0"/>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p>
        </p:txBody>
      </p:sp>
      <p:sp>
        <p:nvSpPr>
          <p:cNvPr id="39" name="Google Shape;39;p4">
            <a:extLst xmlns:a="http://schemas.openxmlformats.org/drawingml/2006/main">
              <a:ext uri="{FF2B5EF4-FFF2-40B4-BE49-F238E27FC236}">
                <a16:creationId xmlns:a16="http://schemas.microsoft.com/office/drawing/2014/main" id="{4E685C7F-8045-4D69-AB93-2FEE0E169B7A}"/>
              </a:ext>
            </a:extLst>
          </p:cNvPr>
          <p:cNvSpPr>
            <a:spLocks xmlns:a="http://schemas.openxmlformats.org/drawingml/2006/main" noGrp="1"/>
          </p:cNvSpPr>
          <p:nvPr/>
        </p:nvSpPr>
        <p:spPr>
          <a:xfrm xmlns:a="http://schemas.openxmlformats.org/drawingml/2006/main">
            <a:off x="6762750" y="2686050"/>
            <a:ext cx="76200" cy="876300"/>
          </a:xfrm>
          <a:prstGeom xmlns:a="http://schemas.openxmlformats.org/drawingml/2006/main" prst="rect">
            <a:avLst/>
          </a:prstGeom>
          <a:solidFill xmlns:a="http://schemas.openxmlformats.org/drawingml/2006/main">
            <a:srgbClr val="CC4824"/>
          </a:solidFill>
          <a:ln xmlns:a="http://schemas.openxmlformats.org/drawingml/2006/main" w="9525" cmpd="sng">
            <a:solidFill>
              <a:srgbClr val="CC4824"/>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p>
        </p:txBody>
      </p:sp>
      <p:sp>
        <p:nvSpPr>
          <p:cNvPr id="40" name="Google Shape;40;p4">
            <a:extLst xmlns:a="http://schemas.openxmlformats.org/drawingml/2006/main">
              <a:ext uri="{FF2B5EF4-FFF2-40B4-BE49-F238E27FC236}">
                <a16:creationId xmlns:a16="http://schemas.microsoft.com/office/drawing/2014/main" id="{37B5D4D4-C5F7-4D2C-8D82-C2EBABD1DFEC}"/>
              </a:ext>
            </a:extLst>
          </p:cNvPr>
          <p:cNvSpPr>
            <a:spLocks xmlns:a="http://schemas.openxmlformats.org/drawingml/2006/main" noGrp="1"/>
          </p:cNvSpPr>
          <p:nvPr/>
        </p:nvSpPr>
        <p:spPr>
          <a:xfrm xmlns:a="http://schemas.openxmlformats.org/drawingml/2006/main">
            <a:off x="6972300" y="2809875"/>
            <a:ext cx="4343400" cy="304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l">
              <a:spcBef>
                <a:spcPts val="0"/>
              </a:spcBef>
              <a:spcAft>
                <a:spcPts val="0"/>
              </a:spcAft>
              <a:buNone/>
            </a:pPr>
            <a:r>
              <a:rPr sz="1400" b="1">
                <a:solidFill>
                  <a:srgbClr val="24231F"/>
                </a:solidFill>
                <a:latin typeface="Arial"/>
                <a:ea typeface="Arial"/>
                <a:cs typeface="Arial"/>
              </a:rPr>
              <a:t>Store for retrieval</a:t>
            </a:r>
          </a:p>
        </p:txBody>
      </p:sp>
      <p:sp>
        <p:nvSpPr>
          <p:cNvPr id="41" name="Google Shape;41;p4">
            <a:extLst xmlns:a="http://schemas.openxmlformats.org/drawingml/2006/main">
              <a:ext uri="{FF2B5EF4-FFF2-40B4-BE49-F238E27FC236}">
                <a16:creationId xmlns:a16="http://schemas.microsoft.com/office/drawing/2014/main" id="{F1B28BE5-52F0-45C5-893D-269C1EC668FE}"/>
              </a:ext>
            </a:extLst>
          </p:cNvPr>
          <p:cNvSpPr>
            <a:spLocks xmlns:a="http://schemas.openxmlformats.org/drawingml/2006/main" noGrp="1"/>
          </p:cNvSpPr>
          <p:nvPr/>
        </p:nvSpPr>
        <p:spPr>
          <a:xfrm xmlns:a="http://schemas.openxmlformats.org/drawingml/2006/main">
            <a:off x="6972300" y="3143250"/>
            <a:ext cx="4343400" cy="3238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l">
              <a:spcBef>
                <a:spcPts val="0"/>
              </a:spcBef>
              <a:spcAft>
                <a:spcPts val="0"/>
              </a:spcAft>
              <a:buNone/>
            </a:pPr>
            <a:r>
              <a:rPr sz="1200" b="0">
                <a:solidFill>
                  <a:srgbClr val="6D6A63"/>
                </a:solidFill>
                <a:latin typeface="Arial"/>
                <a:ea typeface="Arial"/>
                <a:cs typeface="Arial"/>
              </a:rPr>
              <a:t>Keep human-readable data and its vector meaning.</a:t>
            </a:r>
          </a:p>
        </p:txBody>
      </p:sp>
      <p:sp>
        <p:nvSpPr>
          <p:cNvPr id="42" name="Google Shape;42;p4">
            <a:extLst xmlns:a="http://schemas.openxmlformats.org/drawingml/2006/main">
              <a:ext uri="{FF2B5EF4-FFF2-40B4-BE49-F238E27FC236}">
                <a16:creationId xmlns:a16="http://schemas.microsoft.com/office/drawing/2014/main" id="{CDA732CD-1613-431D-90E2-2AC357789CEA}"/>
              </a:ext>
            </a:extLst>
          </p:cNvPr>
          <p:cNvSpPr>
            <a:spLocks xmlns:a="http://schemas.openxmlformats.org/drawingml/2006/main" noGrp="1"/>
          </p:cNvSpPr>
          <p:nvPr/>
        </p:nvSpPr>
        <p:spPr>
          <a:xfrm xmlns:a="http://schemas.openxmlformats.org/drawingml/2006/main">
            <a:off x="6762750" y="3752850"/>
            <a:ext cx="4667250" cy="876300"/>
          </a:xfrm>
          <a:prstGeom xmlns:a="http://schemas.openxmlformats.org/drawingml/2006/main" prst="roundRect">
            <a:avLst>
              <a:gd name="adj" fmla="val 8696"/>
            </a:avLst>
          </a:prstGeom>
          <a:solidFill xmlns:a="http://schemas.openxmlformats.org/drawingml/2006/main">
            <a:srgbClr val="F8E7E0"/>
          </a:solidFill>
          <a:ln xmlns:a="http://schemas.openxmlformats.org/drawingml/2006/main" w="14275" cmpd="sng">
            <a:solidFill>
              <a:srgbClr val="DFDBD0"/>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p>
        </p:txBody>
      </p:sp>
      <p:sp>
        <p:nvSpPr>
          <p:cNvPr id="43" name="Google Shape;43;p4">
            <a:extLst xmlns:a="http://schemas.openxmlformats.org/drawingml/2006/main">
              <a:ext uri="{FF2B5EF4-FFF2-40B4-BE49-F238E27FC236}">
                <a16:creationId xmlns:a16="http://schemas.microsoft.com/office/drawing/2014/main" id="{767BC3CB-7935-41E7-945E-75AAD6CCA966}"/>
              </a:ext>
            </a:extLst>
          </p:cNvPr>
          <p:cNvSpPr>
            <a:spLocks xmlns:a="http://schemas.openxmlformats.org/drawingml/2006/main" noGrp="1"/>
          </p:cNvSpPr>
          <p:nvPr/>
        </p:nvSpPr>
        <p:spPr>
          <a:xfrm xmlns:a="http://schemas.openxmlformats.org/drawingml/2006/main">
            <a:off x="6762750" y="3752850"/>
            <a:ext cx="76200" cy="876300"/>
          </a:xfrm>
          <a:prstGeom xmlns:a="http://schemas.openxmlformats.org/drawingml/2006/main" prst="rect">
            <a:avLst/>
          </a:prstGeom>
          <a:solidFill xmlns:a="http://schemas.openxmlformats.org/drawingml/2006/main">
            <a:srgbClr val="CC4824"/>
          </a:solidFill>
          <a:ln xmlns:a="http://schemas.openxmlformats.org/drawingml/2006/main" w="9525" cmpd="sng">
            <a:solidFill>
              <a:srgbClr val="CC4824"/>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p>
        </p:txBody>
      </p:sp>
      <p:sp>
        <p:nvSpPr>
          <p:cNvPr id="44" name="Google Shape;44;p4">
            <a:extLst xmlns:a="http://schemas.openxmlformats.org/drawingml/2006/main">
              <a:ext uri="{FF2B5EF4-FFF2-40B4-BE49-F238E27FC236}">
                <a16:creationId xmlns:a16="http://schemas.microsoft.com/office/drawing/2014/main" id="{8B47A73B-E331-4D51-8E08-C7B0EAF861B8}"/>
              </a:ext>
            </a:extLst>
          </p:cNvPr>
          <p:cNvSpPr>
            <a:spLocks xmlns:a="http://schemas.openxmlformats.org/drawingml/2006/main" noGrp="1"/>
          </p:cNvSpPr>
          <p:nvPr/>
        </p:nvSpPr>
        <p:spPr>
          <a:xfrm xmlns:a="http://schemas.openxmlformats.org/drawingml/2006/main">
            <a:off x="6972300" y="3876675"/>
            <a:ext cx="4343400" cy="304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l">
              <a:spcBef>
                <a:spcPts val="0"/>
              </a:spcBef>
              <a:spcAft>
                <a:spcPts val="0"/>
              </a:spcAft>
              <a:buNone/>
            </a:pPr>
            <a:r>
              <a:rPr sz="1400" b="1">
                <a:solidFill>
                  <a:srgbClr val="24231F"/>
                </a:solidFill>
                <a:latin typeface="Arial"/>
                <a:ea typeface="Arial"/>
                <a:cs typeface="Arial"/>
              </a:rPr>
              <a:t>Answer with evidence</a:t>
            </a:r>
          </a:p>
        </p:txBody>
      </p:sp>
      <p:sp>
        <p:nvSpPr>
          <p:cNvPr id="45" name="Google Shape;45;p4">
            <a:extLst xmlns:a="http://schemas.openxmlformats.org/drawingml/2006/main">
              <a:ext uri="{FF2B5EF4-FFF2-40B4-BE49-F238E27FC236}">
                <a16:creationId xmlns:a16="http://schemas.microsoft.com/office/drawing/2014/main" id="{669391F3-0C97-4BD1-B04D-2ECFB7AD0DE3}"/>
              </a:ext>
            </a:extLst>
          </p:cNvPr>
          <p:cNvSpPr>
            <a:spLocks xmlns:a="http://schemas.openxmlformats.org/drawingml/2006/main" noGrp="1"/>
          </p:cNvSpPr>
          <p:nvPr/>
        </p:nvSpPr>
        <p:spPr>
          <a:xfrm xmlns:a="http://schemas.openxmlformats.org/drawingml/2006/main">
            <a:off x="6972300" y="4210050"/>
            <a:ext cx="4343400" cy="3238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l">
              <a:spcBef>
                <a:spcPts val="0"/>
              </a:spcBef>
              <a:spcAft>
                <a:spcPts val="0"/>
              </a:spcAft>
              <a:buNone/>
            </a:pPr>
            <a:r>
              <a:rPr sz="1200" b="0">
                <a:solidFill>
                  <a:srgbClr val="6D6A63"/>
                </a:solidFill>
                <a:latin typeface="Arial"/>
                <a:ea typeface="Arial"/>
                <a:cs typeface="Arial"/>
              </a:rPr>
              <a:t>Retrieve relevant memories before the final LLM responds.</a:t>
            </a:r>
          </a:p>
        </p:txBody>
      </p:sp>
      <p:sp>
        <p:nvSpPr>
          <p:cNvPr id="46" name="Google Shape;46;p4">
            <a:extLst xmlns:a="http://schemas.openxmlformats.org/drawingml/2006/main">
              <a:ext uri="{FF2B5EF4-FFF2-40B4-BE49-F238E27FC236}">
                <a16:creationId xmlns:a16="http://schemas.microsoft.com/office/drawing/2014/main" id="{52ED865F-1919-42FC-83AD-F206BF0946EC}"/>
              </a:ext>
            </a:extLst>
          </p:cNvPr>
          <p:cNvSpPr>
            <a:spLocks xmlns:a="http://schemas.openxmlformats.org/drawingml/2006/main" noGrp="1"/>
          </p:cNvSpPr>
          <p:nvPr/>
        </p:nvSpPr>
        <p:spPr>
          <a:xfrm xmlns:a="http://schemas.openxmlformats.org/drawingml/2006/main">
            <a:off x="419100" y="4953000"/>
            <a:ext cx="11010900" cy="876300"/>
          </a:xfrm>
          <a:prstGeom xmlns:a="http://schemas.openxmlformats.org/drawingml/2006/main" prst="rect">
            <a:avLst/>
          </a:prstGeom>
          <a:solidFill xmlns:a="http://schemas.openxmlformats.org/drawingml/2006/main">
            <a:srgbClr val="F0EDE5"/>
          </a:solidFill>
          <a:ln xmlns:a="http://schemas.openxmlformats.org/drawingml/2006/main" w="14275" cmpd="sng">
            <a:solidFill>
              <a:srgbClr val="F0EDE5"/>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p>
        </p:txBody>
      </p:sp>
      <p:sp>
        <p:nvSpPr>
          <p:cNvPr id="47" name="Google Shape;47;p4">
            <a:extLst xmlns:a="http://schemas.openxmlformats.org/drawingml/2006/main">
              <a:ext uri="{FF2B5EF4-FFF2-40B4-BE49-F238E27FC236}">
                <a16:creationId xmlns:a16="http://schemas.microsoft.com/office/drawing/2014/main" id="{54DC1CE3-7B59-47BC-BCE0-40D57A94D9E0}"/>
              </a:ext>
            </a:extLst>
          </p:cNvPr>
          <p:cNvSpPr>
            <a:spLocks xmlns:a="http://schemas.openxmlformats.org/drawingml/2006/main" noGrp="1"/>
          </p:cNvSpPr>
          <p:nvPr/>
        </p:nvSpPr>
        <p:spPr>
          <a:xfrm xmlns:a="http://schemas.openxmlformats.org/drawingml/2006/main">
            <a:off x="685800" y="5095875"/>
            <a:ext cx="10477500" cy="571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l">
              <a:spcBef>
                <a:spcPts val="0"/>
              </a:spcBef>
              <a:spcAft>
                <a:spcPts val="0"/>
              </a:spcAft>
              <a:buNone/>
            </a:pPr>
            <a:r>
              <a:rPr sz="1500" b="0">
                <a:solidFill>
                  <a:srgbClr val="24231F"/>
                </a:solidFill>
                <a:latin typeface="Arial"/>
                <a:ea typeface="Arial"/>
                <a:cs typeface="Arial"/>
              </a:rPr>
              <a:t>Target customers: students, creators, travelers and professionals who save useful content but cannot find or reuse it when needed.</a:t>
            </a:r>
          </a:p>
        </p:txBody>
      </p:sp>
    </p:spTree>
    <p:extLst>
      <p:ext uri="{BB962C8B-B14F-4D97-AF65-F5344CB8AC3E}">
        <p14:creationId xmlns:p14="http://schemas.microsoft.com/office/powerpoint/2010/main" val="1646838126"/>
      </p:ext>
    </p:extLst>
  </p:cSld>
</p:sld>
</file>

<file path=ppt/slides/slide3.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53" name="Google Shape;53;p5">
            <a:extLst xmlns:a="http://schemas.openxmlformats.org/drawingml/2006/main">
              <a:ext uri="{FF2B5EF4-FFF2-40B4-BE49-F238E27FC236}">
                <a16:creationId xmlns:a16="http://schemas.microsoft.com/office/drawing/2014/main" id="{540817A3-DAA6-42D3-AF17-AFC3ABDAF3FE}"/>
              </a:ext>
            </a:extLst>
          </p:cNvPr>
          <p:cNvSpPr>
            <a:spLocks xmlns:a="http://schemas.openxmlformats.org/drawingml/2006/main" noGrp="1"/>
          </p:cNvSpPr>
          <p:nvPr/>
        </p:nvSpPr>
        <p:spPr>
          <a:xfrm xmlns:a="http://schemas.openxmlformats.org/drawingml/2006/main">
            <a:off x="400050" y="266700"/>
            <a:ext cx="10953750" cy="685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l">
              <a:spcBef>
                <a:spcPts val="0"/>
              </a:spcBef>
              <a:spcAft>
                <a:spcPts val="0"/>
              </a:spcAft>
              <a:buNone/>
            </a:pPr>
            <a:r>
              <a:rPr sz="2850" b="0">
                <a:solidFill>
                  <a:srgbClr val="24231F"/>
                </a:solidFill>
                <a:latin typeface="Georgia"/>
                <a:ea typeface="Georgia"/>
                <a:cs typeface="Georgia"/>
              </a:rPr>
              <a:t>One end-to-end flow turns a URL into searchable memory</a:t>
            </a:r>
          </a:p>
        </p:txBody>
      </p:sp>
      <p:sp>
        <p:nvSpPr>
          <p:cNvPr id="54" name="Google Shape;54;p5">
            <a:extLst xmlns:a="http://schemas.openxmlformats.org/drawingml/2006/main">
              <a:ext uri="{FF2B5EF4-FFF2-40B4-BE49-F238E27FC236}">
                <a16:creationId xmlns:a16="http://schemas.microsoft.com/office/drawing/2014/main" id="{7BD442E2-3C64-42DF-AD0D-168D3E38AC3A}"/>
              </a:ext>
            </a:extLst>
          </p:cNvPr>
          <p:cNvSpPr>
            <a:spLocks xmlns:a="http://schemas.openxmlformats.org/drawingml/2006/main" noGrp="1"/>
          </p:cNvSpPr>
          <p:nvPr/>
        </p:nvSpPr>
        <p:spPr>
          <a:xfrm xmlns:a="http://schemas.openxmlformats.org/drawingml/2006/main">
            <a:off x="11315700" y="6286500"/>
            <a:ext cx="476250" cy="2095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r">
              <a:spcBef>
                <a:spcPts val="0"/>
              </a:spcBef>
              <a:spcAft>
                <a:spcPts val="0"/>
              </a:spcAft>
              <a:buNone/>
            </a:pPr>
            <a:r>
              <a:rPr sz="775" b="0">
                <a:solidFill>
                  <a:srgbClr val="6D6A63"/>
                </a:solidFill>
                <a:latin typeface="Arial"/>
                <a:ea typeface="Arial"/>
                <a:cs typeface="Arial"/>
              </a:rPr>
              <a:t>03</a:t>
            </a:r>
          </a:p>
        </p:txBody>
      </p:sp>
      <p:sp>
        <p:nvSpPr>
          <p:cNvPr id="55" name="Google Shape;55;p5">
            <a:extLst xmlns:a="http://schemas.openxmlformats.org/drawingml/2006/main">
              <a:ext uri="{FF2B5EF4-FFF2-40B4-BE49-F238E27FC236}">
                <a16:creationId xmlns:a16="http://schemas.microsoft.com/office/drawing/2014/main" id="{00AA2DB7-37D3-4755-A978-F5CCED586BEB}"/>
              </a:ext>
            </a:extLst>
          </p:cNvPr>
          <p:cNvSpPr>
            <a:spLocks xmlns:a="http://schemas.openxmlformats.org/drawingml/2006/main" noGrp="1"/>
          </p:cNvSpPr>
          <p:nvPr/>
        </p:nvSpPr>
        <p:spPr>
          <a:xfrm xmlns:a="http://schemas.openxmlformats.org/drawingml/2006/main">
            <a:off x="419100" y="952500"/>
            <a:ext cx="8572500" cy="304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l">
              <a:spcBef>
                <a:spcPts val="0"/>
              </a:spcBef>
              <a:spcAft>
                <a:spcPts val="0"/>
              </a:spcAft>
              <a:buNone/>
            </a:pPr>
            <a:r>
              <a:rPr sz="1400" b="0">
                <a:solidFill>
                  <a:srgbClr val="6D6A63"/>
                </a:solidFill>
                <a:latin typeface="Arial"/>
                <a:ea typeface="Arial"/>
                <a:cs typeface="Arial"/>
              </a:rPr>
              <a:t>Capture → trusted backend → AI understanding → searchable memory</a:t>
            </a:r>
          </a:p>
        </p:txBody>
      </p:sp>
      <p:sp>
        <p:nvSpPr>
          <p:cNvPr id="56" name="Google Shape;56;p5">
            <a:extLst xmlns:a="http://schemas.openxmlformats.org/drawingml/2006/main">
              <a:ext uri="{FF2B5EF4-FFF2-40B4-BE49-F238E27FC236}">
                <a16:creationId xmlns:a16="http://schemas.microsoft.com/office/drawing/2014/main" id="{84C2205C-2309-4DAB-A04D-BE877754C598}"/>
              </a:ext>
            </a:extLst>
          </p:cNvPr>
          <p:cNvSpPr>
            <a:spLocks xmlns:a="http://schemas.openxmlformats.org/drawingml/2006/main" noGrp="1"/>
          </p:cNvSpPr>
          <p:nvPr/>
        </p:nvSpPr>
        <p:spPr>
          <a:xfrm xmlns:a="http://schemas.openxmlformats.org/drawingml/2006/main">
            <a:off x="2143125" y="2686050"/>
            <a:ext cx="523875" cy="342900"/>
          </a:xfrm>
          <a:prstGeom xmlns:a="http://schemas.openxmlformats.org/drawingml/2006/main" prst="rightArrow">
            <a:avLst>
              <a:gd name="adj1" fmla="val 50000"/>
              <a:gd name="adj2" fmla="val 50000"/>
            </a:avLst>
          </a:prstGeom>
          <a:solidFill xmlns:a="http://schemas.openxmlformats.org/drawingml/2006/main">
            <a:srgbClr val="CC4824"/>
          </a:solidFill>
          <a:ln xmlns:a="http://schemas.openxmlformats.org/drawingml/2006/main" w="9525" cmpd="sng">
            <a:solidFill>
              <a:srgbClr val="CC4824"/>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p>
        </p:txBody>
      </p:sp>
      <p:sp>
        <p:nvSpPr>
          <p:cNvPr id="57" name="Google Shape;57;p5">
            <a:extLst xmlns:a="http://schemas.openxmlformats.org/drawingml/2006/main">
              <a:ext uri="{FF2B5EF4-FFF2-40B4-BE49-F238E27FC236}">
                <a16:creationId xmlns:a16="http://schemas.microsoft.com/office/drawing/2014/main" id="{A6AED8F6-E1D8-4687-95B3-0AE6D534CB27}"/>
              </a:ext>
            </a:extLst>
          </p:cNvPr>
          <p:cNvSpPr>
            <a:spLocks xmlns:a="http://schemas.openxmlformats.org/drawingml/2006/main" noGrp="1"/>
          </p:cNvSpPr>
          <p:nvPr/>
        </p:nvSpPr>
        <p:spPr>
          <a:xfrm xmlns:a="http://schemas.openxmlformats.org/drawingml/2006/main">
            <a:off x="4514850" y="2686050"/>
            <a:ext cx="523875" cy="342900"/>
          </a:xfrm>
          <a:prstGeom xmlns:a="http://schemas.openxmlformats.org/drawingml/2006/main" prst="rightArrow">
            <a:avLst>
              <a:gd name="adj1" fmla="val 50000"/>
              <a:gd name="adj2" fmla="val 50000"/>
            </a:avLst>
          </a:prstGeom>
          <a:solidFill xmlns:a="http://schemas.openxmlformats.org/drawingml/2006/main">
            <a:srgbClr val="CC4824"/>
          </a:solidFill>
          <a:ln xmlns:a="http://schemas.openxmlformats.org/drawingml/2006/main" w="9525" cmpd="sng">
            <a:solidFill>
              <a:srgbClr val="CC4824"/>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p>
        </p:txBody>
      </p:sp>
      <p:sp>
        <p:nvSpPr>
          <p:cNvPr id="58" name="Google Shape;58;p5">
            <a:extLst xmlns:a="http://schemas.openxmlformats.org/drawingml/2006/main">
              <a:ext uri="{FF2B5EF4-FFF2-40B4-BE49-F238E27FC236}">
                <a16:creationId xmlns:a16="http://schemas.microsoft.com/office/drawing/2014/main" id="{626A8E9C-19E8-40BB-9B03-A6A2273C48A7}"/>
              </a:ext>
            </a:extLst>
          </p:cNvPr>
          <p:cNvSpPr>
            <a:spLocks xmlns:a="http://schemas.openxmlformats.org/drawingml/2006/main" noGrp="1"/>
          </p:cNvSpPr>
          <p:nvPr/>
        </p:nvSpPr>
        <p:spPr>
          <a:xfrm xmlns:a="http://schemas.openxmlformats.org/drawingml/2006/main">
            <a:off x="6886575" y="2686050"/>
            <a:ext cx="523875" cy="342900"/>
          </a:xfrm>
          <a:prstGeom xmlns:a="http://schemas.openxmlformats.org/drawingml/2006/main" prst="rightArrow">
            <a:avLst>
              <a:gd name="adj1" fmla="val 50000"/>
              <a:gd name="adj2" fmla="val 50000"/>
            </a:avLst>
          </a:prstGeom>
          <a:solidFill xmlns:a="http://schemas.openxmlformats.org/drawingml/2006/main">
            <a:srgbClr val="CC4824"/>
          </a:solidFill>
          <a:ln xmlns:a="http://schemas.openxmlformats.org/drawingml/2006/main" w="9525" cmpd="sng">
            <a:solidFill>
              <a:srgbClr val="CC4824"/>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p>
        </p:txBody>
      </p:sp>
      <p:sp>
        <p:nvSpPr>
          <p:cNvPr id="59" name="Google Shape;59;p5">
            <a:extLst xmlns:a="http://schemas.openxmlformats.org/drawingml/2006/main">
              <a:ext uri="{FF2B5EF4-FFF2-40B4-BE49-F238E27FC236}">
                <a16:creationId xmlns:a16="http://schemas.microsoft.com/office/drawing/2014/main" id="{3072F022-064D-4C52-BE5A-CB39D6A9971F}"/>
              </a:ext>
            </a:extLst>
          </p:cNvPr>
          <p:cNvSpPr>
            <a:spLocks xmlns:a="http://schemas.openxmlformats.org/drawingml/2006/main" noGrp="1"/>
          </p:cNvSpPr>
          <p:nvPr/>
        </p:nvSpPr>
        <p:spPr>
          <a:xfrm xmlns:a="http://schemas.openxmlformats.org/drawingml/2006/main">
            <a:off x="9258300" y="2686050"/>
            <a:ext cx="523875" cy="342900"/>
          </a:xfrm>
          <a:prstGeom xmlns:a="http://schemas.openxmlformats.org/drawingml/2006/main" prst="rightArrow">
            <a:avLst>
              <a:gd name="adj1" fmla="val 50000"/>
              <a:gd name="adj2" fmla="val 50000"/>
            </a:avLst>
          </a:prstGeom>
          <a:solidFill xmlns:a="http://schemas.openxmlformats.org/drawingml/2006/main">
            <a:srgbClr val="CC4824"/>
          </a:solidFill>
          <a:ln xmlns:a="http://schemas.openxmlformats.org/drawingml/2006/main" w="9525" cmpd="sng">
            <a:solidFill>
              <a:srgbClr val="CC4824"/>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p>
        </p:txBody>
      </p:sp>
      <p:sp>
        <p:nvSpPr>
          <p:cNvPr id="60" name="Google Shape;60;p5">
            <a:extLst xmlns:a="http://schemas.openxmlformats.org/drawingml/2006/main">
              <a:ext uri="{FF2B5EF4-FFF2-40B4-BE49-F238E27FC236}">
                <a16:creationId xmlns:a16="http://schemas.microsoft.com/office/drawing/2014/main" id="{38112FDC-CC83-4098-B399-B54D3D529DAC}"/>
              </a:ext>
            </a:extLst>
          </p:cNvPr>
          <p:cNvSpPr>
            <a:spLocks xmlns:a="http://schemas.openxmlformats.org/drawingml/2006/main" noGrp="1"/>
          </p:cNvSpPr>
          <p:nvPr/>
        </p:nvSpPr>
        <p:spPr>
          <a:xfrm xmlns:a="http://schemas.openxmlformats.org/drawingml/2006/main">
            <a:off x="419100" y="1981200"/>
            <a:ext cx="1724025" cy="1752600"/>
          </a:xfrm>
          <a:prstGeom xmlns:a="http://schemas.openxmlformats.org/drawingml/2006/main" prst="roundRect">
            <a:avLst>
              <a:gd name="adj" fmla="val 4420"/>
            </a:avLst>
          </a:prstGeom>
          <a:solidFill xmlns:a="http://schemas.openxmlformats.org/drawingml/2006/main">
            <a:srgbClr val="FFFEFA"/>
          </a:solidFill>
          <a:ln xmlns:a="http://schemas.openxmlformats.org/drawingml/2006/main" w="14275" cmpd="sng">
            <a:solidFill>
              <a:srgbClr val="DFDBD0"/>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p>
        </p:txBody>
      </p:sp>
      <p:sp>
        <p:nvSpPr>
          <p:cNvPr id="61" name="Google Shape;61;p5">
            <a:extLst xmlns:a="http://schemas.openxmlformats.org/drawingml/2006/main">
              <a:ext uri="{FF2B5EF4-FFF2-40B4-BE49-F238E27FC236}">
                <a16:creationId xmlns:a16="http://schemas.microsoft.com/office/drawing/2014/main" id="{F1D779B4-0C8D-4DCF-8BEE-B1FF832B8EFA}"/>
              </a:ext>
            </a:extLst>
          </p:cNvPr>
          <p:cNvSpPr>
            <a:spLocks xmlns:a="http://schemas.openxmlformats.org/drawingml/2006/main" noGrp="1"/>
          </p:cNvSpPr>
          <p:nvPr/>
        </p:nvSpPr>
        <p:spPr>
          <a:xfrm xmlns:a="http://schemas.openxmlformats.org/drawingml/2006/main">
            <a:off x="419100" y="1981200"/>
            <a:ext cx="76200" cy="1752600"/>
          </a:xfrm>
          <a:prstGeom xmlns:a="http://schemas.openxmlformats.org/drawingml/2006/main" prst="rect">
            <a:avLst/>
          </a:prstGeom>
          <a:solidFill xmlns:a="http://schemas.openxmlformats.org/drawingml/2006/main">
            <a:srgbClr val="CC4824"/>
          </a:solidFill>
          <a:ln xmlns:a="http://schemas.openxmlformats.org/drawingml/2006/main" w="9525" cmpd="sng">
            <a:solidFill>
              <a:srgbClr val="CC4824"/>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p>
        </p:txBody>
      </p:sp>
      <p:sp>
        <p:nvSpPr>
          <p:cNvPr id="62" name="Google Shape;62;p5">
            <a:extLst xmlns:a="http://schemas.openxmlformats.org/drawingml/2006/main">
              <a:ext uri="{FF2B5EF4-FFF2-40B4-BE49-F238E27FC236}">
                <a16:creationId xmlns:a16="http://schemas.microsoft.com/office/drawing/2014/main" id="{EB905E26-1F94-433C-AAF9-8489F8F609AD}"/>
              </a:ext>
            </a:extLst>
          </p:cNvPr>
          <p:cNvSpPr>
            <a:spLocks xmlns:a="http://schemas.openxmlformats.org/drawingml/2006/main" noGrp="1"/>
          </p:cNvSpPr>
          <p:nvPr/>
        </p:nvSpPr>
        <p:spPr>
          <a:xfrm xmlns:a="http://schemas.openxmlformats.org/drawingml/2006/main">
            <a:off x="628650" y="2105025"/>
            <a:ext cx="1400175" cy="304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l">
              <a:spcBef>
                <a:spcPts val="0"/>
              </a:spcBef>
              <a:spcAft>
                <a:spcPts val="0"/>
              </a:spcAft>
              <a:buNone/>
            </a:pPr>
            <a:r>
              <a:rPr sz="1400" b="1">
                <a:solidFill>
                  <a:srgbClr val="24231F"/>
                </a:solidFill>
                <a:latin typeface="Arial"/>
                <a:ea typeface="Arial"/>
                <a:cs typeface="Arial"/>
              </a:rPr>
              <a:t>1  Capture</a:t>
            </a:r>
          </a:p>
        </p:txBody>
      </p:sp>
      <p:sp>
        <p:nvSpPr>
          <p:cNvPr id="63" name="Google Shape;63;p5">
            <a:extLst xmlns:a="http://schemas.openxmlformats.org/drawingml/2006/main">
              <a:ext uri="{FF2B5EF4-FFF2-40B4-BE49-F238E27FC236}">
                <a16:creationId xmlns:a16="http://schemas.microsoft.com/office/drawing/2014/main" id="{947FF9BD-7959-419C-B406-2DC6E79DE955}"/>
              </a:ext>
            </a:extLst>
          </p:cNvPr>
          <p:cNvSpPr>
            <a:spLocks xmlns:a="http://schemas.openxmlformats.org/drawingml/2006/main" noGrp="1"/>
          </p:cNvSpPr>
          <p:nvPr/>
        </p:nvSpPr>
        <p:spPr>
          <a:xfrm xmlns:a="http://schemas.openxmlformats.org/drawingml/2006/main">
            <a:off x="628650" y="2438400"/>
            <a:ext cx="1400175" cy="12001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l">
              <a:spcBef>
                <a:spcPts val="0"/>
              </a:spcBef>
              <a:spcAft>
                <a:spcPts val="0"/>
              </a:spcAft>
              <a:buNone/>
            </a:pPr>
            <a:r>
              <a:rPr sz="1200" b="0">
                <a:solidFill>
                  <a:srgbClr val="6D6A63"/>
                </a:solidFill>
                <a:latin typeface="Arial"/>
                <a:ea typeface="Arial"/>
                <a:cs typeface="Arial"/>
              </a:rPr>
              <a:t>Chrome or Android sends URL, visible content and user note.</a:t>
            </a:r>
          </a:p>
        </p:txBody>
      </p:sp>
      <p:sp>
        <p:nvSpPr>
          <p:cNvPr id="64" name="Google Shape;64;p5">
            <a:extLst xmlns:a="http://schemas.openxmlformats.org/drawingml/2006/main">
              <a:ext uri="{FF2B5EF4-FFF2-40B4-BE49-F238E27FC236}">
                <a16:creationId xmlns:a16="http://schemas.microsoft.com/office/drawing/2014/main" id="{30B7B420-E8E1-48FA-9E05-AA7351A22FD5}"/>
              </a:ext>
            </a:extLst>
          </p:cNvPr>
          <p:cNvSpPr>
            <a:spLocks xmlns:a="http://schemas.openxmlformats.org/drawingml/2006/main" noGrp="1"/>
          </p:cNvSpPr>
          <p:nvPr/>
        </p:nvSpPr>
        <p:spPr>
          <a:xfrm xmlns:a="http://schemas.openxmlformats.org/drawingml/2006/main">
            <a:off x="2667000" y="1981200"/>
            <a:ext cx="1847850" cy="1752600"/>
          </a:xfrm>
          <a:prstGeom xmlns:a="http://schemas.openxmlformats.org/drawingml/2006/main" prst="roundRect">
            <a:avLst>
              <a:gd name="adj" fmla="val 4348"/>
            </a:avLst>
          </a:prstGeom>
          <a:solidFill xmlns:a="http://schemas.openxmlformats.org/drawingml/2006/main">
            <a:srgbClr val="FFFEFA"/>
          </a:solidFill>
          <a:ln xmlns:a="http://schemas.openxmlformats.org/drawingml/2006/main" w="14275" cmpd="sng">
            <a:solidFill>
              <a:srgbClr val="DFDBD0"/>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p>
        </p:txBody>
      </p:sp>
      <p:sp>
        <p:nvSpPr>
          <p:cNvPr id="65" name="Google Shape;65;p5">
            <a:extLst xmlns:a="http://schemas.openxmlformats.org/drawingml/2006/main">
              <a:ext uri="{FF2B5EF4-FFF2-40B4-BE49-F238E27FC236}">
                <a16:creationId xmlns:a16="http://schemas.microsoft.com/office/drawing/2014/main" id="{F8F96E66-7EE5-4B63-8778-BBB20533E338}"/>
              </a:ext>
            </a:extLst>
          </p:cNvPr>
          <p:cNvSpPr>
            <a:spLocks xmlns:a="http://schemas.openxmlformats.org/drawingml/2006/main" noGrp="1"/>
          </p:cNvSpPr>
          <p:nvPr/>
        </p:nvSpPr>
        <p:spPr>
          <a:xfrm xmlns:a="http://schemas.openxmlformats.org/drawingml/2006/main">
            <a:off x="2667000" y="1981200"/>
            <a:ext cx="76200" cy="1752600"/>
          </a:xfrm>
          <a:prstGeom xmlns:a="http://schemas.openxmlformats.org/drawingml/2006/main" prst="rect">
            <a:avLst/>
          </a:prstGeom>
          <a:solidFill xmlns:a="http://schemas.openxmlformats.org/drawingml/2006/main">
            <a:srgbClr val="24231F"/>
          </a:solidFill>
          <a:ln xmlns:a="http://schemas.openxmlformats.org/drawingml/2006/main" w="9525" cmpd="sng">
            <a:solidFill>
              <a:srgbClr val="24231F"/>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p>
        </p:txBody>
      </p:sp>
      <p:sp>
        <p:nvSpPr>
          <p:cNvPr id="66" name="Google Shape;66;p5">
            <a:extLst xmlns:a="http://schemas.openxmlformats.org/drawingml/2006/main">
              <a:ext uri="{FF2B5EF4-FFF2-40B4-BE49-F238E27FC236}">
                <a16:creationId xmlns:a16="http://schemas.microsoft.com/office/drawing/2014/main" id="{72037D13-B916-45A3-88B6-BFD9A561F910}"/>
              </a:ext>
            </a:extLst>
          </p:cNvPr>
          <p:cNvSpPr>
            <a:spLocks xmlns:a="http://schemas.openxmlformats.org/drawingml/2006/main" noGrp="1"/>
          </p:cNvSpPr>
          <p:nvPr/>
        </p:nvSpPr>
        <p:spPr>
          <a:xfrm xmlns:a="http://schemas.openxmlformats.org/drawingml/2006/main">
            <a:off x="2876550" y="2105025"/>
            <a:ext cx="1524000" cy="304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l">
              <a:spcBef>
                <a:spcPts val="0"/>
              </a:spcBef>
              <a:spcAft>
                <a:spcPts val="0"/>
              </a:spcAft>
              <a:buNone/>
            </a:pPr>
            <a:r>
              <a:rPr sz="1400" b="1">
                <a:solidFill>
                  <a:srgbClr val="24231F"/>
                </a:solidFill>
                <a:latin typeface="Arial"/>
                <a:ea typeface="Arial"/>
                <a:cs typeface="Arial"/>
              </a:rPr>
              <a:t>2  Backend</a:t>
            </a:r>
          </a:p>
        </p:txBody>
      </p:sp>
      <p:sp>
        <p:nvSpPr>
          <p:cNvPr id="67" name="Google Shape;67;p5">
            <a:extLst xmlns:a="http://schemas.openxmlformats.org/drawingml/2006/main">
              <a:ext uri="{FF2B5EF4-FFF2-40B4-BE49-F238E27FC236}">
                <a16:creationId xmlns:a16="http://schemas.microsoft.com/office/drawing/2014/main" id="{07FF7843-2D47-4511-BF15-FAF2E381B4CD}"/>
              </a:ext>
            </a:extLst>
          </p:cNvPr>
          <p:cNvSpPr>
            <a:spLocks xmlns:a="http://schemas.openxmlformats.org/drawingml/2006/main" noGrp="1"/>
          </p:cNvSpPr>
          <p:nvPr/>
        </p:nvSpPr>
        <p:spPr>
          <a:xfrm xmlns:a="http://schemas.openxmlformats.org/drawingml/2006/main">
            <a:off x="2876550" y="2438400"/>
            <a:ext cx="1524000" cy="12001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l">
              <a:spcBef>
                <a:spcPts val="0"/>
              </a:spcBef>
              <a:spcAft>
                <a:spcPts val="0"/>
              </a:spcAft>
              <a:buNone/>
            </a:pPr>
            <a:r>
              <a:rPr sz="1200" b="0">
                <a:solidFill>
                  <a:srgbClr val="6D6A63"/>
                </a:solidFill>
                <a:latin typeface="Arial"/>
                <a:ea typeface="Arial"/>
                <a:cs typeface="Arial"/>
              </a:rPr>
              <a:t>Validates source, user and payload. Calls the AI service.</a:t>
            </a:r>
          </a:p>
        </p:txBody>
      </p:sp>
      <p:sp>
        <p:nvSpPr>
          <p:cNvPr id="68" name="Google Shape;68;p5">
            <a:extLst xmlns:a="http://schemas.openxmlformats.org/drawingml/2006/main">
              <a:ext uri="{FF2B5EF4-FFF2-40B4-BE49-F238E27FC236}">
                <a16:creationId xmlns:a16="http://schemas.microsoft.com/office/drawing/2014/main" id="{FE2B47BB-9A8B-4968-8DD0-0AEEBBAF5534}"/>
              </a:ext>
            </a:extLst>
          </p:cNvPr>
          <p:cNvSpPr>
            <a:spLocks xmlns:a="http://schemas.openxmlformats.org/drawingml/2006/main" noGrp="1"/>
          </p:cNvSpPr>
          <p:nvPr/>
        </p:nvSpPr>
        <p:spPr>
          <a:xfrm xmlns:a="http://schemas.openxmlformats.org/drawingml/2006/main">
            <a:off x="5038725" y="1981200"/>
            <a:ext cx="1847850" cy="1752600"/>
          </a:xfrm>
          <a:prstGeom xmlns:a="http://schemas.openxmlformats.org/drawingml/2006/main" prst="roundRect">
            <a:avLst>
              <a:gd name="adj" fmla="val 4348"/>
            </a:avLst>
          </a:prstGeom>
          <a:solidFill xmlns:a="http://schemas.openxmlformats.org/drawingml/2006/main">
            <a:srgbClr val="FFFEFA"/>
          </a:solidFill>
          <a:ln xmlns:a="http://schemas.openxmlformats.org/drawingml/2006/main" w="14275" cmpd="sng">
            <a:solidFill>
              <a:srgbClr val="DFDBD0"/>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p>
        </p:txBody>
      </p:sp>
      <p:sp>
        <p:nvSpPr>
          <p:cNvPr id="69" name="Google Shape;69;p5">
            <a:extLst xmlns:a="http://schemas.openxmlformats.org/drawingml/2006/main">
              <a:ext uri="{FF2B5EF4-FFF2-40B4-BE49-F238E27FC236}">
                <a16:creationId xmlns:a16="http://schemas.microsoft.com/office/drawing/2014/main" id="{0EA76B4E-7C7F-4E4D-8159-EBDD839AE94E}"/>
              </a:ext>
            </a:extLst>
          </p:cNvPr>
          <p:cNvSpPr>
            <a:spLocks xmlns:a="http://schemas.openxmlformats.org/drawingml/2006/main" noGrp="1"/>
          </p:cNvSpPr>
          <p:nvPr/>
        </p:nvSpPr>
        <p:spPr>
          <a:xfrm xmlns:a="http://schemas.openxmlformats.org/drawingml/2006/main">
            <a:off x="5038725" y="1981200"/>
            <a:ext cx="76200" cy="1752600"/>
          </a:xfrm>
          <a:prstGeom xmlns:a="http://schemas.openxmlformats.org/drawingml/2006/main" prst="rect">
            <a:avLst/>
          </a:prstGeom>
          <a:solidFill xmlns:a="http://schemas.openxmlformats.org/drawingml/2006/main">
            <a:srgbClr val="806C52"/>
          </a:solidFill>
          <a:ln xmlns:a="http://schemas.openxmlformats.org/drawingml/2006/main" w="9525" cmpd="sng">
            <a:solidFill>
              <a:srgbClr val="806C52"/>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p>
        </p:txBody>
      </p:sp>
      <p:sp>
        <p:nvSpPr>
          <p:cNvPr id="70" name="Google Shape;70;p5">
            <a:extLst xmlns:a="http://schemas.openxmlformats.org/drawingml/2006/main">
              <a:ext uri="{FF2B5EF4-FFF2-40B4-BE49-F238E27FC236}">
                <a16:creationId xmlns:a16="http://schemas.microsoft.com/office/drawing/2014/main" id="{26FCDB1E-E834-4BF2-99A0-DB9CE17AFC6B}"/>
              </a:ext>
            </a:extLst>
          </p:cNvPr>
          <p:cNvSpPr>
            <a:spLocks xmlns:a="http://schemas.openxmlformats.org/drawingml/2006/main" noGrp="1"/>
          </p:cNvSpPr>
          <p:nvPr/>
        </p:nvSpPr>
        <p:spPr>
          <a:xfrm xmlns:a="http://schemas.openxmlformats.org/drawingml/2006/main">
            <a:off x="5248275" y="2105025"/>
            <a:ext cx="1524000" cy="304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l">
              <a:spcBef>
                <a:spcPts val="0"/>
              </a:spcBef>
              <a:spcAft>
                <a:spcPts val="0"/>
              </a:spcAft>
              <a:buNone/>
            </a:pPr>
            <a:r>
              <a:rPr sz="1400" b="1">
                <a:solidFill>
                  <a:srgbClr val="24231F"/>
                </a:solidFill>
                <a:latin typeface="Arial"/>
                <a:ea typeface="Arial"/>
                <a:cs typeface="Arial"/>
              </a:rPr>
              <a:t>3  AI service</a:t>
            </a:r>
          </a:p>
        </p:txBody>
      </p:sp>
      <p:sp>
        <p:nvSpPr>
          <p:cNvPr id="71" name="Google Shape;71;p5">
            <a:extLst xmlns:a="http://schemas.openxmlformats.org/drawingml/2006/main">
              <a:ext uri="{FF2B5EF4-FFF2-40B4-BE49-F238E27FC236}">
                <a16:creationId xmlns:a16="http://schemas.microsoft.com/office/drawing/2014/main" id="{6482F41E-0CB0-4D48-9B0E-84518E580F5D}"/>
              </a:ext>
            </a:extLst>
          </p:cNvPr>
          <p:cNvSpPr>
            <a:spLocks xmlns:a="http://schemas.openxmlformats.org/drawingml/2006/main" noGrp="1"/>
          </p:cNvSpPr>
          <p:nvPr/>
        </p:nvSpPr>
        <p:spPr>
          <a:xfrm xmlns:a="http://schemas.openxmlformats.org/drawingml/2006/main">
            <a:off x="5248275" y="2438400"/>
            <a:ext cx="1524000" cy="12001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l">
              <a:spcBef>
                <a:spcPts val="0"/>
              </a:spcBef>
              <a:spcAft>
                <a:spcPts val="0"/>
              </a:spcAft>
              <a:buNone/>
            </a:pPr>
            <a:r>
              <a:rPr sz="1200">
                <a:solidFill>
                  <a:srgbClr val="6D6A63"/>
                </a:solidFill>
              </a:rPr>
              <a:t>E</a:t>
            </a:r>
            <a:r>
              <a:rPr sz="1200" b="0">
                <a:solidFill>
                  <a:srgbClr val="6D6A63"/>
                </a:solidFill>
                <a:latin typeface="Arial"/>
                <a:ea typeface="Arial"/>
                <a:cs typeface="Arial"/>
              </a:rPr>
              <a:t>xtracts supplied text, analyzes them</a:t>
            </a:r>
            <a:r>
              <a:rPr sz="1200">
                <a:solidFill>
                  <a:srgbClr val="6D6A63"/>
                </a:solidFill>
              </a:rPr>
              <a:t>, creates </a:t>
            </a:r>
            <a:r>
              <a:rPr sz="1200">
                <a:solidFill>
                  <a:srgbClr val="6D6A63"/>
                </a:solidFill>
              </a:rPr>
              <a:t>embedding</a:t>
            </a:r>
            <a:r>
              <a:rPr sz="1200">
                <a:solidFill>
                  <a:srgbClr val="6D6A63"/>
                </a:solidFill>
              </a:rPr>
              <a:t> and stores them in databases.</a:t>
            </a:r>
          </a:p>
        </p:txBody>
      </p:sp>
      <p:sp>
        <p:nvSpPr>
          <p:cNvPr id="72" name="Google Shape;72;p5">
            <a:extLst xmlns:a="http://schemas.openxmlformats.org/drawingml/2006/main">
              <a:ext uri="{FF2B5EF4-FFF2-40B4-BE49-F238E27FC236}">
                <a16:creationId xmlns:a16="http://schemas.microsoft.com/office/drawing/2014/main" id="{87337BD7-A3F7-46CE-BB6A-F2C9CA664EDE}"/>
              </a:ext>
            </a:extLst>
          </p:cNvPr>
          <p:cNvSpPr>
            <a:spLocks xmlns:a="http://schemas.openxmlformats.org/drawingml/2006/main" noGrp="1"/>
          </p:cNvSpPr>
          <p:nvPr/>
        </p:nvSpPr>
        <p:spPr>
          <a:xfrm xmlns:a="http://schemas.openxmlformats.org/drawingml/2006/main">
            <a:off x="7410450" y="1981200"/>
            <a:ext cx="1847850" cy="1752600"/>
          </a:xfrm>
          <a:prstGeom xmlns:a="http://schemas.openxmlformats.org/drawingml/2006/main" prst="roundRect">
            <a:avLst>
              <a:gd name="adj" fmla="val 4348"/>
            </a:avLst>
          </a:prstGeom>
          <a:solidFill xmlns:a="http://schemas.openxmlformats.org/drawingml/2006/main">
            <a:srgbClr val="F8E7E0"/>
          </a:solidFill>
          <a:ln xmlns:a="http://schemas.openxmlformats.org/drawingml/2006/main" w="14275" cmpd="sng">
            <a:solidFill>
              <a:srgbClr val="DFDBD0"/>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p>
        </p:txBody>
      </p:sp>
      <p:sp>
        <p:nvSpPr>
          <p:cNvPr id="73" name="Google Shape;73;p5">
            <a:extLst xmlns:a="http://schemas.openxmlformats.org/drawingml/2006/main">
              <a:ext uri="{FF2B5EF4-FFF2-40B4-BE49-F238E27FC236}">
                <a16:creationId xmlns:a16="http://schemas.microsoft.com/office/drawing/2014/main" id="{8605D3B9-9CD5-439B-9D06-F3316F1D4EAA}"/>
              </a:ext>
            </a:extLst>
          </p:cNvPr>
          <p:cNvSpPr>
            <a:spLocks xmlns:a="http://schemas.openxmlformats.org/drawingml/2006/main" noGrp="1"/>
          </p:cNvSpPr>
          <p:nvPr/>
        </p:nvSpPr>
        <p:spPr>
          <a:xfrm xmlns:a="http://schemas.openxmlformats.org/drawingml/2006/main">
            <a:off x="7410450" y="1981200"/>
            <a:ext cx="76200" cy="1752600"/>
          </a:xfrm>
          <a:prstGeom xmlns:a="http://schemas.openxmlformats.org/drawingml/2006/main" prst="rect">
            <a:avLst/>
          </a:prstGeom>
          <a:solidFill xmlns:a="http://schemas.openxmlformats.org/drawingml/2006/main">
            <a:srgbClr val="CC4824"/>
          </a:solidFill>
          <a:ln xmlns:a="http://schemas.openxmlformats.org/drawingml/2006/main" w="9525" cmpd="sng">
            <a:solidFill>
              <a:srgbClr val="CC4824"/>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p>
        </p:txBody>
      </p:sp>
      <p:sp>
        <p:nvSpPr>
          <p:cNvPr id="74" name="Google Shape;74;p5">
            <a:extLst xmlns:a="http://schemas.openxmlformats.org/drawingml/2006/main">
              <a:ext uri="{FF2B5EF4-FFF2-40B4-BE49-F238E27FC236}">
                <a16:creationId xmlns:a16="http://schemas.microsoft.com/office/drawing/2014/main" id="{458D0EAB-D376-4839-B42D-074EC7856B1C}"/>
              </a:ext>
            </a:extLst>
          </p:cNvPr>
          <p:cNvSpPr>
            <a:spLocks xmlns:a="http://schemas.openxmlformats.org/drawingml/2006/main" noGrp="1"/>
          </p:cNvSpPr>
          <p:nvPr/>
        </p:nvSpPr>
        <p:spPr>
          <a:xfrm xmlns:a="http://schemas.openxmlformats.org/drawingml/2006/main">
            <a:off x="7620000" y="2105025"/>
            <a:ext cx="1524000" cy="304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l">
              <a:spcBef>
                <a:spcPts val="0"/>
              </a:spcBef>
              <a:spcAft>
                <a:spcPts val="0"/>
              </a:spcAft>
              <a:buNone/>
            </a:pPr>
            <a:r>
              <a:rPr sz="1400" b="1">
                <a:solidFill>
                  <a:srgbClr val="24231F"/>
                </a:solidFill>
                <a:latin typeface="Arial"/>
                <a:ea typeface="Arial"/>
                <a:cs typeface="Arial"/>
              </a:rPr>
              <a:t>4  First LLM</a:t>
            </a:r>
          </a:p>
        </p:txBody>
      </p:sp>
      <p:sp>
        <p:nvSpPr>
          <p:cNvPr id="75" name="Google Shape;75;p5">
            <a:extLst xmlns:a="http://schemas.openxmlformats.org/drawingml/2006/main">
              <a:ext uri="{FF2B5EF4-FFF2-40B4-BE49-F238E27FC236}">
                <a16:creationId xmlns:a16="http://schemas.microsoft.com/office/drawing/2014/main" id="{BA21D1F7-94D8-4829-88DD-98CBAE385853}"/>
              </a:ext>
            </a:extLst>
          </p:cNvPr>
          <p:cNvSpPr>
            <a:spLocks xmlns:a="http://schemas.openxmlformats.org/drawingml/2006/main" noGrp="1"/>
          </p:cNvSpPr>
          <p:nvPr/>
        </p:nvSpPr>
        <p:spPr>
          <a:xfrm xmlns:a="http://schemas.openxmlformats.org/drawingml/2006/main">
            <a:off x="7620000" y="2438400"/>
            <a:ext cx="1524000" cy="12001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l">
              <a:spcBef>
                <a:spcPts val="0"/>
              </a:spcBef>
              <a:spcAft>
                <a:spcPts val="0"/>
              </a:spcAft>
              <a:buNone/>
            </a:pPr>
            <a:r>
              <a:rPr sz="1200" b="0">
                <a:solidFill>
                  <a:srgbClr val="6D6A63"/>
                </a:solidFill>
                <a:latin typeface="Arial"/>
                <a:ea typeface="Arial"/>
                <a:cs typeface="Arial"/>
              </a:rPr>
              <a:t>Creates summary, category, tags, topics and actions.</a:t>
            </a:r>
          </a:p>
        </p:txBody>
      </p:sp>
      <p:sp>
        <p:nvSpPr>
          <p:cNvPr id="76" name="Google Shape;76;p5">
            <a:extLst xmlns:a="http://schemas.openxmlformats.org/drawingml/2006/main">
              <a:ext uri="{FF2B5EF4-FFF2-40B4-BE49-F238E27FC236}">
                <a16:creationId xmlns:a16="http://schemas.microsoft.com/office/drawing/2014/main" id="{3309992D-607A-4AB7-B9FE-752F4D018C8E}"/>
              </a:ext>
            </a:extLst>
          </p:cNvPr>
          <p:cNvSpPr>
            <a:spLocks xmlns:a="http://schemas.openxmlformats.org/drawingml/2006/main" noGrp="1"/>
          </p:cNvSpPr>
          <p:nvPr/>
        </p:nvSpPr>
        <p:spPr>
          <a:xfrm xmlns:a="http://schemas.openxmlformats.org/drawingml/2006/main">
            <a:off x="9782175" y="1981200"/>
            <a:ext cx="1724025" cy="1752600"/>
          </a:xfrm>
          <a:prstGeom xmlns:a="http://schemas.openxmlformats.org/drawingml/2006/main" prst="roundRect">
            <a:avLst>
              <a:gd name="adj" fmla="val 4420"/>
            </a:avLst>
          </a:prstGeom>
          <a:solidFill xmlns:a="http://schemas.openxmlformats.org/drawingml/2006/main">
            <a:srgbClr val="FFFEFA"/>
          </a:solidFill>
          <a:ln xmlns:a="http://schemas.openxmlformats.org/drawingml/2006/main" w="14275" cmpd="sng">
            <a:solidFill>
              <a:srgbClr val="DFDBD0"/>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p>
        </p:txBody>
      </p:sp>
      <p:sp>
        <p:nvSpPr>
          <p:cNvPr id="77" name="Google Shape;77;p5">
            <a:extLst xmlns:a="http://schemas.openxmlformats.org/drawingml/2006/main">
              <a:ext uri="{FF2B5EF4-FFF2-40B4-BE49-F238E27FC236}">
                <a16:creationId xmlns:a16="http://schemas.microsoft.com/office/drawing/2014/main" id="{CBA1173C-19BB-4B6F-AC43-77B0FA7C068C}"/>
              </a:ext>
            </a:extLst>
          </p:cNvPr>
          <p:cNvSpPr>
            <a:spLocks xmlns:a="http://schemas.openxmlformats.org/drawingml/2006/main" noGrp="1"/>
          </p:cNvSpPr>
          <p:nvPr/>
        </p:nvSpPr>
        <p:spPr>
          <a:xfrm xmlns:a="http://schemas.openxmlformats.org/drawingml/2006/main">
            <a:off x="9782175" y="1981200"/>
            <a:ext cx="76200" cy="1752600"/>
          </a:xfrm>
          <a:prstGeom xmlns:a="http://schemas.openxmlformats.org/drawingml/2006/main" prst="rect">
            <a:avLst/>
          </a:prstGeom>
          <a:solidFill xmlns:a="http://schemas.openxmlformats.org/drawingml/2006/main">
            <a:srgbClr val="26734D"/>
          </a:solidFill>
          <a:ln xmlns:a="http://schemas.openxmlformats.org/drawingml/2006/main" w="9525" cmpd="sng">
            <a:solidFill>
              <a:srgbClr val="26734D"/>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p>
        </p:txBody>
      </p:sp>
      <p:sp>
        <p:nvSpPr>
          <p:cNvPr id="78" name="Google Shape;78;p5">
            <a:extLst xmlns:a="http://schemas.openxmlformats.org/drawingml/2006/main">
              <a:ext uri="{FF2B5EF4-FFF2-40B4-BE49-F238E27FC236}">
                <a16:creationId xmlns:a16="http://schemas.microsoft.com/office/drawing/2014/main" id="{D8C86350-632F-4514-8E12-6E0F220C277D}"/>
              </a:ext>
            </a:extLst>
          </p:cNvPr>
          <p:cNvSpPr>
            <a:spLocks xmlns:a="http://schemas.openxmlformats.org/drawingml/2006/main" noGrp="1"/>
          </p:cNvSpPr>
          <p:nvPr/>
        </p:nvSpPr>
        <p:spPr>
          <a:xfrm xmlns:a="http://schemas.openxmlformats.org/drawingml/2006/main">
            <a:off x="9991725" y="2105025"/>
            <a:ext cx="1400175" cy="304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l">
              <a:spcBef>
                <a:spcPts val="0"/>
              </a:spcBef>
              <a:spcAft>
                <a:spcPts val="0"/>
              </a:spcAft>
              <a:buNone/>
            </a:pPr>
            <a:r>
              <a:rPr sz="1400" b="1">
                <a:solidFill>
                  <a:srgbClr val="24231F"/>
                </a:solidFill>
                <a:latin typeface="Arial"/>
                <a:ea typeface="Arial"/>
                <a:cs typeface="Arial"/>
              </a:rPr>
              <a:t>5  Persist</a:t>
            </a:r>
          </a:p>
        </p:txBody>
      </p:sp>
      <p:sp>
        <p:nvSpPr>
          <p:cNvPr id="79" name="Google Shape;79;p5">
            <a:extLst xmlns:a="http://schemas.openxmlformats.org/drawingml/2006/main">
              <a:ext uri="{FF2B5EF4-FFF2-40B4-BE49-F238E27FC236}">
                <a16:creationId xmlns:a16="http://schemas.microsoft.com/office/drawing/2014/main" id="{9D17847C-15D3-4442-926A-5C27CC8B7157}"/>
              </a:ext>
            </a:extLst>
          </p:cNvPr>
          <p:cNvSpPr>
            <a:spLocks xmlns:a="http://schemas.openxmlformats.org/drawingml/2006/main" noGrp="1"/>
          </p:cNvSpPr>
          <p:nvPr/>
        </p:nvSpPr>
        <p:spPr>
          <a:xfrm xmlns:a="http://schemas.openxmlformats.org/drawingml/2006/main">
            <a:off x="9991725" y="2438400"/>
            <a:ext cx="1400175" cy="12001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l">
              <a:spcBef>
                <a:spcPts val="0"/>
              </a:spcBef>
              <a:spcAft>
                <a:spcPts val="0"/>
              </a:spcAft>
              <a:buNone/>
            </a:pPr>
            <a:r>
              <a:rPr sz="1200" b="0">
                <a:solidFill>
                  <a:srgbClr val="6D6A63"/>
                </a:solidFill>
                <a:latin typeface="Arial"/>
                <a:ea typeface="Arial"/>
                <a:cs typeface="Arial"/>
              </a:rPr>
              <a:t>Stores structured memory plus a 768-value embedding.</a:t>
            </a:r>
          </a:p>
        </p:txBody>
      </p:sp>
      <p:sp>
        <p:nvSpPr>
          <p:cNvPr id="80" name="Google Shape;80;p5">
            <a:extLst xmlns:a="http://schemas.openxmlformats.org/drawingml/2006/main">
              <a:ext uri="{FF2B5EF4-FFF2-40B4-BE49-F238E27FC236}">
                <a16:creationId xmlns:a16="http://schemas.microsoft.com/office/drawing/2014/main" id="{1F2A7138-DA15-4AEF-A0E5-C74ED8C785DE}"/>
              </a:ext>
            </a:extLst>
          </p:cNvPr>
          <p:cNvSpPr>
            <a:spLocks xmlns:a="http://schemas.openxmlformats.org/drawingml/2006/main" noGrp="1"/>
          </p:cNvSpPr>
          <p:nvPr/>
        </p:nvSpPr>
        <p:spPr>
          <a:xfrm xmlns:a="http://schemas.openxmlformats.org/drawingml/2006/main">
            <a:off x="419100" y="4286250"/>
            <a:ext cx="11087100" cy="1162050"/>
          </a:xfrm>
          <a:prstGeom xmlns:a="http://schemas.openxmlformats.org/drawingml/2006/main" prst="rect">
            <a:avLst/>
          </a:prstGeom>
          <a:solidFill xmlns:a="http://schemas.openxmlformats.org/drawingml/2006/main">
            <a:srgbClr val="F0EDE5"/>
          </a:solidFill>
          <a:ln xmlns:a="http://schemas.openxmlformats.org/drawingml/2006/main" w="14275" cmpd="sng">
            <a:solidFill>
              <a:srgbClr val="F0EDE5"/>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p>
        </p:txBody>
      </p:sp>
      <p:sp>
        <p:nvSpPr>
          <p:cNvPr id="81" name="Google Shape;81;p5">
            <a:extLst xmlns:a="http://schemas.openxmlformats.org/drawingml/2006/main">
              <a:ext uri="{FF2B5EF4-FFF2-40B4-BE49-F238E27FC236}">
                <a16:creationId xmlns:a16="http://schemas.microsoft.com/office/drawing/2014/main" id="{3F33B5F3-3930-409C-925C-3BFA7F412174}"/>
              </a:ext>
            </a:extLst>
          </p:cNvPr>
          <p:cNvSpPr>
            <a:spLocks xmlns:a="http://schemas.openxmlformats.org/drawingml/2006/main" noGrp="1"/>
          </p:cNvSpPr>
          <p:nvPr/>
        </p:nvSpPr>
        <p:spPr>
          <a:xfrm xmlns:a="http://schemas.openxmlformats.org/drawingml/2006/main">
            <a:off x="647700" y="4438650"/>
            <a:ext cx="2381250" cy="2857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l">
              <a:spcBef>
                <a:spcPts val="0"/>
              </a:spcBef>
              <a:spcAft>
                <a:spcPts val="0"/>
              </a:spcAft>
              <a:buNone/>
            </a:pPr>
            <a:r>
              <a:rPr sz="1275" b="1">
                <a:solidFill>
                  <a:srgbClr val="24231F"/>
                </a:solidFill>
                <a:latin typeface="Arial"/>
                <a:ea typeface="Arial"/>
                <a:cs typeface="Arial"/>
              </a:rPr>
              <a:t>What is saved</a:t>
            </a:r>
          </a:p>
        </p:txBody>
      </p:sp>
      <p:sp>
        <p:nvSpPr>
          <p:cNvPr id="82" name="Google Shape;82;p5">
            <a:extLst xmlns:a="http://schemas.openxmlformats.org/drawingml/2006/main">
              <a:ext uri="{FF2B5EF4-FFF2-40B4-BE49-F238E27FC236}">
                <a16:creationId xmlns:a16="http://schemas.microsoft.com/office/drawing/2014/main" id="{1EA0C1AD-6BF2-4F46-ACCD-290F3BF60384}"/>
              </a:ext>
            </a:extLst>
          </p:cNvPr>
          <p:cNvSpPr>
            <a:spLocks xmlns:a="http://schemas.openxmlformats.org/drawingml/2006/main" noGrp="1"/>
          </p:cNvSpPr>
          <p:nvPr/>
        </p:nvSpPr>
        <p:spPr>
          <a:xfrm xmlns:a="http://schemas.openxmlformats.org/drawingml/2006/main">
            <a:off x="647700" y="4819650"/>
            <a:ext cx="10382250" cy="419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l">
              <a:spcBef>
                <a:spcPts val="0"/>
              </a:spcBef>
              <a:spcAft>
                <a:spcPts val="0"/>
              </a:spcAft>
              <a:buNone/>
            </a:pPr>
            <a:r>
              <a:rPr sz="1417" b="0">
                <a:solidFill>
                  <a:srgbClr val="24231F"/>
                </a:solidFill>
                <a:latin typeface="Arial"/>
                <a:ea typeface="Arial"/>
                <a:cs typeface="Arial"/>
              </a:rPr>
              <a:t>PostgreSQL: URL, title, summary, category, tags, topics and actions   •   pgvector: 768 numbers representing semantic meaning</a:t>
            </a:r>
          </a:p>
        </p:txBody>
      </p:sp>
    </p:spTree>
    <p:extLst>
      <p:ext uri="{BB962C8B-B14F-4D97-AF65-F5344CB8AC3E}">
        <p14:creationId xmlns:p14="http://schemas.microsoft.com/office/powerpoint/2010/main" val="1057568119"/>
      </p:ext>
    </p:extLst>
  </p:cSld>
</p:sld>
</file>

<file path=ppt/slides/slide4.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88" name="Google Shape;88;p6">
            <a:extLst xmlns:a="http://schemas.openxmlformats.org/drawingml/2006/main">
              <a:ext uri="{FF2B5EF4-FFF2-40B4-BE49-F238E27FC236}">
                <a16:creationId xmlns:a16="http://schemas.microsoft.com/office/drawing/2014/main" id="{0437E0C3-3ECE-41BF-BB6D-3CC1A823D157}"/>
              </a:ext>
            </a:extLst>
          </p:cNvPr>
          <p:cNvSpPr>
            <a:spLocks xmlns:a="http://schemas.openxmlformats.org/drawingml/2006/main" noGrp="1"/>
          </p:cNvSpPr>
          <p:nvPr/>
        </p:nvSpPr>
        <p:spPr>
          <a:xfrm xmlns:a="http://schemas.openxmlformats.org/drawingml/2006/main">
            <a:off x="400050" y="266700"/>
            <a:ext cx="10953750" cy="685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l">
              <a:spcBef>
                <a:spcPts val="0"/>
              </a:spcBef>
              <a:spcAft>
                <a:spcPts val="0"/>
              </a:spcAft>
              <a:buNone/>
            </a:pPr>
            <a:r>
              <a:rPr sz="2850" b="0">
                <a:solidFill>
                  <a:srgbClr val="24231F"/>
                </a:solidFill>
                <a:latin typeface="Georgia"/>
                <a:ea typeface="Georgia"/>
                <a:cs typeface="Georgia"/>
              </a:rPr>
              <a:t>LLM and RAG: understand once, find the right memory, answer</a:t>
            </a:r>
          </a:p>
        </p:txBody>
      </p:sp>
      <p:sp>
        <p:nvSpPr>
          <p:cNvPr id="89" name="Google Shape;89;p6">
            <a:extLst xmlns:a="http://schemas.openxmlformats.org/drawingml/2006/main">
              <a:ext uri="{FF2B5EF4-FFF2-40B4-BE49-F238E27FC236}">
                <a16:creationId xmlns:a16="http://schemas.microsoft.com/office/drawing/2014/main" id="{3CD04856-99FD-4CD3-9ACE-3C5F4B4C11B8}"/>
              </a:ext>
            </a:extLst>
          </p:cNvPr>
          <p:cNvSpPr>
            <a:spLocks xmlns:a="http://schemas.openxmlformats.org/drawingml/2006/main" noGrp="1"/>
          </p:cNvSpPr>
          <p:nvPr/>
        </p:nvSpPr>
        <p:spPr>
          <a:xfrm xmlns:a="http://schemas.openxmlformats.org/drawingml/2006/main">
            <a:off x="11315700" y="6286500"/>
            <a:ext cx="476250" cy="2095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r">
              <a:spcBef>
                <a:spcPts val="0"/>
              </a:spcBef>
              <a:spcAft>
                <a:spcPts val="0"/>
              </a:spcAft>
              <a:buNone/>
            </a:pPr>
            <a:r>
              <a:rPr sz="775" b="0">
                <a:solidFill>
                  <a:srgbClr val="6D6A63"/>
                </a:solidFill>
                <a:latin typeface="Arial"/>
                <a:ea typeface="Arial"/>
                <a:cs typeface="Arial"/>
              </a:rPr>
              <a:t>04</a:t>
            </a:r>
          </a:p>
        </p:txBody>
      </p:sp>
      <p:sp>
        <p:nvSpPr>
          <p:cNvPr id="90" name="Google Shape;90;p6">
            <a:extLst xmlns:a="http://schemas.openxmlformats.org/drawingml/2006/main">
              <a:ext uri="{FF2B5EF4-FFF2-40B4-BE49-F238E27FC236}">
                <a16:creationId xmlns:a16="http://schemas.microsoft.com/office/drawing/2014/main" id="{1943CCD5-CBA9-420F-B5EC-F02C664888F5}"/>
              </a:ext>
            </a:extLst>
          </p:cNvPr>
          <p:cNvSpPr>
            <a:spLocks xmlns:a="http://schemas.openxmlformats.org/drawingml/2006/main" noGrp="1"/>
          </p:cNvSpPr>
          <p:nvPr/>
        </p:nvSpPr>
        <p:spPr>
          <a:xfrm xmlns:a="http://schemas.openxmlformats.org/drawingml/2006/main">
            <a:off x="419100" y="1028700"/>
            <a:ext cx="4191000"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l">
              <a:spcBef>
                <a:spcPts val="0"/>
              </a:spcBef>
              <a:spcAft>
                <a:spcPts val="0"/>
              </a:spcAft>
              <a:buNone/>
            </a:pPr>
            <a:r>
              <a:rPr sz="1150" b="1">
                <a:solidFill>
                  <a:srgbClr val="CC4824"/>
                </a:solidFill>
                <a:latin typeface="Arial"/>
                <a:ea typeface="Arial"/>
                <a:cs typeface="Arial"/>
              </a:rPr>
              <a:t>INGEST • happens once per new source</a:t>
            </a:r>
          </a:p>
        </p:txBody>
      </p:sp>
      <p:sp>
        <p:nvSpPr>
          <p:cNvPr id="91" name="Google Shape;91;p6">
            <a:extLst xmlns:a="http://schemas.openxmlformats.org/drawingml/2006/main">
              <a:ext uri="{FF2B5EF4-FFF2-40B4-BE49-F238E27FC236}">
                <a16:creationId xmlns:a16="http://schemas.microsoft.com/office/drawing/2014/main" id="{67369A08-987E-45EA-A5FB-0936A3646C4E}"/>
              </a:ext>
            </a:extLst>
          </p:cNvPr>
          <p:cNvSpPr>
            <a:spLocks xmlns:a="http://schemas.openxmlformats.org/drawingml/2006/main" noGrp="1"/>
          </p:cNvSpPr>
          <p:nvPr/>
        </p:nvSpPr>
        <p:spPr>
          <a:xfrm xmlns:a="http://schemas.openxmlformats.org/drawingml/2006/main">
            <a:off x="2333625" y="1809750"/>
            <a:ext cx="476250" cy="304800"/>
          </a:xfrm>
          <a:prstGeom xmlns:a="http://schemas.openxmlformats.org/drawingml/2006/main" prst="rightArrow">
            <a:avLst>
              <a:gd name="adj1" fmla="val 50000"/>
              <a:gd name="adj2" fmla="val 50000"/>
            </a:avLst>
          </a:prstGeom>
          <a:solidFill xmlns:a="http://schemas.openxmlformats.org/drawingml/2006/main">
            <a:srgbClr val="CC4824"/>
          </a:solidFill>
          <a:ln xmlns:a="http://schemas.openxmlformats.org/drawingml/2006/main" w="9525" cmpd="sng">
            <a:solidFill>
              <a:srgbClr val="CC4824"/>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p>
        </p:txBody>
      </p:sp>
      <p:sp>
        <p:nvSpPr>
          <p:cNvPr id="92" name="Google Shape;92;p6">
            <a:extLst xmlns:a="http://schemas.openxmlformats.org/drawingml/2006/main">
              <a:ext uri="{FF2B5EF4-FFF2-40B4-BE49-F238E27FC236}">
                <a16:creationId xmlns:a16="http://schemas.microsoft.com/office/drawing/2014/main" id="{63B5830B-F4FF-4BD3-A94B-D674332E557D}"/>
              </a:ext>
            </a:extLst>
          </p:cNvPr>
          <p:cNvSpPr>
            <a:spLocks xmlns:a="http://schemas.openxmlformats.org/drawingml/2006/main" noGrp="1"/>
          </p:cNvSpPr>
          <p:nvPr/>
        </p:nvSpPr>
        <p:spPr>
          <a:xfrm xmlns:a="http://schemas.openxmlformats.org/drawingml/2006/main">
            <a:off x="4762500" y="1809750"/>
            <a:ext cx="476250" cy="304800"/>
          </a:xfrm>
          <a:prstGeom xmlns:a="http://schemas.openxmlformats.org/drawingml/2006/main" prst="rightArrow">
            <a:avLst>
              <a:gd name="adj1" fmla="val 50000"/>
              <a:gd name="adj2" fmla="val 50000"/>
            </a:avLst>
          </a:prstGeom>
          <a:solidFill xmlns:a="http://schemas.openxmlformats.org/drawingml/2006/main">
            <a:srgbClr val="CC4824"/>
          </a:solidFill>
          <a:ln xmlns:a="http://schemas.openxmlformats.org/drawingml/2006/main" w="9525" cmpd="sng">
            <a:solidFill>
              <a:srgbClr val="CC4824"/>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p>
        </p:txBody>
      </p:sp>
      <p:sp>
        <p:nvSpPr>
          <p:cNvPr id="93" name="Google Shape;93;p6">
            <a:extLst xmlns:a="http://schemas.openxmlformats.org/drawingml/2006/main">
              <a:ext uri="{FF2B5EF4-FFF2-40B4-BE49-F238E27FC236}">
                <a16:creationId xmlns:a16="http://schemas.microsoft.com/office/drawing/2014/main" id="{82A1BD36-35B9-4A28-8489-1155429B6CB3}"/>
              </a:ext>
            </a:extLst>
          </p:cNvPr>
          <p:cNvSpPr>
            <a:spLocks xmlns:a="http://schemas.openxmlformats.org/drawingml/2006/main" noGrp="1"/>
          </p:cNvSpPr>
          <p:nvPr/>
        </p:nvSpPr>
        <p:spPr>
          <a:xfrm xmlns:a="http://schemas.openxmlformats.org/drawingml/2006/main">
            <a:off x="7191375" y="1809750"/>
            <a:ext cx="476250" cy="304800"/>
          </a:xfrm>
          <a:prstGeom xmlns:a="http://schemas.openxmlformats.org/drawingml/2006/main" prst="rightArrow">
            <a:avLst>
              <a:gd name="adj1" fmla="val 50000"/>
              <a:gd name="adj2" fmla="val 50000"/>
            </a:avLst>
          </a:prstGeom>
          <a:solidFill xmlns:a="http://schemas.openxmlformats.org/drawingml/2006/main">
            <a:srgbClr val="CC4824"/>
          </a:solidFill>
          <a:ln xmlns:a="http://schemas.openxmlformats.org/drawingml/2006/main" w="9525" cmpd="sng">
            <a:solidFill>
              <a:srgbClr val="CC4824"/>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p>
        </p:txBody>
      </p:sp>
      <p:sp>
        <p:nvSpPr>
          <p:cNvPr id="94" name="Google Shape;94;p6">
            <a:extLst xmlns:a="http://schemas.openxmlformats.org/drawingml/2006/main">
              <a:ext uri="{FF2B5EF4-FFF2-40B4-BE49-F238E27FC236}">
                <a16:creationId xmlns:a16="http://schemas.microsoft.com/office/drawing/2014/main" id="{3607177C-152D-4F82-9C33-C2E56F293763}"/>
              </a:ext>
            </a:extLst>
          </p:cNvPr>
          <p:cNvSpPr>
            <a:spLocks xmlns:a="http://schemas.openxmlformats.org/drawingml/2006/main" noGrp="1"/>
          </p:cNvSpPr>
          <p:nvPr/>
        </p:nvSpPr>
        <p:spPr>
          <a:xfrm xmlns:a="http://schemas.openxmlformats.org/drawingml/2006/main">
            <a:off x="9620250" y="1809750"/>
            <a:ext cx="476250" cy="304800"/>
          </a:xfrm>
          <a:prstGeom xmlns:a="http://schemas.openxmlformats.org/drawingml/2006/main" prst="rightArrow">
            <a:avLst>
              <a:gd name="adj1" fmla="val 50000"/>
              <a:gd name="adj2" fmla="val 50000"/>
            </a:avLst>
          </a:prstGeom>
          <a:solidFill xmlns:a="http://schemas.openxmlformats.org/drawingml/2006/main">
            <a:srgbClr val="CC4824"/>
          </a:solidFill>
          <a:ln xmlns:a="http://schemas.openxmlformats.org/drawingml/2006/main" w="9525" cmpd="sng">
            <a:solidFill>
              <a:srgbClr val="CC4824"/>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p>
        </p:txBody>
      </p:sp>
      <p:sp>
        <p:nvSpPr>
          <p:cNvPr id="95" name="Google Shape;95;p6">
            <a:extLst xmlns:a="http://schemas.openxmlformats.org/drawingml/2006/main">
              <a:ext uri="{FF2B5EF4-FFF2-40B4-BE49-F238E27FC236}">
                <a16:creationId xmlns:a16="http://schemas.microsoft.com/office/drawing/2014/main" id="{54583771-C1D5-4E1B-A740-FE4D2B774EBD}"/>
              </a:ext>
            </a:extLst>
          </p:cNvPr>
          <p:cNvSpPr>
            <a:spLocks xmlns:a="http://schemas.openxmlformats.org/drawingml/2006/main" noGrp="1"/>
          </p:cNvSpPr>
          <p:nvPr/>
        </p:nvSpPr>
        <p:spPr>
          <a:xfrm xmlns:a="http://schemas.openxmlformats.org/drawingml/2006/main">
            <a:off x="419100" y="1428750"/>
            <a:ext cx="1914525" cy="1066800"/>
          </a:xfrm>
          <a:prstGeom xmlns:a="http://schemas.openxmlformats.org/drawingml/2006/main" prst="roundRect">
            <a:avLst>
              <a:gd name="adj" fmla="val 7143"/>
            </a:avLst>
          </a:prstGeom>
          <a:solidFill xmlns:a="http://schemas.openxmlformats.org/drawingml/2006/main">
            <a:srgbClr val="FFFEFA"/>
          </a:solidFill>
          <a:ln xmlns:a="http://schemas.openxmlformats.org/drawingml/2006/main" w="14275" cmpd="sng">
            <a:solidFill>
              <a:srgbClr val="DFDBD0"/>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p>
        </p:txBody>
      </p:sp>
      <p:sp>
        <p:nvSpPr>
          <p:cNvPr id="96" name="Google Shape;96;p6">
            <a:extLst xmlns:a="http://schemas.openxmlformats.org/drawingml/2006/main">
              <a:ext uri="{FF2B5EF4-FFF2-40B4-BE49-F238E27FC236}">
                <a16:creationId xmlns:a16="http://schemas.microsoft.com/office/drawing/2014/main" id="{A52A1DD9-B5B8-4179-9932-FDF1824FF97F}"/>
              </a:ext>
            </a:extLst>
          </p:cNvPr>
          <p:cNvSpPr>
            <a:spLocks xmlns:a="http://schemas.openxmlformats.org/drawingml/2006/main" noGrp="1"/>
          </p:cNvSpPr>
          <p:nvPr/>
        </p:nvSpPr>
        <p:spPr>
          <a:xfrm xmlns:a="http://schemas.openxmlformats.org/drawingml/2006/main">
            <a:off x="419100" y="1428750"/>
            <a:ext cx="76200" cy="1066800"/>
          </a:xfrm>
          <a:prstGeom xmlns:a="http://schemas.openxmlformats.org/drawingml/2006/main" prst="rect">
            <a:avLst/>
          </a:prstGeom>
          <a:solidFill xmlns:a="http://schemas.openxmlformats.org/drawingml/2006/main">
            <a:srgbClr val="24231F"/>
          </a:solidFill>
          <a:ln xmlns:a="http://schemas.openxmlformats.org/drawingml/2006/main" w="9525" cmpd="sng">
            <a:solidFill>
              <a:srgbClr val="24231F"/>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p>
        </p:txBody>
      </p:sp>
      <p:sp>
        <p:nvSpPr>
          <p:cNvPr id="97" name="Google Shape;97;p6">
            <a:extLst xmlns:a="http://schemas.openxmlformats.org/drawingml/2006/main">
              <a:ext uri="{FF2B5EF4-FFF2-40B4-BE49-F238E27FC236}">
                <a16:creationId xmlns:a16="http://schemas.microsoft.com/office/drawing/2014/main" id="{FC7BEFD8-DF41-416C-8999-76C562659450}"/>
              </a:ext>
            </a:extLst>
          </p:cNvPr>
          <p:cNvSpPr>
            <a:spLocks xmlns:a="http://schemas.openxmlformats.org/drawingml/2006/main" noGrp="1"/>
          </p:cNvSpPr>
          <p:nvPr/>
        </p:nvSpPr>
        <p:spPr>
          <a:xfrm xmlns:a="http://schemas.openxmlformats.org/drawingml/2006/main">
            <a:off x="628650" y="1552575"/>
            <a:ext cx="1590675" cy="304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l">
              <a:spcBef>
                <a:spcPts val="0"/>
              </a:spcBef>
              <a:spcAft>
                <a:spcPts val="0"/>
              </a:spcAft>
              <a:buNone/>
            </a:pPr>
            <a:r>
              <a:rPr sz="1400" b="1">
                <a:solidFill>
                  <a:srgbClr val="24231F"/>
                </a:solidFill>
                <a:latin typeface="Arial"/>
                <a:ea typeface="Arial"/>
                <a:cs typeface="Arial"/>
              </a:rPr>
              <a:t>Source content</a:t>
            </a:r>
          </a:p>
        </p:txBody>
      </p:sp>
      <p:sp>
        <p:nvSpPr>
          <p:cNvPr id="98" name="Google Shape;98;p6">
            <a:extLst xmlns:a="http://schemas.openxmlformats.org/drawingml/2006/main">
              <a:ext uri="{FF2B5EF4-FFF2-40B4-BE49-F238E27FC236}">
                <a16:creationId xmlns:a16="http://schemas.microsoft.com/office/drawing/2014/main" id="{769867E2-220F-4704-B76D-E5A6F055BF13}"/>
              </a:ext>
            </a:extLst>
          </p:cNvPr>
          <p:cNvSpPr>
            <a:spLocks xmlns:a="http://schemas.openxmlformats.org/drawingml/2006/main" noGrp="1"/>
          </p:cNvSpPr>
          <p:nvPr/>
        </p:nvSpPr>
        <p:spPr>
          <a:xfrm xmlns:a="http://schemas.openxmlformats.org/drawingml/2006/main">
            <a:off x="628650" y="1885950"/>
            <a:ext cx="1590675" cy="5143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l">
              <a:spcBef>
                <a:spcPts val="0"/>
              </a:spcBef>
              <a:spcAft>
                <a:spcPts val="0"/>
              </a:spcAft>
              <a:buNone/>
            </a:pPr>
            <a:r>
              <a:rPr sz="1200">
                <a:solidFill>
                  <a:srgbClr val="6D6A63"/>
                </a:solidFill>
              </a:rPr>
              <a:t>Videos, Posts, </a:t>
            </a:r>
            <a:r>
              <a:rPr sz="1200" b="0">
                <a:solidFill>
                  <a:srgbClr val="6D6A63"/>
                </a:solidFill>
                <a:latin typeface="Arial"/>
                <a:ea typeface="Arial"/>
                <a:cs typeface="Arial"/>
              </a:rPr>
              <a:t>Caption, visible text</a:t>
            </a:r>
          </a:p>
        </p:txBody>
      </p:sp>
      <p:sp>
        <p:nvSpPr>
          <p:cNvPr id="99" name="Google Shape;99;p6">
            <a:extLst xmlns:a="http://schemas.openxmlformats.org/drawingml/2006/main">
              <a:ext uri="{FF2B5EF4-FFF2-40B4-BE49-F238E27FC236}">
                <a16:creationId xmlns:a16="http://schemas.microsoft.com/office/drawing/2014/main" id="{E2B5AC5F-936E-4648-B8B0-6CB3B1A94532}"/>
              </a:ext>
            </a:extLst>
          </p:cNvPr>
          <p:cNvSpPr>
            <a:spLocks xmlns:a="http://schemas.openxmlformats.org/drawingml/2006/main" noGrp="1"/>
          </p:cNvSpPr>
          <p:nvPr/>
        </p:nvSpPr>
        <p:spPr>
          <a:xfrm xmlns:a="http://schemas.openxmlformats.org/drawingml/2006/main">
            <a:off x="2809875" y="1428750"/>
            <a:ext cx="1952625" cy="1066800"/>
          </a:xfrm>
          <a:prstGeom xmlns:a="http://schemas.openxmlformats.org/drawingml/2006/main" prst="roundRect">
            <a:avLst>
              <a:gd name="adj" fmla="val 7143"/>
            </a:avLst>
          </a:prstGeom>
          <a:solidFill xmlns:a="http://schemas.openxmlformats.org/drawingml/2006/main">
            <a:srgbClr val="F8E7E0"/>
          </a:solidFill>
          <a:ln xmlns:a="http://schemas.openxmlformats.org/drawingml/2006/main" w="14275" cmpd="sng">
            <a:solidFill>
              <a:srgbClr val="DFDBD0"/>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p>
        </p:txBody>
      </p:sp>
      <p:sp>
        <p:nvSpPr>
          <p:cNvPr id="100" name="Google Shape;100;p6">
            <a:extLst xmlns:a="http://schemas.openxmlformats.org/drawingml/2006/main">
              <a:ext uri="{FF2B5EF4-FFF2-40B4-BE49-F238E27FC236}">
                <a16:creationId xmlns:a16="http://schemas.microsoft.com/office/drawing/2014/main" id="{DC448578-5C86-4127-B96A-9EBCF0492BDB}"/>
              </a:ext>
            </a:extLst>
          </p:cNvPr>
          <p:cNvSpPr>
            <a:spLocks xmlns:a="http://schemas.openxmlformats.org/drawingml/2006/main" noGrp="1"/>
          </p:cNvSpPr>
          <p:nvPr/>
        </p:nvSpPr>
        <p:spPr>
          <a:xfrm xmlns:a="http://schemas.openxmlformats.org/drawingml/2006/main">
            <a:off x="2809875" y="1428750"/>
            <a:ext cx="76200" cy="1066800"/>
          </a:xfrm>
          <a:prstGeom xmlns:a="http://schemas.openxmlformats.org/drawingml/2006/main" prst="rect">
            <a:avLst/>
          </a:prstGeom>
          <a:solidFill xmlns:a="http://schemas.openxmlformats.org/drawingml/2006/main">
            <a:srgbClr val="CC4824"/>
          </a:solidFill>
          <a:ln xmlns:a="http://schemas.openxmlformats.org/drawingml/2006/main" w="9525" cmpd="sng">
            <a:solidFill>
              <a:srgbClr val="CC4824"/>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p>
        </p:txBody>
      </p:sp>
      <p:sp>
        <p:nvSpPr>
          <p:cNvPr id="101" name="Google Shape;101;p6">
            <a:extLst xmlns:a="http://schemas.openxmlformats.org/drawingml/2006/main">
              <a:ext uri="{FF2B5EF4-FFF2-40B4-BE49-F238E27FC236}">
                <a16:creationId xmlns:a16="http://schemas.microsoft.com/office/drawing/2014/main" id="{0E5EFBEA-D328-40F6-9E31-3696653DF3FF}"/>
              </a:ext>
            </a:extLst>
          </p:cNvPr>
          <p:cNvSpPr>
            <a:spLocks xmlns:a="http://schemas.openxmlformats.org/drawingml/2006/main" noGrp="1"/>
          </p:cNvSpPr>
          <p:nvPr/>
        </p:nvSpPr>
        <p:spPr>
          <a:xfrm xmlns:a="http://schemas.openxmlformats.org/drawingml/2006/main">
            <a:off x="3019425" y="1552575"/>
            <a:ext cx="1628775" cy="304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l">
              <a:spcBef>
                <a:spcPts val="0"/>
              </a:spcBef>
              <a:spcAft>
                <a:spcPts val="0"/>
              </a:spcAft>
              <a:buNone/>
            </a:pPr>
            <a:r>
              <a:rPr sz="1400" b="1">
                <a:solidFill>
                  <a:srgbClr val="24231F"/>
                </a:solidFill>
                <a:latin typeface="Arial"/>
                <a:ea typeface="Arial"/>
                <a:cs typeface="Arial"/>
              </a:rPr>
              <a:t>First LLM</a:t>
            </a:r>
          </a:p>
        </p:txBody>
      </p:sp>
      <p:sp>
        <p:nvSpPr>
          <p:cNvPr id="102" name="Google Shape;102;p6">
            <a:extLst xmlns:a="http://schemas.openxmlformats.org/drawingml/2006/main">
              <a:ext uri="{FF2B5EF4-FFF2-40B4-BE49-F238E27FC236}">
                <a16:creationId xmlns:a16="http://schemas.microsoft.com/office/drawing/2014/main" id="{1D41178F-7257-42A3-92F0-A133899B2808}"/>
              </a:ext>
            </a:extLst>
          </p:cNvPr>
          <p:cNvSpPr>
            <a:spLocks xmlns:a="http://schemas.openxmlformats.org/drawingml/2006/main" noGrp="1"/>
          </p:cNvSpPr>
          <p:nvPr/>
        </p:nvSpPr>
        <p:spPr>
          <a:xfrm xmlns:a="http://schemas.openxmlformats.org/drawingml/2006/main">
            <a:off x="3019425" y="1885950"/>
            <a:ext cx="1628775" cy="5143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l">
              <a:spcBef>
                <a:spcPts val="0"/>
              </a:spcBef>
              <a:spcAft>
                <a:spcPts val="0"/>
              </a:spcAft>
              <a:buNone/>
            </a:pPr>
            <a:r>
              <a:rPr sz="1200" b="0">
                <a:solidFill>
                  <a:srgbClr val="6D6A63"/>
                </a:solidFill>
                <a:latin typeface="Arial"/>
                <a:ea typeface="Arial"/>
                <a:cs typeface="Arial"/>
              </a:rPr>
              <a:t>Turns content into clean notes and tags</a:t>
            </a:r>
          </a:p>
        </p:txBody>
      </p:sp>
      <p:sp>
        <p:nvSpPr>
          <p:cNvPr id="103" name="Google Shape;103;p6">
            <a:extLst xmlns:a="http://schemas.openxmlformats.org/drawingml/2006/main">
              <a:ext uri="{FF2B5EF4-FFF2-40B4-BE49-F238E27FC236}">
                <a16:creationId xmlns:a16="http://schemas.microsoft.com/office/drawing/2014/main" id="{3DD7C65E-0A07-422B-B7DA-C3E9C13010CD}"/>
              </a:ext>
            </a:extLst>
          </p:cNvPr>
          <p:cNvSpPr>
            <a:spLocks xmlns:a="http://schemas.openxmlformats.org/drawingml/2006/main" noGrp="1"/>
          </p:cNvSpPr>
          <p:nvPr/>
        </p:nvSpPr>
        <p:spPr>
          <a:xfrm xmlns:a="http://schemas.openxmlformats.org/drawingml/2006/main">
            <a:off x="5238750" y="1428750"/>
            <a:ext cx="1952625" cy="1066800"/>
          </a:xfrm>
          <a:prstGeom xmlns:a="http://schemas.openxmlformats.org/drawingml/2006/main" prst="roundRect">
            <a:avLst>
              <a:gd name="adj" fmla="val 7143"/>
            </a:avLst>
          </a:prstGeom>
          <a:solidFill xmlns:a="http://schemas.openxmlformats.org/drawingml/2006/main">
            <a:srgbClr val="FFFEFA"/>
          </a:solidFill>
          <a:ln xmlns:a="http://schemas.openxmlformats.org/drawingml/2006/main" w="14275" cmpd="sng">
            <a:solidFill>
              <a:srgbClr val="DFDBD0"/>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p>
        </p:txBody>
      </p:sp>
      <p:sp>
        <p:nvSpPr>
          <p:cNvPr id="104" name="Google Shape;104;p6">
            <a:extLst xmlns:a="http://schemas.openxmlformats.org/drawingml/2006/main">
              <a:ext uri="{FF2B5EF4-FFF2-40B4-BE49-F238E27FC236}">
                <a16:creationId xmlns:a16="http://schemas.microsoft.com/office/drawing/2014/main" id="{74248E48-C255-4F78-B88C-7F20A050F7A4}"/>
              </a:ext>
            </a:extLst>
          </p:cNvPr>
          <p:cNvSpPr>
            <a:spLocks xmlns:a="http://schemas.openxmlformats.org/drawingml/2006/main" noGrp="1"/>
          </p:cNvSpPr>
          <p:nvPr/>
        </p:nvSpPr>
        <p:spPr>
          <a:xfrm xmlns:a="http://schemas.openxmlformats.org/drawingml/2006/main">
            <a:off x="5238750" y="1428750"/>
            <a:ext cx="76200" cy="1066800"/>
          </a:xfrm>
          <a:prstGeom xmlns:a="http://schemas.openxmlformats.org/drawingml/2006/main" prst="rect">
            <a:avLst/>
          </a:prstGeom>
          <a:solidFill xmlns:a="http://schemas.openxmlformats.org/drawingml/2006/main">
            <a:srgbClr val="CC4824"/>
          </a:solidFill>
          <a:ln xmlns:a="http://schemas.openxmlformats.org/drawingml/2006/main" w="9525" cmpd="sng">
            <a:solidFill>
              <a:srgbClr val="CC4824"/>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p>
        </p:txBody>
      </p:sp>
      <p:sp>
        <p:nvSpPr>
          <p:cNvPr id="105" name="Google Shape;105;p6">
            <a:extLst xmlns:a="http://schemas.openxmlformats.org/drawingml/2006/main">
              <a:ext uri="{FF2B5EF4-FFF2-40B4-BE49-F238E27FC236}">
                <a16:creationId xmlns:a16="http://schemas.microsoft.com/office/drawing/2014/main" id="{8704202E-AC6F-4DAA-8873-E296F1A69B5A}"/>
              </a:ext>
            </a:extLst>
          </p:cNvPr>
          <p:cNvSpPr>
            <a:spLocks xmlns:a="http://schemas.openxmlformats.org/drawingml/2006/main" noGrp="1"/>
          </p:cNvSpPr>
          <p:nvPr/>
        </p:nvSpPr>
        <p:spPr>
          <a:xfrm xmlns:a="http://schemas.openxmlformats.org/drawingml/2006/main">
            <a:off x="5448300" y="1552575"/>
            <a:ext cx="1628775" cy="304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l">
              <a:spcBef>
                <a:spcPts val="0"/>
              </a:spcBef>
              <a:spcAft>
                <a:spcPts val="0"/>
              </a:spcAft>
              <a:buNone/>
            </a:pPr>
            <a:r>
              <a:rPr sz="1400" b="1">
                <a:solidFill>
                  <a:srgbClr val="24231F"/>
                </a:solidFill>
                <a:latin typeface="Arial"/>
                <a:ea typeface="Arial"/>
                <a:cs typeface="Arial"/>
              </a:rPr>
              <a:t>Embedding</a:t>
            </a:r>
          </a:p>
        </p:txBody>
      </p:sp>
      <p:sp>
        <p:nvSpPr>
          <p:cNvPr id="106" name="Google Shape;106;p6">
            <a:extLst xmlns:a="http://schemas.openxmlformats.org/drawingml/2006/main">
              <a:ext uri="{FF2B5EF4-FFF2-40B4-BE49-F238E27FC236}">
                <a16:creationId xmlns:a16="http://schemas.microsoft.com/office/drawing/2014/main" id="{0796B46D-88BB-4294-B48E-234D573261E8}"/>
              </a:ext>
            </a:extLst>
          </p:cNvPr>
          <p:cNvSpPr>
            <a:spLocks xmlns:a="http://schemas.openxmlformats.org/drawingml/2006/main" noGrp="1"/>
          </p:cNvSpPr>
          <p:nvPr/>
        </p:nvSpPr>
        <p:spPr>
          <a:xfrm xmlns:a="http://schemas.openxmlformats.org/drawingml/2006/main">
            <a:off x="5448300" y="1885950"/>
            <a:ext cx="1628775" cy="5143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l">
              <a:spcBef>
                <a:spcPts val="0"/>
              </a:spcBef>
              <a:spcAft>
                <a:spcPts val="0"/>
              </a:spcAft>
              <a:buNone/>
            </a:pPr>
            <a:r>
              <a:rPr sz="1200" b="0">
                <a:solidFill>
                  <a:srgbClr val="6D6A63"/>
                </a:solidFill>
                <a:latin typeface="Arial"/>
                <a:ea typeface="Arial"/>
                <a:cs typeface="Arial"/>
              </a:rPr>
              <a:t>Meaning becomes 768 numbers</a:t>
            </a:r>
          </a:p>
        </p:txBody>
      </p:sp>
      <p:sp>
        <p:nvSpPr>
          <p:cNvPr id="107" name="Google Shape;107;p6">
            <a:extLst xmlns:a="http://schemas.openxmlformats.org/drawingml/2006/main">
              <a:ext uri="{FF2B5EF4-FFF2-40B4-BE49-F238E27FC236}">
                <a16:creationId xmlns:a16="http://schemas.microsoft.com/office/drawing/2014/main" id="{28E16815-4C8E-4EAB-947A-73DCAAF81A0E}"/>
              </a:ext>
            </a:extLst>
          </p:cNvPr>
          <p:cNvSpPr>
            <a:spLocks xmlns:a="http://schemas.openxmlformats.org/drawingml/2006/main" noGrp="1"/>
          </p:cNvSpPr>
          <p:nvPr/>
        </p:nvSpPr>
        <p:spPr>
          <a:xfrm xmlns:a="http://schemas.openxmlformats.org/drawingml/2006/main">
            <a:off x="7667625" y="1428750"/>
            <a:ext cx="1952625" cy="1066800"/>
          </a:xfrm>
          <a:prstGeom xmlns:a="http://schemas.openxmlformats.org/drawingml/2006/main" prst="roundRect">
            <a:avLst>
              <a:gd name="adj" fmla="val 7143"/>
            </a:avLst>
          </a:prstGeom>
          <a:solidFill xmlns:a="http://schemas.openxmlformats.org/drawingml/2006/main">
            <a:srgbClr val="FFFEFA"/>
          </a:solidFill>
          <a:ln xmlns:a="http://schemas.openxmlformats.org/drawingml/2006/main" w="14275" cmpd="sng">
            <a:solidFill>
              <a:srgbClr val="DFDBD0"/>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p>
        </p:txBody>
      </p:sp>
      <p:sp>
        <p:nvSpPr>
          <p:cNvPr id="108" name="Google Shape;108;p6">
            <a:extLst xmlns:a="http://schemas.openxmlformats.org/drawingml/2006/main">
              <a:ext uri="{FF2B5EF4-FFF2-40B4-BE49-F238E27FC236}">
                <a16:creationId xmlns:a16="http://schemas.microsoft.com/office/drawing/2014/main" id="{6D717092-BD54-4659-907A-830C617EFC1D}"/>
              </a:ext>
            </a:extLst>
          </p:cNvPr>
          <p:cNvSpPr>
            <a:spLocks xmlns:a="http://schemas.openxmlformats.org/drawingml/2006/main" noGrp="1"/>
          </p:cNvSpPr>
          <p:nvPr/>
        </p:nvSpPr>
        <p:spPr>
          <a:xfrm xmlns:a="http://schemas.openxmlformats.org/drawingml/2006/main">
            <a:off x="7667625" y="1428750"/>
            <a:ext cx="76200" cy="1066800"/>
          </a:xfrm>
          <a:prstGeom xmlns:a="http://schemas.openxmlformats.org/drawingml/2006/main" prst="rect">
            <a:avLst/>
          </a:prstGeom>
          <a:solidFill xmlns:a="http://schemas.openxmlformats.org/drawingml/2006/main">
            <a:srgbClr val="26734D"/>
          </a:solidFill>
          <a:ln xmlns:a="http://schemas.openxmlformats.org/drawingml/2006/main" w="9525" cmpd="sng">
            <a:solidFill>
              <a:srgbClr val="26734D"/>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p>
        </p:txBody>
      </p:sp>
      <p:sp>
        <p:nvSpPr>
          <p:cNvPr id="109" name="Google Shape;109;p6">
            <a:extLst xmlns:a="http://schemas.openxmlformats.org/drawingml/2006/main">
              <a:ext uri="{FF2B5EF4-FFF2-40B4-BE49-F238E27FC236}">
                <a16:creationId xmlns:a16="http://schemas.microsoft.com/office/drawing/2014/main" id="{4ED81271-B6E4-4E34-B95D-CE9F4AA50891}"/>
              </a:ext>
            </a:extLst>
          </p:cNvPr>
          <p:cNvSpPr>
            <a:spLocks xmlns:a="http://schemas.openxmlformats.org/drawingml/2006/main" noGrp="1"/>
          </p:cNvSpPr>
          <p:nvPr/>
        </p:nvSpPr>
        <p:spPr>
          <a:xfrm xmlns:a="http://schemas.openxmlformats.org/drawingml/2006/main">
            <a:off x="7877175" y="1552575"/>
            <a:ext cx="1628775" cy="304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l">
              <a:spcBef>
                <a:spcPts val="0"/>
              </a:spcBef>
              <a:spcAft>
                <a:spcPts val="0"/>
              </a:spcAft>
              <a:buNone/>
            </a:pPr>
            <a:r>
              <a:rPr sz="1400" b="1">
                <a:solidFill>
                  <a:srgbClr val="24231F"/>
                </a:solidFill>
                <a:latin typeface="Arial"/>
                <a:ea typeface="Arial"/>
                <a:cs typeface="Arial"/>
              </a:rPr>
              <a:t>Memory store</a:t>
            </a:r>
          </a:p>
        </p:txBody>
      </p:sp>
      <p:sp>
        <p:nvSpPr>
          <p:cNvPr id="110" name="Google Shape;110;p6">
            <a:extLst xmlns:a="http://schemas.openxmlformats.org/drawingml/2006/main">
              <a:ext uri="{FF2B5EF4-FFF2-40B4-BE49-F238E27FC236}">
                <a16:creationId xmlns:a16="http://schemas.microsoft.com/office/drawing/2014/main" id="{5E2E2195-C357-4F9F-BDAD-010AD4B1008D}"/>
              </a:ext>
            </a:extLst>
          </p:cNvPr>
          <p:cNvSpPr>
            <a:spLocks xmlns:a="http://schemas.openxmlformats.org/drawingml/2006/main" noGrp="1"/>
          </p:cNvSpPr>
          <p:nvPr/>
        </p:nvSpPr>
        <p:spPr>
          <a:xfrm xmlns:a="http://schemas.openxmlformats.org/drawingml/2006/main">
            <a:off x="7877175" y="1885950"/>
            <a:ext cx="1628775" cy="5143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l">
              <a:spcBef>
                <a:spcPts val="0"/>
              </a:spcBef>
              <a:spcAft>
                <a:spcPts val="0"/>
              </a:spcAft>
              <a:buNone/>
            </a:pPr>
            <a:r>
              <a:rPr sz="1200" b="0">
                <a:solidFill>
                  <a:srgbClr val="6D6A63"/>
                </a:solidFill>
                <a:latin typeface="Arial"/>
                <a:ea typeface="Arial"/>
                <a:cs typeface="Arial"/>
              </a:rPr>
              <a:t>PostgreSQL + pgvector</a:t>
            </a:r>
          </a:p>
        </p:txBody>
      </p:sp>
      <p:sp>
        <p:nvSpPr>
          <p:cNvPr id="111" name="Google Shape;111;p6">
            <a:extLst xmlns:a="http://schemas.openxmlformats.org/drawingml/2006/main">
              <a:ext uri="{FF2B5EF4-FFF2-40B4-BE49-F238E27FC236}">
                <a16:creationId xmlns:a16="http://schemas.microsoft.com/office/drawing/2014/main" id="{0B192B67-A3FB-48C2-9635-E6F8A0FA6E27}"/>
              </a:ext>
            </a:extLst>
          </p:cNvPr>
          <p:cNvSpPr>
            <a:spLocks xmlns:a="http://schemas.openxmlformats.org/drawingml/2006/main" noGrp="1"/>
          </p:cNvSpPr>
          <p:nvPr/>
        </p:nvSpPr>
        <p:spPr>
          <a:xfrm xmlns:a="http://schemas.openxmlformats.org/drawingml/2006/main">
            <a:off x="10096500" y="1428750"/>
            <a:ext cx="1409700" cy="1066800"/>
          </a:xfrm>
          <a:prstGeom xmlns:a="http://schemas.openxmlformats.org/drawingml/2006/main" prst="roundRect">
            <a:avLst>
              <a:gd name="adj" fmla="val 7143"/>
            </a:avLst>
          </a:prstGeom>
          <a:solidFill xmlns:a="http://schemas.openxmlformats.org/drawingml/2006/main">
            <a:srgbClr val="D6EE72"/>
          </a:solidFill>
          <a:ln xmlns:a="http://schemas.openxmlformats.org/drawingml/2006/main" w="14275" cmpd="sng">
            <a:solidFill>
              <a:srgbClr val="DFDBD0"/>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p>
        </p:txBody>
      </p:sp>
      <p:sp>
        <p:nvSpPr>
          <p:cNvPr id="112" name="Google Shape;112;p6">
            <a:extLst xmlns:a="http://schemas.openxmlformats.org/drawingml/2006/main">
              <a:ext uri="{FF2B5EF4-FFF2-40B4-BE49-F238E27FC236}">
                <a16:creationId xmlns:a16="http://schemas.microsoft.com/office/drawing/2014/main" id="{90F67430-7EA4-4EE0-92B2-A3947DE90BE6}"/>
              </a:ext>
            </a:extLst>
          </p:cNvPr>
          <p:cNvSpPr>
            <a:spLocks xmlns:a="http://schemas.openxmlformats.org/drawingml/2006/main" noGrp="1"/>
          </p:cNvSpPr>
          <p:nvPr/>
        </p:nvSpPr>
        <p:spPr>
          <a:xfrm xmlns:a="http://schemas.openxmlformats.org/drawingml/2006/main">
            <a:off x="10096500" y="1428750"/>
            <a:ext cx="76200" cy="1066800"/>
          </a:xfrm>
          <a:prstGeom xmlns:a="http://schemas.openxmlformats.org/drawingml/2006/main" prst="rect">
            <a:avLst/>
          </a:prstGeom>
          <a:solidFill xmlns:a="http://schemas.openxmlformats.org/drawingml/2006/main">
            <a:srgbClr val="24231F"/>
          </a:solidFill>
          <a:ln xmlns:a="http://schemas.openxmlformats.org/drawingml/2006/main" w="9525" cmpd="sng">
            <a:solidFill>
              <a:srgbClr val="24231F"/>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p>
        </p:txBody>
      </p:sp>
      <p:sp>
        <p:nvSpPr>
          <p:cNvPr id="113" name="Google Shape;113;p6">
            <a:extLst xmlns:a="http://schemas.openxmlformats.org/drawingml/2006/main">
              <a:ext uri="{FF2B5EF4-FFF2-40B4-BE49-F238E27FC236}">
                <a16:creationId xmlns:a16="http://schemas.microsoft.com/office/drawing/2014/main" id="{21CF2E30-5837-411C-B2AA-D2D8C68118F5}"/>
              </a:ext>
            </a:extLst>
          </p:cNvPr>
          <p:cNvSpPr>
            <a:spLocks xmlns:a="http://schemas.openxmlformats.org/drawingml/2006/main" noGrp="1"/>
          </p:cNvSpPr>
          <p:nvPr/>
        </p:nvSpPr>
        <p:spPr>
          <a:xfrm xmlns:a="http://schemas.openxmlformats.org/drawingml/2006/main">
            <a:off x="10306050" y="1552575"/>
            <a:ext cx="1085850" cy="304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l">
              <a:spcBef>
                <a:spcPts val="0"/>
              </a:spcBef>
              <a:spcAft>
                <a:spcPts val="0"/>
              </a:spcAft>
              <a:buNone/>
            </a:pPr>
            <a:r>
              <a:rPr sz="1400" b="1">
                <a:solidFill>
                  <a:srgbClr val="24231F"/>
                </a:solidFill>
                <a:latin typeface="Arial"/>
                <a:ea typeface="Arial"/>
                <a:cs typeface="Arial"/>
              </a:rPr>
              <a:t>Reusable</a:t>
            </a:r>
          </a:p>
        </p:txBody>
      </p:sp>
      <p:sp>
        <p:nvSpPr>
          <p:cNvPr id="114" name="Google Shape;114;p6">
            <a:extLst xmlns:a="http://schemas.openxmlformats.org/drawingml/2006/main">
              <a:ext uri="{FF2B5EF4-FFF2-40B4-BE49-F238E27FC236}">
                <a16:creationId xmlns:a16="http://schemas.microsoft.com/office/drawing/2014/main" id="{F1D02AC8-0E1F-40E4-91ED-77E44B8A64E1}"/>
              </a:ext>
            </a:extLst>
          </p:cNvPr>
          <p:cNvSpPr>
            <a:spLocks xmlns:a="http://schemas.openxmlformats.org/drawingml/2006/main" noGrp="1"/>
          </p:cNvSpPr>
          <p:nvPr/>
        </p:nvSpPr>
        <p:spPr>
          <a:xfrm xmlns:a="http://schemas.openxmlformats.org/drawingml/2006/main">
            <a:off x="10306050" y="1885950"/>
            <a:ext cx="1085850" cy="5143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l">
              <a:spcBef>
                <a:spcPts val="0"/>
              </a:spcBef>
              <a:spcAft>
                <a:spcPts val="0"/>
              </a:spcAft>
              <a:buNone/>
            </a:pPr>
            <a:r>
              <a:rPr sz="1200" b="0">
                <a:solidFill>
                  <a:srgbClr val="6D6A63"/>
                </a:solidFill>
                <a:latin typeface="Arial"/>
                <a:ea typeface="Arial"/>
                <a:cs typeface="Arial"/>
              </a:rPr>
              <a:t>Analyze once</a:t>
            </a:r>
          </a:p>
        </p:txBody>
      </p:sp>
      <p:sp>
        <p:nvSpPr>
          <p:cNvPr id="115" name="Google Shape;115;p6">
            <a:extLst xmlns:a="http://schemas.openxmlformats.org/drawingml/2006/main">
              <a:ext uri="{FF2B5EF4-FFF2-40B4-BE49-F238E27FC236}">
                <a16:creationId xmlns:a16="http://schemas.microsoft.com/office/drawing/2014/main" id="{E7B47F0C-3DFD-414F-8DCF-A084E5CEB6F6}"/>
              </a:ext>
            </a:extLst>
          </p:cNvPr>
          <p:cNvSpPr>
            <a:spLocks xmlns:a="http://schemas.openxmlformats.org/drawingml/2006/main" noGrp="1"/>
          </p:cNvSpPr>
          <p:nvPr/>
        </p:nvSpPr>
        <p:spPr>
          <a:xfrm xmlns:a="http://schemas.openxmlformats.org/drawingml/2006/main">
            <a:off x="419100" y="2990850"/>
            <a:ext cx="4191000"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l">
              <a:spcBef>
                <a:spcPts val="0"/>
              </a:spcBef>
              <a:spcAft>
                <a:spcPts val="0"/>
              </a:spcAft>
              <a:buNone/>
            </a:pPr>
            <a:r>
              <a:rPr sz="1150" b="1">
                <a:solidFill>
                  <a:srgbClr val="CC4824"/>
                </a:solidFill>
                <a:latin typeface="Arial"/>
                <a:ea typeface="Arial"/>
                <a:cs typeface="Arial"/>
              </a:rPr>
              <a:t>ASK • happens for every question</a:t>
            </a:r>
          </a:p>
        </p:txBody>
      </p:sp>
      <p:sp>
        <p:nvSpPr>
          <p:cNvPr id="116" name="Google Shape;116;p6">
            <a:extLst xmlns:a="http://schemas.openxmlformats.org/drawingml/2006/main">
              <a:ext uri="{FF2B5EF4-FFF2-40B4-BE49-F238E27FC236}">
                <a16:creationId xmlns:a16="http://schemas.microsoft.com/office/drawing/2014/main" id="{0EA235F3-FA40-4BC4-8727-974BA615B6D6}"/>
              </a:ext>
            </a:extLst>
          </p:cNvPr>
          <p:cNvSpPr>
            <a:spLocks xmlns:a="http://schemas.openxmlformats.org/drawingml/2006/main" noGrp="1"/>
          </p:cNvSpPr>
          <p:nvPr/>
        </p:nvSpPr>
        <p:spPr>
          <a:xfrm xmlns:a="http://schemas.openxmlformats.org/drawingml/2006/main">
            <a:off x="2333625" y="3810000"/>
            <a:ext cx="476250" cy="304800"/>
          </a:xfrm>
          <a:prstGeom xmlns:a="http://schemas.openxmlformats.org/drawingml/2006/main" prst="rightArrow">
            <a:avLst>
              <a:gd name="adj1" fmla="val 50000"/>
              <a:gd name="adj2" fmla="val 50000"/>
            </a:avLst>
          </a:prstGeom>
          <a:solidFill xmlns:a="http://schemas.openxmlformats.org/drawingml/2006/main">
            <a:srgbClr val="CC4824"/>
          </a:solidFill>
          <a:ln xmlns:a="http://schemas.openxmlformats.org/drawingml/2006/main" w="9525" cmpd="sng">
            <a:solidFill>
              <a:srgbClr val="CC4824"/>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p>
        </p:txBody>
      </p:sp>
      <p:sp>
        <p:nvSpPr>
          <p:cNvPr id="117" name="Google Shape;117;p6">
            <a:extLst xmlns:a="http://schemas.openxmlformats.org/drawingml/2006/main">
              <a:ext uri="{FF2B5EF4-FFF2-40B4-BE49-F238E27FC236}">
                <a16:creationId xmlns:a16="http://schemas.microsoft.com/office/drawing/2014/main" id="{0FA850A5-082F-481A-8711-78D16D496AF8}"/>
              </a:ext>
            </a:extLst>
          </p:cNvPr>
          <p:cNvSpPr>
            <a:spLocks xmlns:a="http://schemas.openxmlformats.org/drawingml/2006/main" noGrp="1"/>
          </p:cNvSpPr>
          <p:nvPr/>
        </p:nvSpPr>
        <p:spPr>
          <a:xfrm xmlns:a="http://schemas.openxmlformats.org/drawingml/2006/main">
            <a:off x="4762500" y="3810000"/>
            <a:ext cx="476250" cy="304800"/>
          </a:xfrm>
          <a:prstGeom xmlns:a="http://schemas.openxmlformats.org/drawingml/2006/main" prst="rightArrow">
            <a:avLst>
              <a:gd name="adj1" fmla="val 50000"/>
              <a:gd name="adj2" fmla="val 50000"/>
            </a:avLst>
          </a:prstGeom>
          <a:solidFill xmlns:a="http://schemas.openxmlformats.org/drawingml/2006/main">
            <a:srgbClr val="CC4824"/>
          </a:solidFill>
          <a:ln xmlns:a="http://schemas.openxmlformats.org/drawingml/2006/main" w="9525" cmpd="sng">
            <a:solidFill>
              <a:srgbClr val="CC4824"/>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p>
        </p:txBody>
      </p:sp>
      <p:sp>
        <p:nvSpPr>
          <p:cNvPr id="118" name="Google Shape;118;p6">
            <a:extLst xmlns:a="http://schemas.openxmlformats.org/drawingml/2006/main">
              <a:ext uri="{FF2B5EF4-FFF2-40B4-BE49-F238E27FC236}">
                <a16:creationId xmlns:a16="http://schemas.microsoft.com/office/drawing/2014/main" id="{FFE1BD3D-FF5B-4E3B-AAB4-FF2774D55A33}"/>
              </a:ext>
            </a:extLst>
          </p:cNvPr>
          <p:cNvSpPr>
            <a:spLocks xmlns:a="http://schemas.openxmlformats.org/drawingml/2006/main" noGrp="1"/>
          </p:cNvSpPr>
          <p:nvPr/>
        </p:nvSpPr>
        <p:spPr>
          <a:xfrm xmlns:a="http://schemas.openxmlformats.org/drawingml/2006/main">
            <a:off x="7191375" y="3810000"/>
            <a:ext cx="476250" cy="304800"/>
          </a:xfrm>
          <a:prstGeom xmlns:a="http://schemas.openxmlformats.org/drawingml/2006/main" prst="rightArrow">
            <a:avLst>
              <a:gd name="adj1" fmla="val 50000"/>
              <a:gd name="adj2" fmla="val 50000"/>
            </a:avLst>
          </a:prstGeom>
          <a:solidFill xmlns:a="http://schemas.openxmlformats.org/drawingml/2006/main">
            <a:srgbClr val="CC4824"/>
          </a:solidFill>
          <a:ln xmlns:a="http://schemas.openxmlformats.org/drawingml/2006/main" w="9525" cmpd="sng">
            <a:solidFill>
              <a:srgbClr val="CC4824"/>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p>
        </p:txBody>
      </p:sp>
      <p:sp>
        <p:nvSpPr>
          <p:cNvPr id="119" name="Google Shape;119;p6">
            <a:extLst xmlns:a="http://schemas.openxmlformats.org/drawingml/2006/main">
              <a:ext uri="{FF2B5EF4-FFF2-40B4-BE49-F238E27FC236}">
                <a16:creationId xmlns:a16="http://schemas.microsoft.com/office/drawing/2014/main" id="{12CBD697-10BE-4589-8C2F-488D30F3FF25}"/>
              </a:ext>
            </a:extLst>
          </p:cNvPr>
          <p:cNvSpPr>
            <a:spLocks xmlns:a="http://schemas.openxmlformats.org/drawingml/2006/main" noGrp="1"/>
          </p:cNvSpPr>
          <p:nvPr/>
        </p:nvSpPr>
        <p:spPr>
          <a:xfrm xmlns:a="http://schemas.openxmlformats.org/drawingml/2006/main">
            <a:off x="9620250" y="3810000"/>
            <a:ext cx="476250" cy="304800"/>
          </a:xfrm>
          <a:prstGeom xmlns:a="http://schemas.openxmlformats.org/drawingml/2006/main" prst="rightArrow">
            <a:avLst>
              <a:gd name="adj1" fmla="val 50000"/>
              <a:gd name="adj2" fmla="val 50000"/>
            </a:avLst>
          </a:prstGeom>
          <a:solidFill xmlns:a="http://schemas.openxmlformats.org/drawingml/2006/main">
            <a:srgbClr val="CC4824"/>
          </a:solidFill>
          <a:ln xmlns:a="http://schemas.openxmlformats.org/drawingml/2006/main" w="9525" cmpd="sng">
            <a:solidFill>
              <a:srgbClr val="CC4824"/>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p>
        </p:txBody>
      </p:sp>
      <p:sp>
        <p:nvSpPr>
          <p:cNvPr id="120" name="Google Shape;120;p6">
            <a:extLst xmlns:a="http://schemas.openxmlformats.org/drawingml/2006/main">
              <a:ext uri="{FF2B5EF4-FFF2-40B4-BE49-F238E27FC236}">
                <a16:creationId xmlns:a16="http://schemas.microsoft.com/office/drawing/2014/main" id="{507F026B-DE51-490D-A035-EC0F360094BE}"/>
              </a:ext>
            </a:extLst>
          </p:cNvPr>
          <p:cNvSpPr>
            <a:spLocks xmlns:a="http://schemas.openxmlformats.org/drawingml/2006/main" noGrp="1"/>
          </p:cNvSpPr>
          <p:nvPr/>
        </p:nvSpPr>
        <p:spPr>
          <a:xfrm xmlns:a="http://schemas.openxmlformats.org/drawingml/2006/main">
            <a:off x="419100" y="3429000"/>
            <a:ext cx="1914525" cy="1066800"/>
          </a:xfrm>
          <a:prstGeom xmlns:a="http://schemas.openxmlformats.org/drawingml/2006/main" prst="roundRect">
            <a:avLst>
              <a:gd name="adj" fmla="val 7143"/>
            </a:avLst>
          </a:prstGeom>
          <a:solidFill xmlns:a="http://schemas.openxmlformats.org/drawingml/2006/main">
            <a:srgbClr val="FFFEFA"/>
          </a:solidFill>
          <a:ln xmlns:a="http://schemas.openxmlformats.org/drawingml/2006/main" w="14275" cmpd="sng">
            <a:solidFill>
              <a:srgbClr val="DFDBD0"/>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p>
        </p:txBody>
      </p:sp>
      <p:sp>
        <p:nvSpPr>
          <p:cNvPr id="121" name="Google Shape;121;p6">
            <a:extLst xmlns:a="http://schemas.openxmlformats.org/drawingml/2006/main">
              <a:ext uri="{FF2B5EF4-FFF2-40B4-BE49-F238E27FC236}">
                <a16:creationId xmlns:a16="http://schemas.microsoft.com/office/drawing/2014/main" id="{5AD17D10-2F95-498B-88FB-0A45505A1368}"/>
              </a:ext>
            </a:extLst>
          </p:cNvPr>
          <p:cNvSpPr>
            <a:spLocks xmlns:a="http://schemas.openxmlformats.org/drawingml/2006/main" noGrp="1"/>
          </p:cNvSpPr>
          <p:nvPr/>
        </p:nvSpPr>
        <p:spPr>
          <a:xfrm xmlns:a="http://schemas.openxmlformats.org/drawingml/2006/main">
            <a:off x="419100" y="3429000"/>
            <a:ext cx="76200" cy="1066800"/>
          </a:xfrm>
          <a:prstGeom xmlns:a="http://schemas.openxmlformats.org/drawingml/2006/main" prst="rect">
            <a:avLst/>
          </a:prstGeom>
          <a:solidFill xmlns:a="http://schemas.openxmlformats.org/drawingml/2006/main">
            <a:srgbClr val="24231F"/>
          </a:solidFill>
          <a:ln xmlns:a="http://schemas.openxmlformats.org/drawingml/2006/main" w="9525" cmpd="sng">
            <a:solidFill>
              <a:srgbClr val="24231F"/>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p>
        </p:txBody>
      </p:sp>
      <p:sp>
        <p:nvSpPr>
          <p:cNvPr id="122" name="Google Shape;122;p6">
            <a:extLst xmlns:a="http://schemas.openxmlformats.org/drawingml/2006/main">
              <a:ext uri="{FF2B5EF4-FFF2-40B4-BE49-F238E27FC236}">
                <a16:creationId xmlns:a16="http://schemas.microsoft.com/office/drawing/2014/main" id="{0DD6A144-DF75-4F5B-9AC6-A7DE00C79954}"/>
              </a:ext>
            </a:extLst>
          </p:cNvPr>
          <p:cNvSpPr>
            <a:spLocks xmlns:a="http://schemas.openxmlformats.org/drawingml/2006/main" noGrp="1"/>
          </p:cNvSpPr>
          <p:nvPr/>
        </p:nvSpPr>
        <p:spPr>
          <a:xfrm xmlns:a="http://schemas.openxmlformats.org/drawingml/2006/main">
            <a:off x="628650" y="3552825"/>
            <a:ext cx="1590675" cy="304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l">
              <a:spcBef>
                <a:spcPts val="0"/>
              </a:spcBef>
              <a:spcAft>
                <a:spcPts val="0"/>
              </a:spcAft>
              <a:buNone/>
            </a:pPr>
            <a:r>
              <a:rPr sz="1400" b="1">
                <a:solidFill>
                  <a:srgbClr val="24231F"/>
                </a:solidFill>
                <a:latin typeface="Arial"/>
                <a:ea typeface="Arial"/>
                <a:cs typeface="Arial"/>
              </a:rPr>
              <a:t>User question</a:t>
            </a:r>
          </a:p>
        </p:txBody>
      </p:sp>
      <p:sp>
        <p:nvSpPr>
          <p:cNvPr id="123" name="Google Shape;123;p6">
            <a:extLst xmlns:a="http://schemas.openxmlformats.org/drawingml/2006/main">
              <a:ext uri="{FF2B5EF4-FFF2-40B4-BE49-F238E27FC236}">
                <a16:creationId xmlns:a16="http://schemas.microsoft.com/office/drawing/2014/main" id="{9657BEF9-1F91-4610-B48F-D6E42C6FD500}"/>
              </a:ext>
            </a:extLst>
          </p:cNvPr>
          <p:cNvSpPr>
            <a:spLocks xmlns:a="http://schemas.openxmlformats.org/drawingml/2006/main" noGrp="1"/>
          </p:cNvSpPr>
          <p:nvPr/>
        </p:nvSpPr>
        <p:spPr>
          <a:xfrm xmlns:a="http://schemas.openxmlformats.org/drawingml/2006/main">
            <a:off x="628650" y="3886200"/>
            <a:ext cx="1590675" cy="5143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l">
              <a:spcBef>
                <a:spcPts val="0"/>
              </a:spcBef>
              <a:spcAft>
                <a:spcPts val="0"/>
              </a:spcAft>
              <a:buNone/>
            </a:pPr>
            <a:r>
              <a:rPr sz="1200" b="0">
                <a:solidFill>
                  <a:srgbClr val="6D6A63"/>
                </a:solidFill>
                <a:latin typeface="Arial"/>
                <a:ea typeface="Arial"/>
                <a:cs typeface="Arial"/>
              </a:rPr>
              <a:t>Goal and constraints</a:t>
            </a:r>
          </a:p>
        </p:txBody>
      </p:sp>
      <p:sp>
        <p:nvSpPr>
          <p:cNvPr id="124" name="Google Shape;124;p6">
            <a:extLst xmlns:a="http://schemas.openxmlformats.org/drawingml/2006/main">
              <a:ext uri="{FF2B5EF4-FFF2-40B4-BE49-F238E27FC236}">
                <a16:creationId xmlns:a16="http://schemas.microsoft.com/office/drawing/2014/main" id="{15CBB310-5901-44C8-8249-73AD72604C71}"/>
              </a:ext>
            </a:extLst>
          </p:cNvPr>
          <p:cNvSpPr>
            <a:spLocks xmlns:a="http://schemas.openxmlformats.org/drawingml/2006/main" noGrp="1"/>
          </p:cNvSpPr>
          <p:nvPr/>
        </p:nvSpPr>
        <p:spPr>
          <a:xfrm xmlns:a="http://schemas.openxmlformats.org/drawingml/2006/main">
            <a:off x="2809875" y="3429000"/>
            <a:ext cx="1952625" cy="1066800"/>
          </a:xfrm>
          <a:prstGeom xmlns:a="http://schemas.openxmlformats.org/drawingml/2006/main" prst="roundRect">
            <a:avLst>
              <a:gd name="adj" fmla="val 7143"/>
            </a:avLst>
          </a:prstGeom>
          <a:solidFill xmlns:a="http://schemas.openxmlformats.org/drawingml/2006/main">
            <a:srgbClr val="FFFEFA"/>
          </a:solidFill>
          <a:ln xmlns:a="http://schemas.openxmlformats.org/drawingml/2006/main" w="14275" cmpd="sng">
            <a:solidFill>
              <a:srgbClr val="DFDBD0"/>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p>
        </p:txBody>
      </p:sp>
      <p:sp>
        <p:nvSpPr>
          <p:cNvPr id="125" name="Google Shape;125;p6">
            <a:extLst xmlns:a="http://schemas.openxmlformats.org/drawingml/2006/main">
              <a:ext uri="{FF2B5EF4-FFF2-40B4-BE49-F238E27FC236}">
                <a16:creationId xmlns:a16="http://schemas.microsoft.com/office/drawing/2014/main" id="{934FA876-EE1C-4EC9-9E69-C34A1671F8A4}"/>
              </a:ext>
            </a:extLst>
          </p:cNvPr>
          <p:cNvSpPr>
            <a:spLocks xmlns:a="http://schemas.openxmlformats.org/drawingml/2006/main" noGrp="1"/>
          </p:cNvSpPr>
          <p:nvPr/>
        </p:nvSpPr>
        <p:spPr>
          <a:xfrm xmlns:a="http://schemas.openxmlformats.org/drawingml/2006/main">
            <a:off x="2809875" y="3429000"/>
            <a:ext cx="76200" cy="1066800"/>
          </a:xfrm>
          <a:prstGeom xmlns:a="http://schemas.openxmlformats.org/drawingml/2006/main" prst="rect">
            <a:avLst/>
          </a:prstGeom>
          <a:solidFill xmlns:a="http://schemas.openxmlformats.org/drawingml/2006/main">
            <a:srgbClr val="CC4824"/>
          </a:solidFill>
          <a:ln xmlns:a="http://schemas.openxmlformats.org/drawingml/2006/main" w="9525" cmpd="sng">
            <a:solidFill>
              <a:srgbClr val="CC4824"/>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p>
        </p:txBody>
      </p:sp>
      <p:sp>
        <p:nvSpPr>
          <p:cNvPr id="126" name="Google Shape;126;p6">
            <a:extLst xmlns:a="http://schemas.openxmlformats.org/drawingml/2006/main">
              <a:ext uri="{FF2B5EF4-FFF2-40B4-BE49-F238E27FC236}">
                <a16:creationId xmlns:a16="http://schemas.microsoft.com/office/drawing/2014/main" id="{A8C89920-46A8-4499-AC01-26E694765621}"/>
              </a:ext>
            </a:extLst>
          </p:cNvPr>
          <p:cNvSpPr>
            <a:spLocks xmlns:a="http://schemas.openxmlformats.org/drawingml/2006/main" noGrp="1"/>
          </p:cNvSpPr>
          <p:nvPr/>
        </p:nvSpPr>
        <p:spPr>
          <a:xfrm xmlns:a="http://schemas.openxmlformats.org/drawingml/2006/main">
            <a:off x="3019425" y="3552825"/>
            <a:ext cx="1838400" cy="304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l">
              <a:spcBef>
                <a:spcPts val="0"/>
              </a:spcBef>
              <a:spcAft>
                <a:spcPts val="0"/>
              </a:spcAft>
              <a:buNone/>
            </a:pPr>
            <a:r>
              <a:rPr sz="1300" b="1">
                <a:solidFill>
                  <a:srgbClr val="24231F"/>
                </a:solidFill>
                <a:latin typeface="Arial"/>
                <a:ea typeface="Arial"/>
                <a:cs typeface="Arial"/>
              </a:rPr>
              <a:t>Question</a:t>
            </a:r>
            <a:r>
              <a:rPr sz="1300" b="1">
                <a:solidFill>
                  <a:srgbClr val="24231F"/>
                </a:solidFill>
              </a:rPr>
              <a:t> </a:t>
            </a:r>
            <a:r>
              <a:rPr sz="1400" b="1">
                <a:solidFill>
                  <a:srgbClr val="24231F"/>
                </a:solidFill>
              </a:rPr>
              <a:t>Embedding</a:t>
            </a:r>
          </a:p>
        </p:txBody>
      </p:sp>
      <p:sp>
        <p:nvSpPr>
          <p:cNvPr id="127" name="Google Shape;127;p6">
            <a:extLst xmlns:a="http://schemas.openxmlformats.org/drawingml/2006/main">
              <a:ext uri="{FF2B5EF4-FFF2-40B4-BE49-F238E27FC236}">
                <a16:creationId xmlns:a16="http://schemas.microsoft.com/office/drawing/2014/main" id="{56A0ABB7-7118-4133-BB16-432F981A60B7}"/>
              </a:ext>
            </a:extLst>
          </p:cNvPr>
          <p:cNvSpPr>
            <a:spLocks xmlns:a="http://schemas.openxmlformats.org/drawingml/2006/main" noGrp="1"/>
          </p:cNvSpPr>
          <p:nvPr/>
        </p:nvSpPr>
        <p:spPr>
          <a:xfrm xmlns:a="http://schemas.openxmlformats.org/drawingml/2006/main">
            <a:off x="3019425" y="3886200"/>
            <a:ext cx="1628775" cy="5143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l">
              <a:spcBef>
                <a:spcPts val="0"/>
              </a:spcBef>
              <a:spcAft>
                <a:spcPts val="0"/>
              </a:spcAft>
              <a:buNone/>
            </a:pPr>
            <a:r>
              <a:rPr sz="1200" b="0">
                <a:solidFill>
                  <a:srgbClr val="6D6A63"/>
                </a:solidFill>
                <a:latin typeface="Arial"/>
                <a:ea typeface="Arial"/>
                <a:cs typeface="Arial"/>
              </a:rPr>
              <a:t>Question becomes 768 numbers</a:t>
            </a:r>
          </a:p>
        </p:txBody>
      </p:sp>
      <p:sp>
        <p:nvSpPr>
          <p:cNvPr id="128" name="Google Shape;128;p6">
            <a:extLst xmlns:a="http://schemas.openxmlformats.org/drawingml/2006/main">
              <a:ext uri="{FF2B5EF4-FFF2-40B4-BE49-F238E27FC236}">
                <a16:creationId xmlns:a16="http://schemas.microsoft.com/office/drawing/2014/main" id="{1A21E40C-7706-4C5F-9DB3-DF75E94996F7}"/>
              </a:ext>
            </a:extLst>
          </p:cNvPr>
          <p:cNvSpPr>
            <a:spLocks xmlns:a="http://schemas.openxmlformats.org/drawingml/2006/main" noGrp="1"/>
          </p:cNvSpPr>
          <p:nvPr/>
        </p:nvSpPr>
        <p:spPr>
          <a:xfrm xmlns:a="http://schemas.openxmlformats.org/drawingml/2006/main">
            <a:off x="5238750" y="3429000"/>
            <a:ext cx="1952625" cy="1066800"/>
          </a:xfrm>
          <a:prstGeom xmlns:a="http://schemas.openxmlformats.org/drawingml/2006/main" prst="roundRect">
            <a:avLst>
              <a:gd name="adj" fmla="val 7143"/>
            </a:avLst>
          </a:prstGeom>
          <a:solidFill xmlns:a="http://schemas.openxmlformats.org/drawingml/2006/main">
            <a:srgbClr val="F8E7E0"/>
          </a:solidFill>
          <a:ln xmlns:a="http://schemas.openxmlformats.org/drawingml/2006/main" w="14275" cmpd="sng">
            <a:solidFill>
              <a:srgbClr val="DFDBD0"/>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p>
        </p:txBody>
      </p:sp>
      <p:sp>
        <p:nvSpPr>
          <p:cNvPr id="129" name="Google Shape;129;p6">
            <a:extLst xmlns:a="http://schemas.openxmlformats.org/drawingml/2006/main">
              <a:ext uri="{FF2B5EF4-FFF2-40B4-BE49-F238E27FC236}">
                <a16:creationId xmlns:a16="http://schemas.microsoft.com/office/drawing/2014/main" id="{F8CBE115-57CD-42D2-9BD6-F5B9857BE6BB}"/>
              </a:ext>
            </a:extLst>
          </p:cNvPr>
          <p:cNvSpPr>
            <a:spLocks xmlns:a="http://schemas.openxmlformats.org/drawingml/2006/main" noGrp="1"/>
          </p:cNvSpPr>
          <p:nvPr/>
        </p:nvSpPr>
        <p:spPr>
          <a:xfrm xmlns:a="http://schemas.openxmlformats.org/drawingml/2006/main">
            <a:off x="5238750" y="3429000"/>
            <a:ext cx="76200" cy="1066800"/>
          </a:xfrm>
          <a:prstGeom xmlns:a="http://schemas.openxmlformats.org/drawingml/2006/main" prst="rect">
            <a:avLst/>
          </a:prstGeom>
          <a:solidFill xmlns:a="http://schemas.openxmlformats.org/drawingml/2006/main">
            <a:srgbClr val="806C52"/>
          </a:solidFill>
          <a:ln xmlns:a="http://schemas.openxmlformats.org/drawingml/2006/main" w="9525" cmpd="sng">
            <a:solidFill>
              <a:srgbClr val="806C52"/>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p>
        </p:txBody>
      </p:sp>
      <p:sp>
        <p:nvSpPr>
          <p:cNvPr id="130" name="Google Shape;130;p6">
            <a:extLst xmlns:a="http://schemas.openxmlformats.org/drawingml/2006/main">
              <a:ext uri="{FF2B5EF4-FFF2-40B4-BE49-F238E27FC236}">
                <a16:creationId xmlns:a16="http://schemas.microsoft.com/office/drawing/2014/main" id="{E704D000-64F5-401F-8E5B-D39FBFFC9651}"/>
              </a:ext>
            </a:extLst>
          </p:cNvPr>
          <p:cNvSpPr>
            <a:spLocks xmlns:a="http://schemas.openxmlformats.org/drawingml/2006/main" noGrp="1"/>
          </p:cNvSpPr>
          <p:nvPr/>
        </p:nvSpPr>
        <p:spPr>
          <a:xfrm xmlns:a="http://schemas.openxmlformats.org/drawingml/2006/main">
            <a:off x="5448300" y="3552825"/>
            <a:ext cx="1628775" cy="304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l">
              <a:spcBef>
                <a:spcPts val="0"/>
              </a:spcBef>
              <a:spcAft>
                <a:spcPts val="0"/>
              </a:spcAft>
              <a:buNone/>
            </a:pPr>
            <a:r>
              <a:rPr sz="1400" b="1">
                <a:solidFill>
                  <a:srgbClr val="24231F"/>
                </a:solidFill>
                <a:latin typeface="Arial"/>
                <a:ea typeface="Arial"/>
                <a:cs typeface="Arial"/>
              </a:rPr>
              <a:t>RAG search</a:t>
            </a:r>
          </a:p>
        </p:txBody>
      </p:sp>
      <p:sp>
        <p:nvSpPr>
          <p:cNvPr id="131" name="Google Shape;131;p6">
            <a:extLst xmlns:a="http://schemas.openxmlformats.org/drawingml/2006/main">
              <a:ext uri="{FF2B5EF4-FFF2-40B4-BE49-F238E27FC236}">
                <a16:creationId xmlns:a16="http://schemas.microsoft.com/office/drawing/2014/main" id="{BDD74353-1953-4849-B606-44929A018223}"/>
              </a:ext>
            </a:extLst>
          </p:cNvPr>
          <p:cNvSpPr>
            <a:spLocks xmlns:a="http://schemas.openxmlformats.org/drawingml/2006/main" noGrp="1"/>
          </p:cNvSpPr>
          <p:nvPr/>
        </p:nvSpPr>
        <p:spPr>
          <a:xfrm xmlns:a="http://schemas.openxmlformats.org/drawingml/2006/main">
            <a:off x="5448300" y="3886200"/>
            <a:ext cx="1628775" cy="5143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l">
              <a:spcBef>
                <a:spcPts val="0"/>
              </a:spcBef>
              <a:spcAft>
                <a:spcPts val="0"/>
              </a:spcAft>
              <a:buNone/>
            </a:pPr>
            <a:r>
              <a:rPr sz="1200" b="0">
                <a:solidFill>
                  <a:srgbClr val="6D6A63"/>
                </a:solidFill>
                <a:latin typeface="Arial"/>
                <a:ea typeface="Arial"/>
                <a:cs typeface="Arial"/>
              </a:rPr>
              <a:t>Finds close meaning and matching words</a:t>
            </a:r>
          </a:p>
        </p:txBody>
      </p:sp>
      <p:sp>
        <p:nvSpPr>
          <p:cNvPr id="132" name="Google Shape;132;p6">
            <a:extLst xmlns:a="http://schemas.openxmlformats.org/drawingml/2006/main">
              <a:ext uri="{FF2B5EF4-FFF2-40B4-BE49-F238E27FC236}">
                <a16:creationId xmlns:a16="http://schemas.microsoft.com/office/drawing/2014/main" id="{8DB2512D-4577-4837-A484-C51449264D06}"/>
              </a:ext>
            </a:extLst>
          </p:cNvPr>
          <p:cNvSpPr>
            <a:spLocks xmlns:a="http://schemas.openxmlformats.org/drawingml/2006/main" noGrp="1"/>
          </p:cNvSpPr>
          <p:nvPr/>
        </p:nvSpPr>
        <p:spPr>
          <a:xfrm xmlns:a="http://schemas.openxmlformats.org/drawingml/2006/main">
            <a:off x="7667625" y="3429000"/>
            <a:ext cx="1952625" cy="1066800"/>
          </a:xfrm>
          <a:prstGeom xmlns:a="http://schemas.openxmlformats.org/drawingml/2006/main" prst="roundRect">
            <a:avLst>
              <a:gd name="adj" fmla="val 7143"/>
            </a:avLst>
          </a:prstGeom>
          <a:solidFill xmlns:a="http://schemas.openxmlformats.org/drawingml/2006/main">
            <a:srgbClr val="FFFEFA"/>
          </a:solidFill>
          <a:ln xmlns:a="http://schemas.openxmlformats.org/drawingml/2006/main" w="14275" cmpd="sng">
            <a:solidFill>
              <a:srgbClr val="DFDBD0"/>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p>
        </p:txBody>
      </p:sp>
      <p:sp>
        <p:nvSpPr>
          <p:cNvPr id="133" name="Google Shape;133;p6">
            <a:extLst xmlns:a="http://schemas.openxmlformats.org/drawingml/2006/main">
              <a:ext uri="{FF2B5EF4-FFF2-40B4-BE49-F238E27FC236}">
                <a16:creationId xmlns:a16="http://schemas.microsoft.com/office/drawing/2014/main" id="{C7F258B4-169B-4A7F-9A9E-6C4877519E26}"/>
              </a:ext>
            </a:extLst>
          </p:cNvPr>
          <p:cNvSpPr>
            <a:spLocks xmlns:a="http://schemas.openxmlformats.org/drawingml/2006/main" noGrp="1"/>
          </p:cNvSpPr>
          <p:nvPr/>
        </p:nvSpPr>
        <p:spPr>
          <a:xfrm xmlns:a="http://schemas.openxmlformats.org/drawingml/2006/main">
            <a:off x="7667625" y="3429000"/>
            <a:ext cx="76200" cy="1066800"/>
          </a:xfrm>
          <a:prstGeom xmlns:a="http://schemas.openxmlformats.org/drawingml/2006/main" prst="rect">
            <a:avLst/>
          </a:prstGeom>
          <a:solidFill xmlns:a="http://schemas.openxmlformats.org/drawingml/2006/main">
            <a:srgbClr val="26734D"/>
          </a:solidFill>
          <a:ln xmlns:a="http://schemas.openxmlformats.org/drawingml/2006/main" w="9525" cmpd="sng">
            <a:solidFill>
              <a:srgbClr val="26734D"/>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p>
        </p:txBody>
      </p:sp>
      <p:sp>
        <p:nvSpPr>
          <p:cNvPr id="134" name="Google Shape;134;p6">
            <a:extLst xmlns:a="http://schemas.openxmlformats.org/drawingml/2006/main">
              <a:ext uri="{FF2B5EF4-FFF2-40B4-BE49-F238E27FC236}">
                <a16:creationId xmlns:a16="http://schemas.microsoft.com/office/drawing/2014/main" id="{8E25E45C-DDF8-4046-BC05-C733D64ED76D}"/>
              </a:ext>
            </a:extLst>
          </p:cNvPr>
          <p:cNvSpPr>
            <a:spLocks xmlns:a="http://schemas.openxmlformats.org/drawingml/2006/main" noGrp="1"/>
          </p:cNvSpPr>
          <p:nvPr/>
        </p:nvSpPr>
        <p:spPr>
          <a:xfrm xmlns:a="http://schemas.openxmlformats.org/drawingml/2006/main">
            <a:off x="7877175" y="3552825"/>
            <a:ext cx="1628775" cy="304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l">
              <a:spcBef>
                <a:spcPts val="0"/>
              </a:spcBef>
              <a:spcAft>
                <a:spcPts val="0"/>
              </a:spcAft>
              <a:buNone/>
            </a:pPr>
            <a:r>
              <a:rPr sz="1400" b="1">
                <a:solidFill>
                  <a:srgbClr val="24231F"/>
                </a:solidFill>
                <a:latin typeface="Arial"/>
                <a:ea typeface="Arial"/>
                <a:cs typeface="Arial"/>
              </a:rPr>
              <a:t>Top memories</a:t>
            </a:r>
          </a:p>
        </p:txBody>
      </p:sp>
      <p:sp>
        <p:nvSpPr>
          <p:cNvPr id="135" name="Google Shape;135;p6">
            <a:extLst xmlns:a="http://schemas.openxmlformats.org/drawingml/2006/main">
              <a:ext uri="{FF2B5EF4-FFF2-40B4-BE49-F238E27FC236}">
                <a16:creationId xmlns:a16="http://schemas.microsoft.com/office/drawing/2014/main" id="{E04DE810-3F6F-43D5-A14E-C4AB0DF20095}"/>
              </a:ext>
            </a:extLst>
          </p:cNvPr>
          <p:cNvSpPr>
            <a:spLocks xmlns:a="http://schemas.openxmlformats.org/drawingml/2006/main" noGrp="1"/>
          </p:cNvSpPr>
          <p:nvPr/>
        </p:nvSpPr>
        <p:spPr>
          <a:xfrm xmlns:a="http://schemas.openxmlformats.org/drawingml/2006/main">
            <a:off x="7877175" y="3886200"/>
            <a:ext cx="1628775" cy="5143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l">
              <a:spcBef>
                <a:spcPts val="0"/>
              </a:spcBef>
              <a:spcAft>
                <a:spcPts val="0"/>
              </a:spcAft>
              <a:buNone/>
            </a:pPr>
            <a:r>
              <a:rPr sz="1200" b="0">
                <a:solidFill>
                  <a:srgbClr val="6D6A63"/>
                </a:solidFill>
                <a:latin typeface="Arial"/>
                <a:ea typeface="Arial"/>
                <a:cs typeface="Arial"/>
              </a:rPr>
              <a:t>At most 6; weak matches removed</a:t>
            </a:r>
          </a:p>
        </p:txBody>
      </p:sp>
      <p:sp>
        <p:nvSpPr>
          <p:cNvPr id="136" name="Google Shape;136;p6">
            <a:extLst xmlns:a="http://schemas.openxmlformats.org/drawingml/2006/main">
              <a:ext uri="{FF2B5EF4-FFF2-40B4-BE49-F238E27FC236}">
                <a16:creationId xmlns:a16="http://schemas.microsoft.com/office/drawing/2014/main" id="{8AA12B16-6B52-4947-B6FE-37653892756D}"/>
              </a:ext>
            </a:extLst>
          </p:cNvPr>
          <p:cNvSpPr>
            <a:spLocks xmlns:a="http://schemas.openxmlformats.org/drawingml/2006/main" noGrp="1"/>
          </p:cNvSpPr>
          <p:nvPr/>
        </p:nvSpPr>
        <p:spPr>
          <a:xfrm xmlns:a="http://schemas.openxmlformats.org/drawingml/2006/main">
            <a:off x="10096500" y="3429000"/>
            <a:ext cx="1409700" cy="1066800"/>
          </a:xfrm>
          <a:prstGeom xmlns:a="http://schemas.openxmlformats.org/drawingml/2006/main" prst="roundRect">
            <a:avLst>
              <a:gd name="adj" fmla="val 7143"/>
            </a:avLst>
          </a:prstGeom>
          <a:solidFill xmlns:a="http://schemas.openxmlformats.org/drawingml/2006/main">
            <a:srgbClr val="D6EE72"/>
          </a:solidFill>
          <a:ln xmlns:a="http://schemas.openxmlformats.org/drawingml/2006/main" w="14275" cmpd="sng">
            <a:solidFill>
              <a:srgbClr val="DFDBD0"/>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p>
        </p:txBody>
      </p:sp>
      <p:sp>
        <p:nvSpPr>
          <p:cNvPr id="137" name="Google Shape;137;p6">
            <a:extLst xmlns:a="http://schemas.openxmlformats.org/drawingml/2006/main">
              <a:ext uri="{FF2B5EF4-FFF2-40B4-BE49-F238E27FC236}">
                <a16:creationId xmlns:a16="http://schemas.microsoft.com/office/drawing/2014/main" id="{B198C8BD-3329-4BB8-ABF8-C03A1029EC5E}"/>
              </a:ext>
            </a:extLst>
          </p:cNvPr>
          <p:cNvSpPr>
            <a:spLocks xmlns:a="http://schemas.openxmlformats.org/drawingml/2006/main" noGrp="1"/>
          </p:cNvSpPr>
          <p:nvPr/>
        </p:nvSpPr>
        <p:spPr>
          <a:xfrm xmlns:a="http://schemas.openxmlformats.org/drawingml/2006/main">
            <a:off x="10096500" y="3429000"/>
            <a:ext cx="76200" cy="1066800"/>
          </a:xfrm>
          <a:prstGeom xmlns:a="http://schemas.openxmlformats.org/drawingml/2006/main" prst="rect">
            <a:avLst/>
          </a:prstGeom>
          <a:solidFill xmlns:a="http://schemas.openxmlformats.org/drawingml/2006/main">
            <a:srgbClr val="24231F"/>
          </a:solidFill>
          <a:ln xmlns:a="http://schemas.openxmlformats.org/drawingml/2006/main" w="9525" cmpd="sng">
            <a:solidFill>
              <a:srgbClr val="24231F"/>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p>
        </p:txBody>
      </p:sp>
      <p:sp>
        <p:nvSpPr>
          <p:cNvPr id="138" name="Google Shape;138;p6">
            <a:extLst xmlns:a="http://schemas.openxmlformats.org/drawingml/2006/main">
              <a:ext uri="{FF2B5EF4-FFF2-40B4-BE49-F238E27FC236}">
                <a16:creationId xmlns:a16="http://schemas.microsoft.com/office/drawing/2014/main" id="{02841063-F095-4273-AA18-A56EE80C526D}"/>
              </a:ext>
            </a:extLst>
          </p:cNvPr>
          <p:cNvSpPr>
            <a:spLocks xmlns:a="http://schemas.openxmlformats.org/drawingml/2006/main" noGrp="1"/>
          </p:cNvSpPr>
          <p:nvPr/>
        </p:nvSpPr>
        <p:spPr>
          <a:xfrm xmlns:a="http://schemas.openxmlformats.org/drawingml/2006/main">
            <a:off x="10306050" y="3552825"/>
            <a:ext cx="1085850" cy="304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l">
              <a:spcBef>
                <a:spcPts val="0"/>
              </a:spcBef>
              <a:spcAft>
                <a:spcPts val="0"/>
              </a:spcAft>
              <a:buNone/>
            </a:pPr>
            <a:r>
              <a:rPr sz="1400" b="1">
                <a:solidFill>
                  <a:srgbClr val="24231F"/>
                </a:solidFill>
                <a:latin typeface="Arial"/>
                <a:ea typeface="Arial"/>
                <a:cs typeface="Arial"/>
              </a:rPr>
              <a:t>Final LLM</a:t>
            </a:r>
          </a:p>
        </p:txBody>
      </p:sp>
      <p:sp>
        <p:nvSpPr>
          <p:cNvPr id="139" name="Google Shape;139;p6">
            <a:extLst xmlns:a="http://schemas.openxmlformats.org/drawingml/2006/main">
              <a:ext uri="{FF2B5EF4-FFF2-40B4-BE49-F238E27FC236}">
                <a16:creationId xmlns:a16="http://schemas.microsoft.com/office/drawing/2014/main" id="{D6B7C5E2-813F-4238-B417-DBEF2743CB3C}"/>
              </a:ext>
            </a:extLst>
          </p:cNvPr>
          <p:cNvSpPr>
            <a:spLocks xmlns:a="http://schemas.openxmlformats.org/drawingml/2006/main" noGrp="1"/>
          </p:cNvSpPr>
          <p:nvPr/>
        </p:nvSpPr>
        <p:spPr>
          <a:xfrm xmlns:a="http://schemas.openxmlformats.org/drawingml/2006/main">
            <a:off x="10306050" y="3886200"/>
            <a:ext cx="1085850" cy="5143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l">
              <a:spcBef>
                <a:spcPts val="0"/>
              </a:spcBef>
              <a:spcAft>
                <a:spcPts val="0"/>
              </a:spcAft>
              <a:buNone/>
            </a:pPr>
            <a:r>
              <a:rPr sz="1200" b="0">
                <a:solidFill>
                  <a:srgbClr val="6D6A63"/>
                </a:solidFill>
                <a:latin typeface="Arial"/>
                <a:ea typeface="Arial"/>
                <a:cs typeface="Arial"/>
              </a:rPr>
              <a:t>Grounded answer</a:t>
            </a:r>
          </a:p>
        </p:txBody>
      </p:sp>
      <p:sp>
        <p:nvSpPr>
          <p:cNvPr id="140" name="Google Shape;140;p6">
            <a:extLst xmlns:a="http://schemas.openxmlformats.org/drawingml/2006/main">
              <a:ext uri="{FF2B5EF4-FFF2-40B4-BE49-F238E27FC236}">
                <a16:creationId xmlns:a16="http://schemas.microsoft.com/office/drawing/2014/main" id="{48FCC224-A5C7-4B51-B5A7-341E5B624B10}"/>
              </a:ext>
            </a:extLst>
          </p:cNvPr>
          <p:cNvSpPr>
            <a:spLocks xmlns:a="http://schemas.openxmlformats.org/drawingml/2006/main" noGrp="1"/>
          </p:cNvSpPr>
          <p:nvPr/>
        </p:nvSpPr>
        <p:spPr>
          <a:xfrm xmlns:a="http://schemas.openxmlformats.org/drawingml/2006/main">
            <a:off x="419100" y="4953000"/>
            <a:ext cx="11087100" cy="1066800"/>
          </a:xfrm>
          <a:prstGeom xmlns:a="http://schemas.openxmlformats.org/drawingml/2006/main" prst="rect">
            <a:avLst/>
          </a:prstGeom>
          <a:solidFill xmlns:a="http://schemas.openxmlformats.org/drawingml/2006/main">
            <a:srgbClr val="F0EDE5"/>
          </a:solidFill>
          <a:ln xmlns:a="http://schemas.openxmlformats.org/drawingml/2006/main" w="14275" cmpd="sng">
            <a:solidFill>
              <a:srgbClr val="F0EDE5"/>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p>
        </p:txBody>
      </p:sp>
      <p:sp>
        <p:nvSpPr>
          <p:cNvPr id="141" name="Google Shape;141;p6">
            <a:extLst xmlns:a="http://schemas.openxmlformats.org/drawingml/2006/main">
              <a:ext uri="{FF2B5EF4-FFF2-40B4-BE49-F238E27FC236}">
                <a16:creationId xmlns:a16="http://schemas.microsoft.com/office/drawing/2014/main" id="{C3654D63-9A64-4BA8-BDA5-896814AF0133}"/>
              </a:ext>
            </a:extLst>
          </p:cNvPr>
          <p:cNvSpPr>
            <a:spLocks xmlns:a="http://schemas.openxmlformats.org/drawingml/2006/main" noGrp="1"/>
          </p:cNvSpPr>
          <p:nvPr/>
        </p:nvSpPr>
        <p:spPr>
          <a:xfrm xmlns:a="http://schemas.openxmlformats.org/drawingml/2006/main">
            <a:off x="685800" y="5067300"/>
            <a:ext cx="3714750"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l">
              <a:spcBef>
                <a:spcPts val="0"/>
              </a:spcBef>
              <a:spcAft>
                <a:spcPts val="0"/>
              </a:spcAft>
              <a:buNone/>
            </a:pPr>
            <a:r>
              <a:rPr sz="1150" b="1">
                <a:solidFill>
                  <a:srgbClr val="CC4824"/>
                </a:solidFill>
                <a:latin typeface="Arial"/>
                <a:ea typeface="Arial"/>
                <a:cs typeface="Arial"/>
              </a:rPr>
              <a:t>The backend is the safety boundary</a:t>
            </a:r>
          </a:p>
        </p:txBody>
      </p:sp>
      <p:sp>
        <p:nvSpPr>
          <p:cNvPr id="142" name="Google Shape;142;p6">
            <a:extLst xmlns:a="http://schemas.openxmlformats.org/drawingml/2006/main">
              <a:ext uri="{FF2B5EF4-FFF2-40B4-BE49-F238E27FC236}">
                <a16:creationId xmlns:a16="http://schemas.microsoft.com/office/drawing/2014/main" id="{554495E5-4A99-440C-B36C-F9B16C5EE5BC}"/>
              </a:ext>
            </a:extLst>
          </p:cNvPr>
          <p:cNvSpPr>
            <a:spLocks xmlns:a="http://schemas.openxmlformats.org/drawingml/2006/main" noGrp="1"/>
          </p:cNvSpPr>
          <p:nvPr/>
        </p:nvSpPr>
        <p:spPr>
          <a:xfrm xmlns:a="http://schemas.openxmlformats.org/drawingml/2006/main">
            <a:off x="685800" y="5381625"/>
            <a:ext cx="10553700" cy="457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l">
              <a:spcBef>
                <a:spcPts val="0"/>
              </a:spcBef>
              <a:spcAft>
                <a:spcPts val="0"/>
              </a:spcAft>
              <a:buNone/>
            </a:pPr>
            <a:r>
              <a:rPr sz="1200" b="0">
                <a:solidFill>
                  <a:srgbClr val="24231F"/>
                </a:solidFill>
                <a:latin typeface="Arial"/>
                <a:ea typeface="Arial"/>
                <a:cs typeface="Arial"/>
              </a:rPr>
              <a:t>Before saving: required fields + exactly 768 embedding values. Before answering: correct user only, weak matches removed, duplicates removed, maximum 6 memories.</a:t>
            </a:r>
          </a:p>
        </p:txBody>
      </p:sp>
    </p:spTree>
    <p:extLst>
      <p:ext uri="{BB962C8B-B14F-4D97-AF65-F5344CB8AC3E}">
        <p14:creationId xmlns:p14="http://schemas.microsoft.com/office/powerpoint/2010/main" val="292589976"/>
      </p:ext>
    </p:extLst>
  </p:cSld>
</p:sld>
</file>

<file path=ppt/slides/slide5.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148" name="Google Shape;148;p7">
            <a:extLst xmlns:a="http://schemas.openxmlformats.org/drawingml/2006/main">
              <a:ext uri="{FF2B5EF4-FFF2-40B4-BE49-F238E27FC236}">
                <a16:creationId xmlns:a16="http://schemas.microsoft.com/office/drawing/2014/main" id="{43236B5B-7817-4A10-BF08-6C4B19D51B11}"/>
              </a:ext>
            </a:extLst>
          </p:cNvPr>
          <p:cNvSpPr>
            <a:spLocks xmlns:a="http://schemas.openxmlformats.org/drawingml/2006/main" noGrp="1"/>
          </p:cNvSpPr>
          <p:nvPr/>
        </p:nvSpPr>
        <p:spPr>
          <a:xfrm xmlns:a="http://schemas.openxmlformats.org/drawingml/2006/main">
            <a:off x="400050" y="266700"/>
            <a:ext cx="10953750" cy="685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l">
              <a:spcBef>
                <a:spcPts val="0"/>
              </a:spcBef>
              <a:spcAft>
                <a:spcPts val="0"/>
              </a:spcAft>
              <a:buNone/>
            </a:pPr>
            <a:r>
              <a:rPr sz="2850" b="0">
                <a:solidFill>
                  <a:srgbClr val="24231F"/>
                </a:solidFill>
                <a:latin typeface="Georgia"/>
                <a:ea typeface="Georgia"/>
                <a:cs typeface="Georgia"/>
              </a:rPr>
              <a:t>Future scope: richer inputs, faster retrieval, more control</a:t>
            </a:r>
          </a:p>
        </p:txBody>
      </p:sp>
      <p:sp>
        <p:nvSpPr>
          <p:cNvPr id="149" name="Google Shape;149;p7">
            <a:extLst xmlns:a="http://schemas.openxmlformats.org/drawingml/2006/main">
              <a:ext uri="{FF2B5EF4-FFF2-40B4-BE49-F238E27FC236}">
                <a16:creationId xmlns:a16="http://schemas.microsoft.com/office/drawing/2014/main" id="{6D48F6B8-0CC7-4D9F-83BF-C6DBDA765A3C}"/>
              </a:ext>
            </a:extLst>
          </p:cNvPr>
          <p:cNvSpPr>
            <a:spLocks xmlns:a="http://schemas.openxmlformats.org/drawingml/2006/main" noGrp="1"/>
          </p:cNvSpPr>
          <p:nvPr/>
        </p:nvSpPr>
        <p:spPr>
          <a:xfrm xmlns:a="http://schemas.openxmlformats.org/drawingml/2006/main">
            <a:off x="11315700" y="6286500"/>
            <a:ext cx="476250" cy="2095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r">
              <a:spcBef>
                <a:spcPts val="0"/>
              </a:spcBef>
              <a:spcAft>
                <a:spcPts val="0"/>
              </a:spcAft>
              <a:buNone/>
            </a:pPr>
            <a:r>
              <a:rPr sz="775" b="0">
                <a:solidFill>
                  <a:srgbClr val="6D6A63"/>
                </a:solidFill>
                <a:latin typeface="Arial"/>
                <a:ea typeface="Arial"/>
                <a:cs typeface="Arial"/>
              </a:rPr>
              <a:t>05</a:t>
            </a:r>
          </a:p>
        </p:txBody>
      </p:sp>
      <p:sp>
        <p:nvSpPr>
          <p:cNvPr id="150" name="Google Shape;150;p7">
            <a:extLst xmlns:a="http://schemas.openxmlformats.org/drawingml/2006/main">
              <a:ext uri="{FF2B5EF4-FFF2-40B4-BE49-F238E27FC236}">
                <a16:creationId xmlns:a16="http://schemas.microsoft.com/office/drawing/2014/main" id="{0CF6349C-BBF8-4E1B-8358-E39519C90834}"/>
              </a:ext>
            </a:extLst>
          </p:cNvPr>
          <p:cNvSpPr>
            <a:spLocks xmlns:a="http://schemas.openxmlformats.org/drawingml/2006/main" noGrp="1"/>
          </p:cNvSpPr>
          <p:nvPr/>
        </p:nvSpPr>
        <p:spPr>
          <a:xfrm xmlns:a="http://schemas.openxmlformats.org/drawingml/2006/main">
            <a:off x="419100" y="971550"/>
            <a:ext cx="8382000" cy="2857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l">
              <a:spcBef>
                <a:spcPts val="0"/>
              </a:spcBef>
              <a:spcAft>
                <a:spcPts val="0"/>
              </a:spcAft>
              <a:buNone/>
            </a:pPr>
            <a:r>
              <a:rPr sz="1275" b="0">
                <a:solidFill>
                  <a:srgbClr val="6D6A63"/>
                </a:solidFill>
                <a:latin typeface="Arial"/>
                <a:ea typeface="Arial"/>
                <a:cs typeface="Arial"/>
              </a:rPr>
              <a:t>Add capability in stages without changing the core architecture</a:t>
            </a:r>
          </a:p>
        </p:txBody>
      </p:sp>
      <p:sp>
        <p:nvSpPr>
          <p:cNvPr id="151" name="Google Shape;151;p7">
            <a:extLst xmlns:a="http://schemas.openxmlformats.org/drawingml/2006/main">
              <a:ext uri="{FF2B5EF4-FFF2-40B4-BE49-F238E27FC236}">
                <a16:creationId xmlns:a16="http://schemas.microsoft.com/office/drawing/2014/main" id="{3D786B66-7FDD-4BCF-A63D-8A8D8B3AB7A8}"/>
              </a:ext>
            </a:extLst>
          </p:cNvPr>
          <p:cNvSpPr>
            <a:spLocks xmlns:a="http://schemas.openxmlformats.org/drawingml/2006/main" noGrp="1"/>
          </p:cNvSpPr>
          <p:nvPr/>
        </p:nvSpPr>
        <p:spPr>
          <a:xfrm xmlns:a="http://schemas.openxmlformats.org/drawingml/2006/main">
            <a:off x="419100" y="1638300"/>
            <a:ext cx="2571750" cy="2381250"/>
          </a:xfrm>
          <a:prstGeom xmlns:a="http://schemas.openxmlformats.org/drawingml/2006/main" prst="roundRect">
            <a:avLst>
              <a:gd name="adj" fmla="val 3200"/>
            </a:avLst>
          </a:prstGeom>
          <a:solidFill xmlns:a="http://schemas.openxmlformats.org/drawingml/2006/main">
            <a:srgbClr val="F8E7E0"/>
          </a:solidFill>
          <a:ln xmlns:a="http://schemas.openxmlformats.org/drawingml/2006/main" w="14275" cmpd="sng">
            <a:solidFill>
              <a:srgbClr val="DFDBD0"/>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p>
        </p:txBody>
      </p:sp>
      <p:sp>
        <p:nvSpPr>
          <p:cNvPr id="152" name="Google Shape;152;p7">
            <a:extLst xmlns:a="http://schemas.openxmlformats.org/drawingml/2006/main">
              <a:ext uri="{FF2B5EF4-FFF2-40B4-BE49-F238E27FC236}">
                <a16:creationId xmlns:a16="http://schemas.microsoft.com/office/drawing/2014/main" id="{6BC1D259-3DE8-452B-86A7-71CA4FDA41E8}"/>
              </a:ext>
            </a:extLst>
          </p:cNvPr>
          <p:cNvSpPr>
            <a:spLocks xmlns:a="http://schemas.openxmlformats.org/drawingml/2006/main" noGrp="1"/>
          </p:cNvSpPr>
          <p:nvPr/>
        </p:nvSpPr>
        <p:spPr>
          <a:xfrm xmlns:a="http://schemas.openxmlformats.org/drawingml/2006/main">
            <a:off x="419100" y="1638300"/>
            <a:ext cx="76200" cy="2381250"/>
          </a:xfrm>
          <a:prstGeom xmlns:a="http://schemas.openxmlformats.org/drawingml/2006/main" prst="rect">
            <a:avLst/>
          </a:prstGeom>
          <a:solidFill xmlns:a="http://schemas.openxmlformats.org/drawingml/2006/main">
            <a:srgbClr val="CC4824"/>
          </a:solidFill>
          <a:ln xmlns:a="http://schemas.openxmlformats.org/drawingml/2006/main" w="9525" cmpd="sng">
            <a:solidFill>
              <a:srgbClr val="CC4824"/>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p>
        </p:txBody>
      </p:sp>
      <p:sp>
        <p:nvSpPr>
          <p:cNvPr id="153" name="Google Shape;153;p7">
            <a:extLst xmlns:a="http://schemas.openxmlformats.org/drawingml/2006/main">
              <a:ext uri="{FF2B5EF4-FFF2-40B4-BE49-F238E27FC236}">
                <a16:creationId xmlns:a16="http://schemas.microsoft.com/office/drawing/2014/main" id="{E6BAF4C5-661E-40D9-9230-21BB74FC21F7}"/>
              </a:ext>
            </a:extLst>
          </p:cNvPr>
          <p:cNvSpPr>
            <a:spLocks xmlns:a="http://schemas.openxmlformats.org/drawingml/2006/main" noGrp="1"/>
          </p:cNvSpPr>
          <p:nvPr/>
        </p:nvSpPr>
        <p:spPr>
          <a:xfrm xmlns:a="http://schemas.openxmlformats.org/drawingml/2006/main">
            <a:off x="628650" y="1762125"/>
            <a:ext cx="2247900" cy="304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l">
              <a:spcBef>
                <a:spcPts val="0"/>
              </a:spcBef>
              <a:spcAft>
                <a:spcPts val="0"/>
              </a:spcAft>
              <a:buNone/>
            </a:pPr>
            <a:r>
              <a:rPr sz="1400" b="1">
                <a:solidFill>
                  <a:srgbClr val="24231F"/>
                </a:solidFill>
                <a:latin typeface="Arial"/>
                <a:ea typeface="Arial"/>
                <a:cs typeface="Arial"/>
              </a:rPr>
              <a:t>1  Multimodal analysis</a:t>
            </a:r>
          </a:p>
        </p:txBody>
      </p:sp>
      <p:sp>
        <p:nvSpPr>
          <p:cNvPr id="154" name="Google Shape;154;p7">
            <a:extLst xmlns:a="http://schemas.openxmlformats.org/drawingml/2006/main">
              <a:ext uri="{FF2B5EF4-FFF2-40B4-BE49-F238E27FC236}">
                <a16:creationId xmlns:a16="http://schemas.microsoft.com/office/drawing/2014/main" id="{2CD2EB04-C1A5-4315-9449-AA369A0E118E}"/>
              </a:ext>
            </a:extLst>
          </p:cNvPr>
          <p:cNvSpPr>
            <a:spLocks xmlns:a="http://schemas.openxmlformats.org/drawingml/2006/main" noGrp="1"/>
          </p:cNvSpPr>
          <p:nvPr/>
        </p:nvSpPr>
        <p:spPr>
          <a:xfrm xmlns:a="http://schemas.openxmlformats.org/drawingml/2006/main">
            <a:off x="628650" y="2095500"/>
            <a:ext cx="2247900" cy="1828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l">
              <a:spcBef>
                <a:spcPts val="0"/>
              </a:spcBef>
              <a:spcAft>
                <a:spcPts val="0"/>
              </a:spcAft>
              <a:buNone/>
            </a:pPr>
            <a:r>
              <a:rPr sz="1200" b="0">
                <a:solidFill>
                  <a:srgbClr val="6D6A63"/>
                </a:solidFill>
                <a:latin typeface="Arial"/>
                <a:ea typeface="Arial"/>
                <a:cs typeface="Arial"/>
              </a:rPr>
              <a:t>Transcribe audio</a:t>
            </a:r>
          </a:p>
          <a:p xmlns:a="http://schemas.openxmlformats.org/drawingml/2006/main">
            <a:pPr marL="0" marR="0" lvl="0" indent="0" algn="l">
              <a:spcBef>
                <a:spcPts val="0"/>
              </a:spcBef>
              <a:spcAft>
                <a:spcPts val="0"/>
              </a:spcAft>
              <a:buNone/>
            </a:pPr>
            <a:r>
              <a:rPr sz="1200" b="0">
                <a:solidFill>
                  <a:srgbClr val="6D6A63"/>
                </a:solidFill>
                <a:latin typeface="Arial"/>
                <a:ea typeface="Arial"/>
                <a:cs typeface="Arial"/>
              </a:rPr>
              <a:t>Analyze selected video frames</a:t>
            </a:r>
          </a:p>
          <a:p xmlns:a="http://schemas.openxmlformats.org/drawingml/2006/main">
            <a:pPr marL="0" marR="0" lvl="0" indent="0" algn="l">
              <a:spcBef>
                <a:spcPts val="0"/>
              </a:spcBef>
              <a:spcAft>
                <a:spcPts val="0"/>
              </a:spcAft>
              <a:buNone/>
            </a:pPr>
            <a:r>
              <a:rPr sz="1200" b="0">
                <a:solidFill>
                  <a:srgbClr val="6D6A63"/>
                </a:solidFill>
                <a:latin typeface="Arial"/>
                <a:ea typeface="Arial"/>
                <a:cs typeface="Arial"/>
              </a:rPr>
              <a:t>Read on-screen text</a:t>
            </a:r>
          </a:p>
          <a:p xmlns:a="http://schemas.openxmlformats.org/drawingml/2006/main">
            <a:pPr marL="0" marR="0" lvl="0" indent="0" algn="l">
              <a:spcBef>
                <a:spcPts val="0"/>
              </a:spcBef>
              <a:spcAft>
                <a:spcPts val="0"/>
              </a:spcAft>
              <a:buNone/>
            </a:pPr>
            <a:r>
              <a:rPr sz="1200" b="0">
                <a:solidFill>
                  <a:srgbClr val="6D6A63"/>
                </a:solidFill>
                <a:latin typeface="Arial"/>
                <a:ea typeface="Arial"/>
                <a:cs typeface="Arial"/>
              </a:rPr>
              <a:t>Combine speech, image and caption</a:t>
            </a:r>
          </a:p>
        </p:txBody>
      </p:sp>
      <p:sp>
        <p:nvSpPr>
          <p:cNvPr id="155" name="Google Shape;155;p7">
            <a:extLst xmlns:a="http://schemas.openxmlformats.org/drawingml/2006/main">
              <a:ext uri="{FF2B5EF4-FFF2-40B4-BE49-F238E27FC236}">
                <a16:creationId xmlns:a16="http://schemas.microsoft.com/office/drawing/2014/main" id="{6F1995A0-3FDE-4AEA-9C4C-3A4DFAEBC71A}"/>
              </a:ext>
            </a:extLst>
          </p:cNvPr>
          <p:cNvSpPr>
            <a:spLocks xmlns:a="http://schemas.openxmlformats.org/drawingml/2006/main" noGrp="1"/>
          </p:cNvSpPr>
          <p:nvPr/>
        </p:nvSpPr>
        <p:spPr>
          <a:xfrm xmlns:a="http://schemas.openxmlformats.org/drawingml/2006/main">
            <a:off x="3219450" y="1638300"/>
            <a:ext cx="2571750" cy="2381250"/>
          </a:xfrm>
          <a:prstGeom xmlns:a="http://schemas.openxmlformats.org/drawingml/2006/main" prst="roundRect">
            <a:avLst>
              <a:gd name="adj" fmla="val 3200"/>
            </a:avLst>
          </a:prstGeom>
          <a:solidFill xmlns:a="http://schemas.openxmlformats.org/drawingml/2006/main">
            <a:srgbClr val="FFFEFA"/>
          </a:solidFill>
          <a:ln xmlns:a="http://schemas.openxmlformats.org/drawingml/2006/main" w="14275" cmpd="sng">
            <a:solidFill>
              <a:srgbClr val="DFDBD0"/>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p>
        </p:txBody>
      </p:sp>
      <p:sp>
        <p:nvSpPr>
          <p:cNvPr id="156" name="Google Shape;156;p7">
            <a:extLst xmlns:a="http://schemas.openxmlformats.org/drawingml/2006/main">
              <a:ext uri="{FF2B5EF4-FFF2-40B4-BE49-F238E27FC236}">
                <a16:creationId xmlns:a16="http://schemas.microsoft.com/office/drawing/2014/main" id="{FB7CB31F-F449-4E29-8CCA-FA5048CA307E}"/>
              </a:ext>
            </a:extLst>
          </p:cNvPr>
          <p:cNvSpPr>
            <a:spLocks xmlns:a="http://schemas.openxmlformats.org/drawingml/2006/main" noGrp="1"/>
          </p:cNvSpPr>
          <p:nvPr/>
        </p:nvSpPr>
        <p:spPr>
          <a:xfrm xmlns:a="http://schemas.openxmlformats.org/drawingml/2006/main">
            <a:off x="3219450" y="1638300"/>
            <a:ext cx="76200" cy="2381250"/>
          </a:xfrm>
          <a:prstGeom xmlns:a="http://schemas.openxmlformats.org/drawingml/2006/main" prst="rect">
            <a:avLst/>
          </a:prstGeom>
          <a:solidFill xmlns:a="http://schemas.openxmlformats.org/drawingml/2006/main">
            <a:srgbClr val="806C52"/>
          </a:solidFill>
          <a:ln xmlns:a="http://schemas.openxmlformats.org/drawingml/2006/main" w="9525" cmpd="sng">
            <a:solidFill>
              <a:srgbClr val="806C52"/>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p>
        </p:txBody>
      </p:sp>
      <p:sp>
        <p:nvSpPr>
          <p:cNvPr id="157" name="Google Shape;157;p7">
            <a:extLst xmlns:a="http://schemas.openxmlformats.org/drawingml/2006/main">
              <a:ext uri="{FF2B5EF4-FFF2-40B4-BE49-F238E27FC236}">
                <a16:creationId xmlns:a16="http://schemas.microsoft.com/office/drawing/2014/main" id="{C34AA57D-061B-463F-A367-CCAD9B48427C}"/>
              </a:ext>
            </a:extLst>
          </p:cNvPr>
          <p:cNvSpPr>
            <a:spLocks xmlns:a="http://schemas.openxmlformats.org/drawingml/2006/main" noGrp="1"/>
          </p:cNvSpPr>
          <p:nvPr/>
        </p:nvSpPr>
        <p:spPr>
          <a:xfrm xmlns:a="http://schemas.openxmlformats.org/drawingml/2006/main">
            <a:off x="3429000" y="1762125"/>
            <a:ext cx="2247900" cy="304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l">
              <a:spcBef>
                <a:spcPts val="0"/>
              </a:spcBef>
              <a:spcAft>
                <a:spcPts val="0"/>
              </a:spcAft>
              <a:buNone/>
            </a:pPr>
            <a:r>
              <a:rPr sz="1400" b="1">
                <a:solidFill>
                  <a:srgbClr val="24231F"/>
                </a:solidFill>
                <a:latin typeface="Arial"/>
                <a:ea typeface="Arial"/>
                <a:cs typeface="Arial"/>
              </a:rPr>
              <a:t>2  More sources</a:t>
            </a:r>
          </a:p>
        </p:txBody>
      </p:sp>
      <p:sp>
        <p:nvSpPr>
          <p:cNvPr id="158" name="Google Shape;158;p7">
            <a:extLst xmlns:a="http://schemas.openxmlformats.org/drawingml/2006/main">
              <a:ext uri="{FF2B5EF4-FFF2-40B4-BE49-F238E27FC236}">
                <a16:creationId xmlns:a16="http://schemas.microsoft.com/office/drawing/2014/main" id="{295DE6D8-855D-4C09-8D34-A49EFD1AF138}"/>
              </a:ext>
            </a:extLst>
          </p:cNvPr>
          <p:cNvSpPr>
            <a:spLocks xmlns:a="http://schemas.openxmlformats.org/drawingml/2006/main" noGrp="1"/>
          </p:cNvSpPr>
          <p:nvPr/>
        </p:nvSpPr>
        <p:spPr>
          <a:xfrm xmlns:a="http://schemas.openxmlformats.org/drawingml/2006/main">
            <a:off x="3429000" y="2095500"/>
            <a:ext cx="2247900" cy="1828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l">
              <a:spcBef>
                <a:spcPts val="0"/>
              </a:spcBef>
              <a:spcAft>
                <a:spcPts val="0"/>
              </a:spcAft>
              <a:buNone/>
            </a:pPr>
            <a:r>
              <a:rPr sz="1200" b="0">
                <a:solidFill>
                  <a:srgbClr val="6D6A63"/>
                </a:solidFill>
                <a:latin typeface="Arial"/>
                <a:ea typeface="Arial"/>
                <a:cs typeface="Arial"/>
              </a:rPr>
              <a:t>Approved social integrations</a:t>
            </a:r>
          </a:p>
          <a:p xmlns:a="http://schemas.openxmlformats.org/drawingml/2006/main">
            <a:pPr marL="0" marR="0" lvl="0" indent="0" algn="l">
              <a:spcBef>
                <a:spcPts val="0"/>
              </a:spcBef>
              <a:spcAft>
                <a:spcPts val="0"/>
              </a:spcAft>
              <a:buNone/>
            </a:pPr>
            <a:r>
              <a:rPr sz="1200" b="0">
                <a:solidFill>
                  <a:srgbClr val="6D6A63"/>
                </a:solidFill>
                <a:latin typeface="Arial"/>
                <a:ea typeface="Arial"/>
                <a:cs typeface="Arial"/>
              </a:rPr>
              <a:t>Documents and podcasts</a:t>
            </a:r>
          </a:p>
          <a:p xmlns:a="http://schemas.openxmlformats.org/drawingml/2006/main">
            <a:pPr marL="0" marR="0" lvl="0" indent="0" algn="l">
              <a:spcBef>
                <a:spcPts val="0"/>
              </a:spcBef>
              <a:spcAft>
                <a:spcPts val="0"/>
              </a:spcAft>
              <a:buNone/>
            </a:pPr>
            <a:r>
              <a:rPr sz="1200" b="0">
                <a:solidFill>
                  <a:srgbClr val="6D6A63"/>
                </a:solidFill>
                <a:latin typeface="Arial"/>
                <a:ea typeface="Arial"/>
                <a:cs typeface="Arial"/>
              </a:rPr>
              <a:t>Private sources with consent</a:t>
            </a:r>
          </a:p>
          <a:p xmlns:a="http://schemas.openxmlformats.org/drawingml/2006/main">
            <a:pPr marL="0" marR="0" lvl="0" indent="0" algn="l">
              <a:spcBef>
                <a:spcPts val="0"/>
              </a:spcBef>
              <a:spcAft>
                <a:spcPts val="0"/>
              </a:spcAft>
              <a:buNone/>
            </a:pPr>
            <a:r>
              <a:rPr sz="1200" b="0">
                <a:solidFill>
                  <a:srgbClr val="6D6A63"/>
                </a:solidFill>
                <a:latin typeface="Arial"/>
                <a:ea typeface="Arial"/>
                <a:cs typeface="Arial"/>
              </a:rPr>
              <a:t>Duplicate and source-quality checks</a:t>
            </a:r>
          </a:p>
        </p:txBody>
      </p:sp>
      <p:sp>
        <p:nvSpPr>
          <p:cNvPr id="159" name="Google Shape;159;p7">
            <a:extLst xmlns:a="http://schemas.openxmlformats.org/drawingml/2006/main">
              <a:ext uri="{FF2B5EF4-FFF2-40B4-BE49-F238E27FC236}">
                <a16:creationId xmlns:a16="http://schemas.microsoft.com/office/drawing/2014/main" id="{B0C6022A-A679-44D0-B9F9-E67D2B4C4964}"/>
              </a:ext>
            </a:extLst>
          </p:cNvPr>
          <p:cNvSpPr>
            <a:spLocks xmlns:a="http://schemas.openxmlformats.org/drawingml/2006/main" noGrp="1"/>
          </p:cNvSpPr>
          <p:nvPr/>
        </p:nvSpPr>
        <p:spPr>
          <a:xfrm xmlns:a="http://schemas.openxmlformats.org/drawingml/2006/main">
            <a:off x="6019800" y="1638300"/>
            <a:ext cx="2571750" cy="2381250"/>
          </a:xfrm>
          <a:prstGeom xmlns:a="http://schemas.openxmlformats.org/drawingml/2006/main" prst="roundRect">
            <a:avLst>
              <a:gd name="adj" fmla="val 3200"/>
            </a:avLst>
          </a:prstGeom>
          <a:solidFill xmlns:a="http://schemas.openxmlformats.org/drawingml/2006/main">
            <a:srgbClr val="F8E7E0"/>
          </a:solidFill>
          <a:ln xmlns:a="http://schemas.openxmlformats.org/drawingml/2006/main" w="14275" cmpd="sng">
            <a:solidFill>
              <a:srgbClr val="DFDBD0"/>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p>
        </p:txBody>
      </p:sp>
      <p:sp>
        <p:nvSpPr>
          <p:cNvPr id="160" name="Google Shape;160;p7">
            <a:extLst xmlns:a="http://schemas.openxmlformats.org/drawingml/2006/main">
              <a:ext uri="{FF2B5EF4-FFF2-40B4-BE49-F238E27FC236}">
                <a16:creationId xmlns:a16="http://schemas.microsoft.com/office/drawing/2014/main" id="{C4F460F0-23FD-4DB8-95BF-A72A146A6F4D}"/>
              </a:ext>
            </a:extLst>
          </p:cNvPr>
          <p:cNvSpPr>
            <a:spLocks xmlns:a="http://schemas.openxmlformats.org/drawingml/2006/main" noGrp="1"/>
          </p:cNvSpPr>
          <p:nvPr/>
        </p:nvSpPr>
        <p:spPr>
          <a:xfrm xmlns:a="http://schemas.openxmlformats.org/drawingml/2006/main">
            <a:off x="6019800" y="1638300"/>
            <a:ext cx="76200" cy="2381250"/>
          </a:xfrm>
          <a:prstGeom xmlns:a="http://schemas.openxmlformats.org/drawingml/2006/main" prst="rect">
            <a:avLst/>
          </a:prstGeom>
          <a:solidFill xmlns:a="http://schemas.openxmlformats.org/drawingml/2006/main">
            <a:srgbClr val="26734D"/>
          </a:solidFill>
          <a:ln xmlns:a="http://schemas.openxmlformats.org/drawingml/2006/main" w="9525" cmpd="sng">
            <a:solidFill>
              <a:srgbClr val="26734D"/>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p>
        </p:txBody>
      </p:sp>
      <p:sp>
        <p:nvSpPr>
          <p:cNvPr id="161" name="Google Shape;161;p7">
            <a:extLst xmlns:a="http://schemas.openxmlformats.org/drawingml/2006/main">
              <a:ext uri="{FF2B5EF4-FFF2-40B4-BE49-F238E27FC236}">
                <a16:creationId xmlns:a16="http://schemas.microsoft.com/office/drawing/2014/main" id="{D6864E14-1F01-453A-A554-3EC4630754E9}"/>
              </a:ext>
            </a:extLst>
          </p:cNvPr>
          <p:cNvSpPr>
            <a:spLocks xmlns:a="http://schemas.openxmlformats.org/drawingml/2006/main" noGrp="1"/>
          </p:cNvSpPr>
          <p:nvPr/>
        </p:nvSpPr>
        <p:spPr>
          <a:xfrm xmlns:a="http://schemas.openxmlformats.org/drawingml/2006/main">
            <a:off x="6229350" y="1762125"/>
            <a:ext cx="2247900" cy="304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l">
              <a:spcBef>
                <a:spcPts val="0"/>
              </a:spcBef>
              <a:spcAft>
                <a:spcPts val="0"/>
              </a:spcAft>
              <a:buNone/>
            </a:pPr>
            <a:r>
              <a:rPr sz="1400" b="1">
                <a:solidFill>
                  <a:srgbClr val="24231F"/>
                </a:solidFill>
                <a:latin typeface="Arial"/>
                <a:ea typeface="Arial"/>
                <a:cs typeface="Arial"/>
              </a:rPr>
              <a:t>3  Scale retrieval</a:t>
            </a:r>
          </a:p>
        </p:txBody>
      </p:sp>
      <p:sp>
        <p:nvSpPr>
          <p:cNvPr id="162" name="Google Shape;162;p7">
            <a:extLst xmlns:a="http://schemas.openxmlformats.org/drawingml/2006/main">
              <a:ext uri="{FF2B5EF4-FFF2-40B4-BE49-F238E27FC236}">
                <a16:creationId xmlns:a16="http://schemas.microsoft.com/office/drawing/2014/main" id="{81E36951-34DE-4679-8379-AD690672C0A6}"/>
              </a:ext>
            </a:extLst>
          </p:cNvPr>
          <p:cNvSpPr>
            <a:spLocks xmlns:a="http://schemas.openxmlformats.org/drawingml/2006/main" noGrp="1"/>
          </p:cNvSpPr>
          <p:nvPr/>
        </p:nvSpPr>
        <p:spPr>
          <a:xfrm xmlns:a="http://schemas.openxmlformats.org/drawingml/2006/main">
            <a:off x="6229350" y="2095500"/>
            <a:ext cx="2247900" cy="1828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l">
              <a:spcBef>
                <a:spcPts val="0"/>
              </a:spcBef>
              <a:spcAft>
                <a:spcPts val="0"/>
              </a:spcAft>
              <a:buNone/>
            </a:pPr>
            <a:r>
              <a:rPr sz="1200" b="0">
                <a:solidFill>
                  <a:srgbClr val="6D6A63"/>
                </a:solidFill>
                <a:latin typeface="Arial"/>
                <a:ea typeface="Arial"/>
                <a:cs typeface="Arial"/>
              </a:rPr>
              <a:t>Async processing and retries</a:t>
            </a:r>
          </a:p>
          <a:p xmlns:a="http://schemas.openxmlformats.org/drawingml/2006/main">
            <a:pPr marL="0" marR="0" lvl="0" indent="0" algn="l">
              <a:spcBef>
                <a:spcPts val="0"/>
              </a:spcBef>
              <a:spcAft>
                <a:spcPts val="0"/>
              </a:spcAft>
              <a:buNone/>
            </a:pPr>
            <a:r>
              <a:rPr sz="1200" b="0">
                <a:solidFill>
                  <a:srgbClr val="6D6A63"/>
                </a:solidFill>
                <a:latin typeface="Arial"/>
                <a:ea typeface="Arial"/>
                <a:cs typeface="Arial"/>
              </a:rPr>
              <a:t>pgvector ANN search</a:t>
            </a:r>
          </a:p>
          <a:p xmlns:a="http://schemas.openxmlformats.org/drawingml/2006/main">
            <a:pPr marL="0" marR="0" lvl="0" indent="0" algn="l">
              <a:spcBef>
                <a:spcPts val="0"/>
              </a:spcBef>
              <a:spcAft>
                <a:spcPts val="0"/>
              </a:spcAft>
              <a:buNone/>
            </a:pPr>
            <a:r>
              <a:rPr sz="1200" b="0">
                <a:solidFill>
                  <a:srgbClr val="6D6A63"/>
                </a:solidFill>
                <a:latin typeface="Arial"/>
                <a:ea typeface="Arial"/>
                <a:cs typeface="Arial"/>
              </a:rPr>
              <a:t>Reranking and caching</a:t>
            </a:r>
          </a:p>
          <a:p xmlns:a="http://schemas.openxmlformats.org/drawingml/2006/main">
            <a:pPr marL="0" marR="0" lvl="0" indent="0" algn="l">
              <a:spcBef>
                <a:spcPts val="0"/>
              </a:spcBef>
              <a:spcAft>
                <a:spcPts val="0"/>
              </a:spcAft>
              <a:buNone/>
            </a:pPr>
            <a:r>
              <a:rPr sz="1200" b="0">
                <a:solidFill>
                  <a:srgbClr val="6D6A63"/>
                </a:solidFill>
                <a:latin typeface="Arial"/>
                <a:ea typeface="Arial"/>
                <a:cs typeface="Arial"/>
              </a:rPr>
              <a:t>Re-embed when models improve</a:t>
            </a:r>
          </a:p>
        </p:txBody>
      </p:sp>
      <p:sp>
        <p:nvSpPr>
          <p:cNvPr id="163" name="Google Shape;163;p7">
            <a:extLst xmlns:a="http://schemas.openxmlformats.org/drawingml/2006/main">
              <a:ext uri="{FF2B5EF4-FFF2-40B4-BE49-F238E27FC236}">
                <a16:creationId xmlns:a16="http://schemas.microsoft.com/office/drawing/2014/main" id="{0CBBD4A6-F3DF-4800-8BF0-351DFF727CA3}"/>
              </a:ext>
            </a:extLst>
          </p:cNvPr>
          <p:cNvSpPr>
            <a:spLocks xmlns:a="http://schemas.openxmlformats.org/drawingml/2006/main" noGrp="1"/>
          </p:cNvSpPr>
          <p:nvPr/>
        </p:nvSpPr>
        <p:spPr>
          <a:xfrm xmlns:a="http://schemas.openxmlformats.org/drawingml/2006/main">
            <a:off x="8820150" y="1638300"/>
            <a:ext cx="2686050" cy="2381250"/>
          </a:xfrm>
          <a:prstGeom xmlns:a="http://schemas.openxmlformats.org/drawingml/2006/main" prst="roundRect">
            <a:avLst>
              <a:gd name="adj" fmla="val 3200"/>
            </a:avLst>
          </a:prstGeom>
          <a:solidFill xmlns:a="http://schemas.openxmlformats.org/drawingml/2006/main">
            <a:srgbClr val="FFFEFA"/>
          </a:solidFill>
          <a:ln xmlns:a="http://schemas.openxmlformats.org/drawingml/2006/main" w="14275" cmpd="sng">
            <a:solidFill>
              <a:srgbClr val="DFDBD0"/>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p>
        </p:txBody>
      </p:sp>
      <p:sp>
        <p:nvSpPr>
          <p:cNvPr id="164" name="Google Shape;164;p7">
            <a:extLst xmlns:a="http://schemas.openxmlformats.org/drawingml/2006/main">
              <a:ext uri="{FF2B5EF4-FFF2-40B4-BE49-F238E27FC236}">
                <a16:creationId xmlns:a16="http://schemas.microsoft.com/office/drawing/2014/main" id="{AF3482B9-381C-4CB8-A710-F955FF6ECB67}"/>
              </a:ext>
            </a:extLst>
          </p:cNvPr>
          <p:cNvSpPr>
            <a:spLocks xmlns:a="http://schemas.openxmlformats.org/drawingml/2006/main" noGrp="1"/>
          </p:cNvSpPr>
          <p:nvPr/>
        </p:nvSpPr>
        <p:spPr>
          <a:xfrm xmlns:a="http://schemas.openxmlformats.org/drawingml/2006/main">
            <a:off x="8820150" y="1638300"/>
            <a:ext cx="76200" cy="2381250"/>
          </a:xfrm>
          <a:prstGeom xmlns:a="http://schemas.openxmlformats.org/drawingml/2006/main" prst="rect">
            <a:avLst/>
          </a:prstGeom>
          <a:solidFill xmlns:a="http://schemas.openxmlformats.org/drawingml/2006/main">
            <a:srgbClr val="24231F"/>
          </a:solidFill>
          <a:ln xmlns:a="http://schemas.openxmlformats.org/drawingml/2006/main" w="9525" cmpd="sng">
            <a:solidFill>
              <a:srgbClr val="24231F"/>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p>
        </p:txBody>
      </p:sp>
      <p:sp>
        <p:nvSpPr>
          <p:cNvPr id="165" name="Google Shape;165;p7">
            <a:extLst xmlns:a="http://schemas.openxmlformats.org/drawingml/2006/main">
              <a:ext uri="{FF2B5EF4-FFF2-40B4-BE49-F238E27FC236}">
                <a16:creationId xmlns:a16="http://schemas.microsoft.com/office/drawing/2014/main" id="{2EBC166D-D0A3-4FD6-B775-2BC7BD956131}"/>
              </a:ext>
            </a:extLst>
          </p:cNvPr>
          <p:cNvSpPr>
            <a:spLocks xmlns:a="http://schemas.openxmlformats.org/drawingml/2006/main" noGrp="1"/>
          </p:cNvSpPr>
          <p:nvPr/>
        </p:nvSpPr>
        <p:spPr>
          <a:xfrm xmlns:a="http://schemas.openxmlformats.org/drawingml/2006/main">
            <a:off x="9029700" y="1762125"/>
            <a:ext cx="2362200" cy="304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l">
              <a:spcBef>
                <a:spcPts val="0"/>
              </a:spcBef>
              <a:spcAft>
                <a:spcPts val="0"/>
              </a:spcAft>
              <a:buNone/>
            </a:pPr>
            <a:r>
              <a:rPr sz="1400" b="1">
                <a:solidFill>
                  <a:srgbClr val="24231F"/>
                </a:solidFill>
                <a:latin typeface="Arial"/>
                <a:ea typeface="Arial"/>
                <a:cs typeface="Arial"/>
              </a:rPr>
              <a:t>4  User control</a:t>
            </a:r>
          </a:p>
        </p:txBody>
      </p:sp>
      <p:sp>
        <p:nvSpPr>
          <p:cNvPr id="166" name="Google Shape;166;p7">
            <a:extLst xmlns:a="http://schemas.openxmlformats.org/drawingml/2006/main">
              <a:ext uri="{FF2B5EF4-FFF2-40B4-BE49-F238E27FC236}">
                <a16:creationId xmlns:a16="http://schemas.microsoft.com/office/drawing/2014/main" id="{F06EDDF8-8D76-4A37-AEE1-8DB23F9F33D3}"/>
              </a:ext>
            </a:extLst>
          </p:cNvPr>
          <p:cNvSpPr>
            <a:spLocks xmlns:a="http://schemas.openxmlformats.org/drawingml/2006/main" noGrp="1"/>
          </p:cNvSpPr>
          <p:nvPr/>
        </p:nvSpPr>
        <p:spPr>
          <a:xfrm xmlns:a="http://schemas.openxmlformats.org/drawingml/2006/main">
            <a:off x="9029700" y="2095500"/>
            <a:ext cx="2362200" cy="1828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l">
              <a:spcBef>
                <a:spcPts val="0"/>
              </a:spcBef>
              <a:spcAft>
                <a:spcPts val="0"/>
              </a:spcAft>
              <a:buNone/>
            </a:pPr>
            <a:r>
              <a:rPr sz="1200" b="0">
                <a:solidFill>
                  <a:srgbClr val="6D6A63"/>
                </a:solidFill>
                <a:latin typeface="Arial"/>
                <a:ea typeface="Arial"/>
                <a:cs typeface="Arial"/>
              </a:rPr>
              <a:t>Edit AI-generated tags</a:t>
            </a:r>
          </a:p>
          <a:p xmlns:a="http://schemas.openxmlformats.org/drawingml/2006/main">
            <a:pPr marL="0" marR="0" lvl="0" indent="0" algn="l">
              <a:spcBef>
                <a:spcPts val="0"/>
              </a:spcBef>
              <a:spcAft>
                <a:spcPts val="0"/>
              </a:spcAft>
              <a:buNone/>
            </a:pPr>
            <a:r>
              <a:rPr sz="1200" b="0">
                <a:solidFill>
                  <a:srgbClr val="6D6A63"/>
                </a:solidFill>
                <a:latin typeface="Arial"/>
                <a:ea typeface="Arial"/>
                <a:cs typeface="Arial"/>
              </a:rPr>
              <a:t>Feedback on recommendations</a:t>
            </a:r>
          </a:p>
          <a:p xmlns:a="http://schemas.openxmlformats.org/drawingml/2006/main">
            <a:pPr marL="0" marR="0" lvl="0" indent="0" algn="l">
              <a:spcBef>
                <a:spcPts val="0"/>
              </a:spcBef>
              <a:spcAft>
                <a:spcPts val="0"/>
              </a:spcAft>
              <a:buNone/>
            </a:pPr>
            <a:r>
              <a:rPr sz="1200" b="0">
                <a:solidFill>
                  <a:srgbClr val="6D6A63"/>
                </a:solidFill>
                <a:latin typeface="Arial"/>
                <a:ea typeface="Arial"/>
                <a:cs typeface="Arial"/>
              </a:rPr>
              <a:t>Explain why each source was used</a:t>
            </a:r>
          </a:p>
          <a:p xmlns:a="http://schemas.openxmlformats.org/drawingml/2006/main">
            <a:pPr marL="0" marR="0" lvl="0" indent="0" algn="l">
              <a:spcBef>
                <a:spcPts val="0"/>
              </a:spcBef>
              <a:spcAft>
                <a:spcPts val="0"/>
              </a:spcAft>
              <a:buNone/>
            </a:pPr>
            <a:r>
              <a:rPr sz="1200" b="0">
                <a:solidFill>
                  <a:srgbClr val="6D6A63"/>
                </a:solidFill>
                <a:latin typeface="Arial"/>
                <a:ea typeface="Arial"/>
                <a:cs typeface="Arial"/>
              </a:rPr>
              <a:t>Privacy and retention controls</a:t>
            </a:r>
          </a:p>
        </p:txBody>
      </p:sp>
      <p:sp>
        <p:nvSpPr>
          <p:cNvPr id="167" name="Google Shape;167;p7">
            <a:extLst xmlns:a="http://schemas.openxmlformats.org/drawingml/2006/main">
              <a:ext uri="{FF2B5EF4-FFF2-40B4-BE49-F238E27FC236}">
                <a16:creationId xmlns:a16="http://schemas.microsoft.com/office/drawing/2014/main" id="{FD180037-EAC1-49F2-9C3B-AB7F5A3E4170}"/>
              </a:ext>
            </a:extLst>
          </p:cNvPr>
          <p:cNvSpPr>
            <a:spLocks xmlns:a="http://schemas.openxmlformats.org/drawingml/2006/main" noGrp="1"/>
          </p:cNvSpPr>
          <p:nvPr/>
        </p:nvSpPr>
        <p:spPr>
          <a:xfrm xmlns:a="http://schemas.openxmlformats.org/drawingml/2006/main">
            <a:off x="419100" y="4629150"/>
            <a:ext cx="11087100" cy="1066800"/>
          </a:xfrm>
          <a:prstGeom xmlns:a="http://schemas.openxmlformats.org/drawingml/2006/main" prst="rect">
            <a:avLst/>
          </a:prstGeom>
          <a:solidFill xmlns:a="http://schemas.openxmlformats.org/drawingml/2006/main">
            <a:srgbClr val="F0EDE5"/>
          </a:solidFill>
          <a:ln xmlns:a="http://schemas.openxmlformats.org/drawingml/2006/main" w="14275" cmpd="sng">
            <a:solidFill>
              <a:srgbClr val="F0EDE5"/>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p>
        </p:txBody>
      </p:sp>
      <p:sp>
        <p:nvSpPr>
          <p:cNvPr id="168" name="Google Shape;168;p7">
            <a:extLst xmlns:a="http://schemas.openxmlformats.org/drawingml/2006/main">
              <a:ext uri="{FF2B5EF4-FFF2-40B4-BE49-F238E27FC236}">
                <a16:creationId xmlns:a16="http://schemas.microsoft.com/office/drawing/2014/main" id="{AC5E0FF2-9E26-4E31-81F9-5DABABE58124}"/>
              </a:ext>
            </a:extLst>
          </p:cNvPr>
          <p:cNvSpPr>
            <a:spLocks xmlns:a="http://schemas.openxmlformats.org/drawingml/2006/main" noGrp="1"/>
          </p:cNvSpPr>
          <p:nvPr/>
        </p:nvSpPr>
        <p:spPr>
          <a:xfrm xmlns:a="http://schemas.openxmlformats.org/drawingml/2006/main">
            <a:off x="685800" y="4762500"/>
            <a:ext cx="3333750" cy="304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l">
              <a:spcBef>
                <a:spcPts val="0"/>
              </a:spcBef>
              <a:spcAft>
                <a:spcPts val="0"/>
              </a:spcAft>
              <a:buNone/>
            </a:pPr>
            <a:r>
              <a:rPr sz="1400" b="1">
                <a:solidFill>
                  <a:srgbClr val="CC4824"/>
                </a:solidFill>
                <a:latin typeface="Arial"/>
                <a:ea typeface="Arial"/>
                <a:cs typeface="Arial"/>
              </a:rPr>
              <a:t>The architecture stays the same</a:t>
            </a:r>
          </a:p>
        </p:txBody>
      </p:sp>
      <p:sp>
        <p:nvSpPr>
          <p:cNvPr id="169" name="Google Shape;169;p7">
            <a:extLst xmlns:a="http://schemas.openxmlformats.org/drawingml/2006/main">
              <a:ext uri="{FF2B5EF4-FFF2-40B4-BE49-F238E27FC236}">
                <a16:creationId xmlns:a16="http://schemas.microsoft.com/office/drawing/2014/main" id="{FE34FE37-8DF1-4092-9DE7-5C232ADCEC91}"/>
              </a:ext>
            </a:extLst>
          </p:cNvPr>
          <p:cNvSpPr>
            <a:spLocks xmlns:a="http://schemas.openxmlformats.org/drawingml/2006/main" noGrp="1"/>
          </p:cNvSpPr>
          <p:nvPr/>
        </p:nvSpPr>
        <p:spPr>
          <a:xfrm xmlns:a="http://schemas.openxmlformats.org/drawingml/2006/main">
            <a:off x="685800" y="5124450"/>
            <a:ext cx="10287000" cy="4381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l">
              <a:spcBef>
                <a:spcPts val="0"/>
              </a:spcBef>
              <a:spcAft>
                <a:spcPts val="0"/>
              </a:spcAft>
              <a:buNone/>
            </a:pPr>
            <a:r>
              <a:rPr sz="1192" b="0">
                <a:solidFill>
                  <a:srgbClr val="24231F"/>
                </a:solidFill>
                <a:latin typeface="Arial"/>
                <a:ea typeface="Arial"/>
                <a:cs typeface="Arial"/>
              </a:rPr>
              <a:t>Capture → understand → embed → store → retrieve → generate. Future features improve each stage without breaking the trusted backend boundary.</a:t>
            </a:r>
          </a:p>
        </p:txBody>
      </p:sp>
    </p:spTree>
    <p:extLst>
      <p:ext uri="{BB962C8B-B14F-4D97-AF65-F5344CB8AC3E}">
        <p14:creationId xmlns:p14="http://schemas.microsoft.com/office/powerpoint/2010/main" val="1628491678"/>
      </p:ext>
    </p:extLst>
  </p:cSld>
</p:sld>
</file>

<file path=ppt/slides/slide6.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pic>
        <p:nvPicPr>
          <p:cNvPr id="183" name="Google Shape;175;p8"/>
          <p:cNvPicPr>
            <a:picLocks xmlns:a="http://schemas.openxmlformats.org/drawingml/2006/main" noChangeAspect="1"/>
          </p:cNvPicPr>
          <p:nvPr/>
        </p:nvPicPr>
        <p:blipFill rotWithShape="1">
          <a:blip xmlns:r="http://schemas.openxmlformats.org/officeDocument/2006/relationships" xmlns:a="http://schemas.openxmlformats.org/drawingml/2006/main" r:embed="R6f9fea228cac404c">
            <a:alphaModFix/>
          </a:blip>
          <a:srcRect xmlns:a="http://schemas.openxmlformats.org/drawingml/2006/main" l="28504" t="0" r="28504" b="0"/>
          <a:stretch xmlns:a="http://schemas.openxmlformats.org/drawingml/2006/main"/>
        </p:blipFill>
        <p:spPr>
          <a:xfrm xmlns:a="http://schemas.openxmlformats.org/drawingml/2006/main">
            <a:off x="6953250" y="0"/>
            <a:ext cx="5238750" cy="6858000"/>
          </a:xfrm>
          <a:prstGeom xmlns:a="http://schemas.openxmlformats.org/drawingml/2006/main" prst="rect">
            <a:avLst/>
          </a:prstGeom>
          <a:ln xmlns:a="http://schemas.openxmlformats.org/drawingml/2006/main">
            <a:noFill/>
          </a:ln>
        </p:spPr>
      </p:pic>
      <p:sp>
        <p:nvSpPr>
          <p:cNvPr id="176" name="Google Shape;176;p8">
            <a:extLst xmlns:a="http://schemas.openxmlformats.org/drawingml/2006/main">
              <a:ext uri="{FF2B5EF4-FFF2-40B4-BE49-F238E27FC236}">
                <a16:creationId xmlns:a16="http://schemas.microsoft.com/office/drawing/2014/main" id="{10BD79A6-9316-41EC-B3E9-BB5FF12EDBDA}"/>
              </a:ext>
            </a:extLst>
          </p:cNvPr>
          <p:cNvSpPr>
            <a:spLocks xmlns:a="http://schemas.openxmlformats.org/drawingml/2006/main" noGrp="1"/>
          </p:cNvSpPr>
          <p:nvPr/>
        </p:nvSpPr>
        <p:spPr>
          <a:xfrm xmlns:a="http://schemas.openxmlformats.org/drawingml/2006/main">
            <a:off x="419100" y="495300"/>
            <a:ext cx="3810000" cy="2857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l">
              <a:spcBef>
                <a:spcPts val="0"/>
              </a:spcBef>
              <a:spcAft>
                <a:spcPts val="0"/>
              </a:spcAft>
              <a:buNone/>
            </a:pPr>
            <a:r>
              <a:rPr sz="1275" b="1">
                <a:solidFill>
                  <a:srgbClr val="CC4824"/>
                </a:solidFill>
                <a:latin typeface="Arial"/>
                <a:ea typeface="Arial"/>
                <a:cs typeface="Arial"/>
              </a:rPr>
              <a:t>IMPULSE • CREATORBRAIN</a:t>
            </a:r>
          </a:p>
        </p:txBody>
      </p:sp>
      <p:sp>
        <p:nvSpPr>
          <p:cNvPr id="177" name="Google Shape;177;p8">
            <a:extLst xmlns:a="http://schemas.openxmlformats.org/drawingml/2006/main">
              <a:ext uri="{FF2B5EF4-FFF2-40B4-BE49-F238E27FC236}">
                <a16:creationId xmlns:a16="http://schemas.microsoft.com/office/drawing/2014/main" id="{49AC2C18-8185-4D12-B67F-FB696238796A}"/>
              </a:ext>
            </a:extLst>
          </p:cNvPr>
          <p:cNvSpPr>
            <a:spLocks xmlns:a="http://schemas.openxmlformats.org/drawingml/2006/main" noGrp="1"/>
          </p:cNvSpPr>
          <p:nvPr/>
        </p:nvSpPr>
        <p:spPr>
          <a:xfrm xmlns:a="http://schemas.openxmlformats.org/drawingml/2006/main">
            <a:off x="419100" y="2038350"/>
            <a:ext cx="5334000" cy="876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l">
              <a:spcBef>
                <a:spcPts val="0"/>
              </a:spcBef>
              <a:spcAft>
                <a:spcPts val="0"/>
              </a:spcAft>
              <a:buNone/>
            </a:pPr>
            <a:r>
              <a:rPr sz="4650" b="0">
                <a:solidFill>
                  <a:srgbClr val="24231F"/>
                </a:solidFill>
                <a:latin typeface="Georgia"/>
                <a:ea typeface="Georgia"/>
                <a:cs typeface="Georgia"/>
              </a:rPr>
              <a:t>Questions?</a:t>
            </a:r>
          </a:p>
        </p:txBody>
      </p:sp>
      <p:sp>
        <p:nvSpPr>
          <p:cNvPr id="178" name="Google Shape;178;p8">
            <a:extLst xmlns:a="http://schemas.openxmlformats.org/drawingml/2006/main">
              <a:ext uri="{FF2B5EF4-FFF2-40B4-BE49-F238E27FC236}">
                <a16:creationId xmlns:a16="http://schemas.microsoft.com/office/drawing/2014/main" id="{55CFF63D-2013-48B2-83CD-C9B8D4E7CABB}"/>
              </a:ext>
            </a:extLst>
          </p:cNvPr>
          <p:cNvSpPr>
            <a:spLocks xmlns:a="http://schemas.openxmlformats.org/drawingml/2006/main" noGrp="1"/>
          </p:cNvSpPr>
          <p:nvPr/>
        </p:nvSpPr>
        <p:spPr>
          <a:xfrm xmlns:a="http://schemas.openxmlformats.org/drawingml/2006/main">
            <a:off x="419100" y="3124200"/>
            <a:ext cx="5334000" cy="914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l">
              <a:spcBef>
                <a:spcPts val="0"/>
              </a:spcBef>
              <a:spcAft>
                <a:spcPts val="0"/>
              </a:spcAft>
              <a:buNone/>
            </a:pPr>
            <a:r>
              <a:rPr sz="2100" b="0">
                <a:solidFill>
                  <a:srgbClr val="6D6A63"/>
                </a:solidFill>
                <a:latin typeface="Arial"/>
                <a:ea typeface="Arial"/>
                <a:cs typeface="Arial"/>
              </a:rPr>
              <a:t>Save once. Understand once.</a:t>
            </a:r>
          </a:p>
          <a:p xmlns:a="http://schemas.openxmlformats.org/drawingml/2006/main">
            <a:pPr marL="0" marR="0" lvl="0" indent="0" algn="l">
              <a:spcBef>
                <a:spcPts val="0"/>
              </a:spcBef>
              <a:spcAft>
                <a:spcPts val="0"/>
              </a:spcAft>
              <a:buNone/>
            </a:pPr>
            <a:r>
              <a:rPr sz="2100" b="0">
                <a:solidFill>
                  <a:srgbClr val="6D6A63"/>
                </a:solidFill>
                <a:latin typeface="Arial"/>
                <a:ea typeface="Arial"/>
                <a:cs typeface="Arial"/>
              </a:rPr>
              <a:t>Retrieve whenever it matters.</a:t>
            </a:r>
          </a:p>
        </p:txBody>
      </p:sp>
      <p:sp>
        <p:nvSpPr>
          <p:cNvPr id="179" name="Google Shape;179;p8">
            <a:extLst xmlns:a="http://schemas.openxmlformats.org/drawingml/2006/main">
              <a:ext uri="{FF2B5EF4-FFF2-40B4-BE49-F238E27FC236}">
                <a16:creationId xmlns:a16="http://schemas.microsoft.com/office/drawing/2014/main" id="{3E60FA1F-B230-4E52-8DF1-A6F13CB77997}"/>
              </a:ext>
            </a:extLst>
          </p:cNvPr>
          <p:cNvSpPr>
            <a:spLocks xmlns:a="http://schemas.openxmlformats.org/drawingml/2006/main" noGrp="1"/>
          </p:cNvSpPr>
          <p:nvPr/>
        </p:nvSpPr>
        <p:spPr>
          <a:xfrm xmlns:a="http://schemas.openxmlformats.org/drawingml/2006/main">
            <a:off x="419100" y="4876800"/>
            <a:ext cx="5715000" cy="876300"/>
          </a:xfrm>
          <a:prstGeom xmlns:a="http://schemas.openxmlformats.org/drawingml/2006/main" prst="rect">
            <a:avLst/>
          </a:prstGeom>
          <a:solidFill xmlns:a="http://schemas.openxmlformats.org/drawingml/2006/main">
            <a:srgbClr val="F0EDE5"/>
          </a:solidFill>
          <a:ln xmlns:a="http://schemas.openxmlformats.org/drawingml/2006/main" w="14275" cmpd="sng">
            <a:solidFill>
              <a:srgbClr val="F0EDE5"/>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p>
        </p:txBody>
      </p:sp>
      <p:sp>
        <p:nvSpPr>
          <p:cNvPr id="180" name="Google Shape;180;p8">
            <a:extLst xmlns:a="http://schemas.openxmlformats.org/drawingml/2006/main">
              <a:ext uri="{FF2B5EF4-FFF2-40B4-BE49-F238E27FC236}">
                <a16:creationId xmlns:a16="http://schemas.microsoft.com/office/drawing/2014/main" id="{E4D112AA-0D1F-423C-8C56-DCF678811593}"/>
              </a:ext>
            </a:extLst>
          </p:cNvPr>
          <p:cNvSpPr>
            <a:spLocks xmlns:a="http://schemas.openxmlformats.org/drawingml/2006/main" noGrp="1"/>
          </p:cNvSpPr>
          <p:nvPr/>
        </p:nvSpPr>
        <p:spPr>
          <a:xfrm xmlns:a="http://schemas.openxmlformats.org/drawingml/2006/main">
            <a:off x="685800" y="5067300"/>
            <a:ext cx="5181600" cy="457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spcBef>
                <a:spcPts val="0"/>
              </a:spcBef>
              <a:spcAft>
                <a:spcPts val="0"/>
              </a:spcAft>
              <a:buNone/>
            </a:pPr>
            <a:r>
              <a:rPr sz="1489" b="1">
                <a:solidFill>
                  <a:srgbClr val="24231F"/>
                </a:solidFill>
                <a:latin typeface="Arial"/>
                <a:ea typeface="Arial"/>
                <a:cs typeface="Arial"/>
              </a:rPr>
              <a:t>Capture → Understand → Embed → Retrieve → Answer</a:t>
            </a:r>
          </a:p>
        </p:txBody>
      </p:sp>
      <p:sp>
        <p:nvSpPr>
          <p:cNvPr id="181" name="Google Shape;181;p8">
            <a:extLst xmlns:a="http://schemas.openxmlformats.org/drawingml/2006/main">
              <a:ext uri="{FF2B5EF4-FFF2-40B4-BE49-F238E27FC236}">
                <a16:creationId xmlns:a16="http://schemas.microsoft.com/office/drawing/2014/main" id="{61CA0835-49FE-4560-87E4-E67102C5E7BE}"/>
              </a:ext>
            </a:extLst>
          </p:cNvPr>
          <p:cNvSpPr>
            <a:spLocks xmlns:a="http://schemas.openxmlformats.org/drawingml/2006/main" noGrp="1"/>
          </p:cNvSpPr>
          <p:nvPr/>
        </p:nvSpPr>
        <p:spPr>
          <a:xfrm xmlns:a="http://schemas.openxmlformats.org/drawingml/2006/main">
            <a:off x="6400800" y="6286500"/>
            <a:ext cx="381000" cy="2095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r">
              <a:spcBef>
                <a:spcPts val="0"/>
              </a:spcBef>
              <a:spcAft>
                <a:spcPts val="0"/>
              </a:spcAft>
              <a:buNone/>
            </a:pPr>
            <a:r>
              <a:rPr sz="775" b="0">
                <a:solidFill>
                  <a:srgbClr val="6D6A63"/>
                </a:solidFill>
                <a:latin typeface="Arial"/>
                <a:ea typeface="Arial"/>
                <a:cs typeface="Arial"/>
              </a:rPr>
              <a:t>06</a:t>
            </a:r>
          </a:p>
        </p:txBody>
      </p:sp>
    </p:spTree>
    <p:extLst>
      <p:ext uri="{BB962C8B-B14F-4D97-AF65-F5344CB8AC3E}">
        <p14:creationId xmlns:p14="http://schemas.microsoft.com/office/powerpoint/2010/main" val="197496909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hatGP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2026-07-24T10:46:34.7480000Z</dcterms:created>
  <dcterms:modified xsi:type="dcterms:W3CDTF">2026-07-24T10:46:34.7480000Z</dcterms:modified>
</coreProperties>
</file>