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86a62c6ccc480b" /><Relationship Type="http://schemas.openxmlformats.org/officeDocument/2006/relationships/extended-properties" Target="/docProps/app.xml" Id="Rfea2e17be72d4959" /><Relationship Type="http://schemas.openxmlformats.org/officeDocument/2006/relationships/officeDocument" Target="/ppt/presentation.xml" Id="R54a01a02b3824ea1" /></Relationships>
</file>

<file path=ppt/presentation.xml><?xml version="1.0" encoding="utf-8"?>
<p:presentation xmlns:p="http://schemas.openxmlformats.org/presentationml/2006/main">
  <p:sldMasterIdLst>
    <p:sldMasterId xmlns:r="http://schemas.openxmlformats.org/officeDocument/2006/relationships" id="2147483648" r:id="Re4d3e52dce494bcb"/>
  </p:sldMasterIdLst>
  <p:notesMasterIdLst>
    <p:notesMasterId xmlns:r="http://schemas.openxmlformats.org/officeDocument/2006/relationships" r:id="R61cf4695205c427b"/>
  </p:notesMasterIdLst>
  <p:sldIdLst>
    <p:sldId xmlns:r="http://schemas.openxmlformats.org/officeDocument/2006/relationships" id="256" r:id="R7ebff5b2fcc54683"/>
    <p:sldId xmlns:r="http://schemas.openxmlformats.org/officeDocument/2006/relationships" id="257" r:id="R1f89407a176c4331"/>
    <p:sldId xmlns:r="http://schemas.openxmlformats.org/officeDocument/2006/relationships" id="258" r:id="Re1b1994fefe444c7"/>
    <p:sldId xmlns:r="http://schemas.openxmlformats.org/officeDocument/2006/relationships" id="259" r:id="R03ee38d025f24d00"/>
    <p:sldId xmlns:r="http://schemas.openxmlformats.org/officeDocument/2006/relationships" id="260" r:id="R7f0e4a201b454b90"/>
    <p:sldId xmlns:r="http://schemas.openxmlformats.org/officeDocument/2006/relationships" id="261" r:id="R4eff9f34ef8848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89193f568e4a15" /><Relationship Type="http://schemas.openxmlformats.org/officeDocument/2006/relationships/slideMaster" Target="/ppt/slideMasters/slideMaster1.xml" Id="Re4d3e52dce494bcb" /><Relationship Type="http://schemas.openxmlformats.org/officeDocument/2006/relationships/notesMaster" Target="/ppt/notesMasters/notesMaster1.xml" Id="R61cf4695205c427b" /><Relationship Type="http://schemas.openxmlformats.org/officeDocument/2006/relationships/presProps" Target="/ppt/presProps.xml" Id="R173252c5d8284d2b" /><Relationship Type="http://schemas.openxmlformats.org/officeDocument/2006/relationships/tableStyles" Target="/ppt/tableStyles.xml" Id="R5999fb96a80443e1" /><Relationship Type="http://schemas.openxmlformats.org/officeDocument/2006/relationships/slide" Target="/ppt/slides/slide1.xml" Id="R7ebff5b2fcc54683" /><Relationship Type="http://schemas.openxmlformats.org/officeDocument/2006/relationships/slide" Target="/ppt/slides/slide2.xml" Id="R1f89407a176c4331" /><Relationship Type="http://schemas.openxmlformats.org/officeDocument/2006/relationships/slide" Target="/ppt/slides/slide3.xml" Id="Re1b1994fefe444c7" /><Relationship Type="http://schemas.openxmlformats.org/officeDocument/2006/relationships/slide" Target="/ppt/slides/slide4.xml" Id="R03ee38d025f24d00" /><Relationship Type="http://schemas.openxmlformats.org/officeDocument/2006/relationships/slide" Target="/ppt/slides/slide5.xml" Id="R7f0e4a201b454b90" /><Relationship Type="http://schemas.openxmlformats.org/officeDocument/2006/relationships/slide" Target="/ppt/slides/slide6.xml" Id="R4eff9f34ef8848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634fadea3e4a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656fc8f5fd46a9" /><Relationship Type="http://schemas.openxmlformats.org/officeDocument/2006/relationships/notesMaster" Target="/ppt/notesMasters/notesMaster1.xml" Id="Rad11c8b90e2648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27c0d353f64687" /><Relationship Type="http://schemas.openxmlformats.org/officeDocument/2006/relationships/notesMaster" Target="/ppt/notesMasters/notesMaster1.xml" Id="Rc289e867292e47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8a33e6740841dc" /><Relationship Type="http://schemas.openxmlformats.org/officeDocument/2006/relationships/notesMaster" Target="/ppt/notesMasters/notesMaster1.xml" Id="R954bd8d692b440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b415561b46460d" /><Relationship Type="http://schemas.openxmlformats.org/officeDocument/2006/relationships/notesMaster" Target="/ppt/notesMasters/notesMaster1.xml" Id="R9b5b69782edd44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d78c4db8184bbb" /><Relationship Type="http://schemas.openxmlformats.org/officeDocument/2006/relationships/notesMaster" Target="/ppt/notesMasters/notesMaster1.xml" Id="R92eabd21ac2140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8055a896714767" /><Relationship Type="http://schemas.openxmlformats.org/officeDocument/2006/relationships/notesMaster" Target="/ppt/notesMasters/notesMaster1.xml" Id="Red783fa6a33348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Impulse solves a simple problem: useful ideas are scattered across saved links. The application turns those sources into structured, searchable memory and grounded answers.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rPr sz="1200"/>
              <a:t>[Sources]</a:t>
            </a:r>
          </a:p>
          <a:p xmlns:a="http://schemas.openxmlformats.org/drawingml/2006/main">
            <a:pPr marL="0" lvl="0" indent="0" algn="l">
              <a:spcBef>
                <a:spcPts val="0"/>
              </a:spcBef>
              <a:spcAft>
                <a:spcPts val="0"/>
              </a:spcAft>
              <a:buNone/>
            </a:pPr>
            <a:r>
              <a:rPr sz="1200"/>
              <a:t>- Generated visual: OpenAI ImageGen; prompt recorded in task history.</a:t>
            </a:r>
          </a:p>
          <a:p xmlns:a="http://schemas.openxmlformats.org/drawingml/2006/main">
            <a:pPr marL="0" lvl="0" indent="0" algn="l">
              <a:spcBef>
                <a:spcPts val="0"/>
              </a:spcBef>
              <a:spcAft>
                <a:spcPts val="0"/>
              </a:spcAft>
              <a:buNone/>
            </a:pPr>
            <a:r>
              <a:rPr sz="1200"/>
              <a:t/>
            </a:r>
          </a:p>
          <a:p xmlns:a="http://schemas.openxmlformats.org/drawingml/2006/main">
            <a:pPr marL="0" lvl="0" indent="0" algn="l">
              <a:spcBef>
                <a:spcPts val="0"/>
              </a:spcBef>
              <a:spcAft>
                <a:spcPts val="0"/>
              </a:spcAft>
              <a:buNone/>
            </a:pPr>
            <a:r>
              <a:rPr sz="1200"/>
              <a:t>[Brand Asset]</a:t>
            </a:r>
          </a:p>
          <a:p xmlns:a="http://schemas.openxmlformats.org/drawingml/2006/main">
            <a:pPr marL="0" lvl="0" indent="0" algn="l">
              <a:spcBef>
                <a:spcPts val="0"/>
              </a:spcBef>
              <a:spcAft>
                <a:spcPts val="0"/>
              </a:spcAft>
              <a:buNone/>
            </a:pPr>
            <a:r>
              <a:rPr sz="1200"/>
              <a:t>- Official Impulse app icon from apps/frontend/app/src/main/res/drawable/ic_launcher_background.xml and ic_launcher_foreground.xml.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Saving a URL alone does not preserve meaning. The extension captures content, the Android application provides the user experience, and both rely on the same backend memory pipeline.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rPr sz="1200"/>
              <a:t>[Sources]</a:t>
            </a:r>
          </a:p>
          <a:p xmlns:a="http://schemas.openxmlformats.org/drawingml/2006/main">
            <a:pPr marL="0" lvl="0" indent="0" algn="l">
              <a:spcBef>
                <a:spcPts val="0"/>
              </a:spcBef>
              <a:spcAft>
                <a:spcPts val="0"/>
              </a:spcAft>
              <a:buNone/>
            </a:pPr>
            <a:r>
              <a:rPr sz="1200"/>
              <a:t>- docs/01-product-overview.md</a:t>
            </a:r>
          </a:p>
          <a:p xmlns:a="http://schemas.openxmlformats.org/drawingml/2006/main">
            <a:pPr marL="0" lvl="0" indent="0" algn="l">
              <a:spcBef>
                <a:spcPts val="0"/>
              </a:spcBef>
              <a:spcAft>
                <a:spcPts val="0"/>
              </a:spcAft>
              <a:buNone/>
            </a:pPr>
            <a:r>
              <a:rPr sz="1200"/>
              <a:t>- docs/10-browser-extension.md</a:t>
            </a:r>
          </a:p>
          <a:p xmlns:a="http://schemas.openxmlformats.org/drawingml/2006/main">
            <a:pPr marL="0" lvl="0" indent="0" algn="l">
              <a:spcBef>
                <a:spcPts val="0"/>
              </a:spcBef>
              <a:spcAft>
                <a:spcPts val="0"/>
              </a:spcAft>
              <a:buNone/>
            </a:pPr>
            <a:r>
              <a:rPr sz="1200"/>
              <a:t>- apps/frontend/app/src/main/java/com/impulse/ui/main/MainScreen.kt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client never talks directly to the database or Gemini. Spring Boot validates the request, calls the FastAPI AI service, validates the returned 768-value embedding, and saves the memory.</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rPr sz="1200"/>
              <a:t>[Sources]</a:t>
            </a:r>
          </a:p>
          <a:p xmlns:a="http://schemas.openxmlformats.org/drawingml/2006/main">
            <a:pPr marL="0" lvl="0" indent="0" algn="l">
              <a:spcBef>
                <a:spcPts val="0"/>
              </a:spcBef>
              <a:spcAft>
                <a:spcPts val="0"/>
              </a:spcAft>
              <a:buNone/>
            </a:pPr>
            <a:r>
              <a:rPr sz="1200"/>
              <a:t>- apps/extension/utils/extractors.js</a:t>
            </a:r>
          </a:p>
          <a:p xmlns:a="http://schemas.openxmlformats.org/drawingml/2006/main">
            <a:pPr marL="0" lvl="0" indent="0" algn="l">
              <a:spcBef>
                <a:spcPts val="0"/>
              </a:spcBef>
              <a:spcAft>
                <a:spcPts val="0"/>
              </a:spcAft>
              <a:buNone/>
            </a:pPr>
            <a:r>
              <a:rPr sz="1200"/>
              <a:t>- apps/backend/src/main/kotlin/com/impulse/backend/memory/MemoryService.kt</a:t>
            </a:r>
          </a:p>
          <a:p xmlns:a="http://schemas.openxmlformats.org/drawingml/2006/main">
            <a:pPr marL="0" lvl="0" indent="0" algn="l">
              <a:spcBef>
                <a:spcPts val="0"/>
              </a:spcBef>
              <a:spcAft>
                <a:spcPts val="0"/>
              </a:spcAft>
              <a:buNone/>
            </a:pPr>
            <a:r>
              <a:rPr sz="1200"/>
              <a:t>- apps/backend/src/main/kotlin/com/impulse/backend/memory/AiMemoryProcessor.kt</a:t>
            </a:r>
          </a:p>
          <a:p xmlns:a="http://schemas.openxmlformats.org/drawingml/2006/main">
            <a:pPr marL="0" lvl="0" indent="0" algn="l">
              <a:spcBef>
                <a:spcPts val="0"/>
              </a:spcBef>
              <a:spcAft>
                <a:spcPts val="0"/>
              </a:spcAft>
              <a:buNone/>
            </a:pPr>
            <a:r>
              <a:rPr sz="1200"/>
              <a:t>- apps/ai-service/memory_processor.py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first LLM converts source content into reusable memory. At query time the question is embedded, hybrid retrieval ranks the user's memories, and only the best six are sent to the final LLM for a grounded response.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rPr sz="1200"/>
              <a:t>[Sources]</a:t>
            </a:r>
          </a:p>
          <a:p xmlns:a="http://schemas.openxmlformats.org/drawingml/2006/main">
            <a:pPr marL="0" lvl="0" indent="0" algn="l">
              <a:spcBef>
                <a:spcPts val="0"/>
              </a:spcBef>
              <a:spcAft>
                <a:spcPts val="0"/>
              </a:spcAft>
              <a:buNone/>
            </a:pPr>
            <a:r>
              <a:rPr sz="1200"/>
              <a:t>- docs/04-rag-design.md</a:t>
            </a:r>
          </a:p>
          <a:p xmlns:a="http://schemas.openxmlformats.org/drawingml/2006/main">
            <a:pPr marL="0" lvl="0" indent="0" algn="l">
              <a:spcBef>
                <a:spcPts val="0"/>
              </a:spcBef>
              <a:spcAft>
                <a:spcPts val="0"/>
              </a:spcAft>
              <a:buNone/>
            </a:pPr>
            <a:r>
              <a:rPr sz="1200"/>
              <a:t>- apps/backend/src/main/kotlin/com/impulse/backend/planning/MemoryRetrievalService.kt</a:t>
            </a:r>
          </a:p>
          <a:p xmlns:a="http://schemas.openxmlformats.org/drawingml/2006/main">
            <a:pPr marL="0" lvl="0" indent="0" algn="l">
              <a:spcBef>
                <a:spcPts val="0"/>
              </a:spcBef>
              <a:spcAft>
                <a:spcPts val="0"/>
              </a:spcAft>
              <a:buNone/>
            </a:pPr>
            <a:r>
              <a:rPr sz="1200"/>
              <a:t>- apps/backend/src/main/kotlin/com/impulse/backend/planning/PlanningService.kt</a:t>
            </a:r>
          </a:p>
          <a:p xmlns:a="http://schemas.openxmlformats.org/drawingml/2006/main">
            <a:pPr marL="0" lvl="0" indent="0" algn="l">
              <a:spcBef>
                <a:spcPts val="0"/>
              </a:spcBef>
              <a:spcAft>
                <a:spcPts val="0"/>
              </a:spcAft>
              <a:buNone/>
            </a:pPr>
            <a:r>
              <a:rPr sz="1200"/>
              <a:t>- apps/ai-service/memory_processor.py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Future work adds audio and frame analysis, more approved sources, asynchronous processing, faster vector search, reranking, and stronger user controls. The core flow remains stable: understand, store, retrieve, then generate.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rPr sz="1200"/>
              <a:t>[Sources]</a:t>
            </a:r>
          </a:p>
          <a:p xmlns:a="http://schemas.openxmlformats.org/drawingml/2006/main">
            <a:pPr marL="0" lvl="0" indent="0" algn="l">
              <a:spcBef>
                <a:spcPts val="0"/>
              </a:spcBef>
              <a:spcAft>
                <a:spcPts val="0"/>
              </a:spcAft>
              <a:buNone/>
            </a:pPr>
            <a:r>
              <a:rPr sz="1200"/>
              <a:t>- docs/11-creatorbrain-impulse-progress.md</a:t>
            </a:r>
          </a:p>
          <a:p xmlns:a="http://schemas.openxmlformats.org/drawingml/2006/main">
            <a:pPr marL="0" lvl="0" indent="0" algn="l">
              <a:spcBef>
                <a:spcPts val="0"/>
              </a:spcBef>
              <a:spcAft>
                <a:spcPts val="0"/>
              </a:spcAft>
              <a:buNone/>
            </a:pPr>
            <a:r>
              <a:rPr sz="1200"/>
              <a:t>- docs/08-link-ingestion-plan.md</a:t>
            </a:r>
          </a:p>
          <a:p xmlns:a="http://schemas.openxmlformats.org/drawingml/2006/main">
            <a:pPr marL="0" lvl="0" indent="0" algn="l">
              <a:spcBef>
                <a:spcPts val="0"/>
              </a:spcBef>
              <a:spcAft>
                <a:spcPts val="0"/>
              </a:spcAft>
              <a:buNone/>
            </a:pPr>
            <a:r>
              <a:rPr sz="1200"/>
              <a:t>- docs/04-rag-design.md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Impulse creates a reusable personal knowledge layer from content the user already values. Questions and feedback are welcome.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rPr sz="1200"/>
              <a:t>[Sources]</a:t>
            </a:r>
          </a:p>
          <a:p xmlns:a="http://schemas.openxmlformats.org/drawingml/2006/main">
            <a:pPr marL="0" lvl="0" indent="0" algn="l">
              <a:spcBef>
                <a:spcPts val="0"/>
              </a:spcBef>
              <a:spcAft>
                <a:spcPts val="0"/>
              </a:spcAft>
              <a:buNone/>
            </a:pPr>
            <a:r>
              <a:rPr sz="1200"/>
              <a:t>- Generated visual: OpenAI ImageGen; prompt recorded in task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7befbf6e384ed5"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f302d9f34e4d93" /><Relationship Type="http://schemas.openxmlformats.org/officeDocument/2006/relationships/slideLayout" Target="/ppt/slideLayouts/slideLayout1.xml" Id="R2657c8ab94a54eac"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2657c8ab94a54ea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def2269c6d4a19" /><Relationship Type="http://schemas.openxmlformats.org/officeDocument/2006/relationships/image" Target="/ppt/media/image.png" Id="Rc606e6478cdc43be" /><Relationship Type="http://schemas.openxmlformats.org/officeDocument/2006/relationships/image" Target="/ppt/media/image2.png" Id="R34d31f1e8d9849a7" /><Relationship Type="http://schemas.openxmlformats.org/officeDocument/2006/relationships/image" Target="/ppt/media/image.svg" Id="Ra087b422f9c94206" /><Relationship Type="http://schemas.openxmlformats.org/officeDocument/2006/relationships/notesSlide" Target="/ppt/notesSlides/notesSlide1.xml" Id="Rdd87ca31c4d948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0e284c1357d4ba5" /><Relationship Type="http://schemas.openxmlformats.org/officeDocument/2006/relationships/notesSlide" Target="/ppt/notesSlides/notesSlide2.xml" Id="R89ef27661c8249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81db7c44c24880" /><Relationship Type="http://schemas.openxmlformats.org/officeDocument/2006/relationships/notesSlide" Target="/ppt/notesSlides/notesSlide3.xml" Id="R8cdb6a9d4cc243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beb23acd7ce418d" /><Relationship Type="http://schemas.openxmlformats.org/officeDocument/2006/relationships/notesSlide" Target="/ppt/notesSlides/notesSlide4.xml" Id="R4e1eda24072d40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9704900969d4e58" /><Relationship Type="http://schemas.openxmlformats.org/officeDocument/2006/relationships/notesSlide" Target="/ppt/notesSlides/notesSlide5.xml" Id="R274dec2c5a5243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36ca94353e4996" /><Relationship Type="http://schemas.openxmlformats.org/officeDocument/2006/relationships/image" Target="/ppt/media/image.png" Id="R93346cf4ec9d4371" /><Relationship Type="http://schemas.openxmlformats.org/officeDocument/2006/relationships/notesSlide" Target="/ppt/notesSlides/notesSlide6.xml" Id="R3924e3bd848f4ed7" /></Relationships>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25" name="Google Shape;16;p3"/>
          <p:cNvPicPr>
            <a:picLocks xmlns:a="http://schemas.openxmlformats.org/drawingml/2006/main" noChangeAspect="1"/>
          </p:cNvPicPr>
          <p:nvPr/>
        </p:nvPicPr>
        <p:blipFill rotWithShape="1">
          <a:blip xmlns:r="http://schemas.openxmlformats.org/officeDocument/2006/relationships" xmlns:a="http://schemas.openxmlformats.org/drawingml/2006/main" r:embed="Rc606e6478cdc43be">
            <a:alphaModFix/>
          </a:blip>
          <a:srcRect xmlns:a="http://schemas.openxmlformats.org/drawingml/2006/main" l="21860" t="0" r="21860" b="0"/>
          <a:stretch xmlns:a="http://schemas.openxmlformats.org/drawingml/2006/main"/>
        </p:blipFill>
        <p:spPr>
          <a:xfrm xmlns:a="http://schemas.openxmlformats.org/drawingml/2006/main">
            <a:off x="5334000" y="0"/>
            <a:ext cx="6858000" cy="6858000"/>
          </a:xfrm>
          <a:prstGeom xmlns:a="http://schemas.openxmlformats.org/drawingml/2006/main" prst="rect">
            <a:avLst/>
          </a:prstGeom>
          <a:ln xmlns:a="http://schemas.openxmlformats.org/drawingml/2006/main">
            <a:noFill/>
          </a:ln>
        </p:spPr>
      </p:pic>
      <p:sp>
        <p:nvSpPr>
          <p:cNvPr id="17" name="Google Shape;17;p3">
            <a:extLst xmlns:a="http://schemas.openxmlformats.org/drawingml/2006/main">
              <a:ext uri="{FF2B5EF4-FFF2-40B4-BE49-F238E27FC236}">
                <a16:creationId xmlns:a16="http://schemas.microsoft.com/office/drawing/2014/main" id="{175FF588-9BCA-4876-8DDA-5356E4E176CC}"/>
              </a:ext>
            </a:extLst>
          </p:cNvPr>
          <p:cNvSpPr>
            <a:spLocks xmlns:a="http://schemas.openxmlformats.org/drawingml/2006/main" noGrp="1"/>
          </p:cNvSpPr>
          <p:nvPr/>
        </p:nvSpPr>
        <p:spPr>
          <a:xfrm xmlns:a="http://schemas.openxmlformats.org/drawingml/2006/main">
            <a:off x="838200" y="457200"/>
            <a:ext cx="43434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75" b="1">
                <a:solidFill>
                  <a:srgbClr val="CC4824"/>
                </a:solidFill>
                <a:latin typeface="Arial"/>
                <a:ea typeface="Arial"/>
                <a:cs typeface="Arial"/>
              </a:rPr>
              <a:t>IMPULSE • PERSONAL KNOWLEDGE + PLANNING</a:t>
            </a:r>
          </a:p>
        </p:txBody>
      </p:sp>
      <p:sp>
        <p:nvSpPr>
          <p:cNvPr id="18" name="Google Shape;18;p3">
            <a:extLst xmlns:a="http://schemas.openxmlformats.org/drawingml/2006/main">
              <a:ext uri="{FF2B5EF4-FFF2-40B4-BE49-F238E27FC236}">
                <a16:creationId xmlns:a16="http://schemas.microsoft.com/office/drawing/2014/main" id="{EA75EB4B-DE39-4D20-8734-FA74D30FF18F}"/>
              </a:ext>
            </a:extLst>
          </p:cNvPr>
          <p:cNvSpPr>
            <a:spLocks xmlns:a="http://schemas.openxmlformats.org/drawingml/2006/main" noGrp="1"/>
          </p:cNvSpPr>
          <p:nvPr/>
        </p:nvSpPr>
        <p:spPr>
          <a:xfrm xmlns:a="http://schemas.openxmlformats.org/drawingml/2006/main">
            <a:off x="419100" y="1466850"/>
            <a:ext cx="4476750" cy="781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4525" b="0">
                <a:solidFill>
                  <a:srgbClr val="24231F"/>
                </a:solidFill>
                <a:latin typeface="Georgia"/>
                <a:ea typeface="Georgia"/>
                <a:cs typeface="Georgia"/>
              </a:rPr>
              <a:t>Impulse</a:t>
            </a:r>
          </a:p>
        </p:txBody>
      </p:sp>
      <p:sp>
        <p:nvSpPr>
          <p:cNvPr id="19" name="Google Shape;19;p3">
            <a:extLst xmlns:a="http://schemas.openxmlformats.org/drawingml/2006/main">
              <a:ext uri="{FF2B5EF4-FFF2-40B4-BE49-F238E27FC236}">
                <a16:creationId xmlns:a16="http://schemas.microsoft.com/office/drawing/2014/main" id="{11F9B037-9E09-4846-B71E-ED6C0CF8D27C}"/>
              </a:ext>
            </a:extLst>
          </p:cNvPr>
          <p:cNvSpPr>
            <a:spLocks xmlns:a="http://schemas.openxmlformats.org/drawingml/2006/main" noGrp="1"/>
          </p:cNvSpPr>
          <p:nvPr/>
        </p:nvSpPr>
        <p:spPr>
          <a:xfrm xmlns:a="http://schemas.openxmlformats.org/drawingml/2006/main">
            <a:off x="419100" y="2286000"/>
            <a:ext cx="47625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2700" b="0">
                <a:solidFill>
                  <a:srgbClr val="24231F"/>
                </a:solidFill>
                <a:latin typeface="Georgia"/>
                <a:ea typeface="Georgia"/>
                <a:cs typeface="Georgia"/>
              </a:rPr>
              <a:t>Save once. Understand once.</a:t>
            </a:r>
          </a:p>
          <a:p xmlns:a="http://schemas.openxmlformats.org/drawingml/2006/main">
            <a:pPr marL="0" marR="0" lvl="0" indent="0" algn="l">
              <a:spcBef>
                <a:spcPts val="0"/>
              </a:spcBef>
              <a:spcAft>
                <a:spcPts val="0"/>
              </a:spcAft>
              <a:buNone/>
            </a:pPr>
            <a:r>
              <a:rPr sz="2700" b="0">
                <a:solidFill>
                  <a:srgbClr val="24231F"/>
                </a:solidFill>
                <a:latin typeface="Georgia"/>
                <a:ea typeface="Georgia"/>
                <a:cs typeface="Georgia"/>
              </a:rPr>
              <a:t>Use it when it matters.</a:t>
            </a:r>
          </a:p>
        </p:txBody>
      </p:sp>
      <p:sp>
        <p:nvSpPr>
          <p:cNvPr id="20" name="Google Shape;20;p3">
            <a:extLst xmlns:a="http://schemas.openxmlformats.org/drawingml/2006/main">
              <a:ext uri="{FF2B5EF4-FFF2-40B4-BE49-F238E27FC236}">
                <a16:creationId xmlns:a16="http://schemas.microsoft.com/office/drawing/2014/main" id="{796AF7F8-6E77-456C-B2B3-B884243255B0}"/>
              </a:ext>
            </a:extLst>
          </p:cNvPr>
          <p:cNvSpPr>
            <a:spLocks xmlns:a="http://schemas.openxmlformats.org/drawingml/2006/main" noGrp="1"/>
          </p:cNvSpPr>
          <p:nvPr/>
        </p:nvSpPr>
        <p:spPr>
          <a:xfrm xmlns:a="http://schemas.openxmlformats.org/drawingml/2006/main">
            <a:off x="419100" y="3638550"/>
            <a:ext cx="46672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650" b="0">
                <a:solidFill>
                  <a:srgbClr val="6D6A63"/>
                </a:solidFill>
                <a:latin typeface="Arial"/>
                <a:ea typeface="Arial"/>
                <a:cs typeface="Arial"/>
              </a:rPr>
              <a:t>Saved videos, posts and web pages become searchable memories, grounded answers and practical plans.</a:t>
            </a:r>
          </a:p>
        </p:txBody>
      </p:sp>
      <p:sp>
        <p:nvSpPr>
          <p:cNvPr id="21" name="Google Shape;21;p3">
            <a:extLst xmlns:a="http://schemas.openxmlformats.org/drawingml/2006/main">
              <a:ext uri="{FF2B5EF4-FFF2-40B4-BE49-F238E27FC236}">
                <a16:creationId xmlns:a16="http://schemas.microsoft.com/office/drawing/2014/main" id="{9130BBA9-01D0-461A-B9B0-6E7AA1B35A81}"/>
              </a:ext>
            </a:extLst>
          </p:cNvPr>
          <p:cNvSpPr>
            <a:spLocks xmlns:a="http://schemas.openxmlformats.org/drawingml/2006/main" noGrp="1"/>
          </p:cNvSpPr>
          <p:nvPr/>
        </p:nvSpPr>
        <p:spPr>
          <a:xfrm xmlns:a="http://schemas.openxmlformats.org/drawingml/2006/main">
            <a:off x="419100" y="5219700"/>
            <a:ext cx="857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900" b="1">
                <a:solidFill>
                  <a:srgbClr val="CC4824"/>
                </a:solidFill>
                <a:latin typeface="Arial"/>
                <a:ea typeface="Arial"/>
                <a:cs typeface="Arial"/>
              </a:rPr>
              <a:t>TEAM</a:t>
            </a:r>
          </a:p>
        </p:txBody>
      </p:sp>
      <p:sp>
        <p:nvSpPr>
          <p:cNvPr id="22" name="Google Shape;22;p3">
            <a:extLst xmlns:a="http://schemas.openxmlformats.org/drawingml/2006/main">
              <a:ext uri="{FF2B5EF4-FFF2-40B4-BE49-F238E27FC236}">
                <a16:creationId xmlns:a16="http://schemas.microsoft.com/office/drawing/2014/main" id="{7734E9DB-CB62-457B-8DB8-4D94C7FE3A31}"/>
              </a:ext>
            </a:extLst>
          </p:cNvPr>
          <p:cNvSpPr>
            <a:spLocks xmlns:a="http://schemas.openxmlformats.org/drawingml/2006/main" noGrp="1"/>
          </p:cNvSpPr>
          <p:nvPr/>
        </p:nvSpPr>
        <p:spPr>
          <a:xfrm xmlns:a="http://schemas.openxmlformats.org/drawingml/2006/main">
            <a:off x="419100" y="5486400"/>
            <a:ext cx="46672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75" b="1">
                <a:solidFill>
                  <a:srgbClr val="24231F"/>
                </a:solidFill>
                <a:latin typeface="Arial"/>
                <a:ea typeface="Arial"/>
                <a:cs typeface="Arial"/>
              </a:rPr>
              <a:t>Kiran Kumar Sahoo  •  Apurvaa Avinandita  •  Jagadheshvar B P</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34d31f1e8d9849a7">
            <a:extLst>
              <a:ext uri="{96DAC541-7B7A-43D3-8B79-37D633B846F1}">
                <asvg:svgBlip xmlns:asvg="http://schemas.microsoft.com/office/drawing/2016/SVG/main" r:embed="Ra087b422f9c94206"/>
              </a:ext>
            </a:extLst>
          </a:blip>
          <a:stretch xmlns:a="http://schemas.openxmlformats.org/drawingml/2006/main"/>
        </p:blipFill>
        <p:spPr>
          <a:xfrm xmlns:a="http://schemas.openxmlformats.org/drawingml/2006/main">
            <a:off x="419100" y="438150"/>
            <a:ext cx="342900" cy="342900"/>
          </a:xfrm>
          <a:prstGeom xmlns:a="http://schemas.openxmlformats.org/drawingml/2006/main" prst="rect">
            <a:avLst/>
          </a:prstGeom>
        </p:spPr>
      </p:pic>
    </p:spTree>
    <p:extLst>
      <p:ext uri="{BB962C8B-B14F-4D97-AF65-F5344CB8AC3E}">
        <p14:creationId xmlns:p14="http://schemas.microsoft.com/office/powerpoint/2010/main" val="1726465767"/>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E9968BF7-40F0-4D98-A1E4-2FF195594584}"/>
              </a:ext>
            </a:extLst>
          </p:cNvPr>
          <p:cNvSpPr>
            <a:spLocks xmlns:a="http://schemas.openxmlformats.org/drawingml/2006/main" noGrp="1"/>
          </p:cNvSpPr>
          <p:nvPr/>
        </p:nvSpPr>
        <p:spPr>
          <a:xfrm xmlns:a="http://schemas.openxmlformats.org/drawingml/2006/main">
            <a:off x="400050" y="266700"/>
            <a:ext cx="109537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2850" b="0">
                <a:solidFill>
                  <a:srgbClr val="24231F"/>
                </a:solidFill>
                <a:latin typeface="Georgia"/>
                <a:ea typeface="Georgia"/>
                <a:cs typeface="Georgia"/>
              </a:rPr>
              <a:t>A saved link is not yet useful knowledge</a:t>
            </a:r>
          </a:p>
        </p:txBody>
      </p:sp>
      <p:sp>
        <p:nvSpPr>
          <p:cNvPr id="29" name="Google Shape;29;p4">
            <a:extLst xmlns:a="http://schemas.openxmlformats.org/drawingml/2006/main">
              <a:ext uri="{FF2B5EF4-FFF2-40B4-BE49-F238E27FC236}">
                <a16:creationId xmlns:a16="http://schemas.microsoft.com/office/drawing/2014/main" id="{97BF6277-FBE1-405C-856E-248742D7274E}"/>
              </a:ext>
            </a:extLst>
          </p:cNvPr>
          <p:cNvSpPr>
            <a:spLocks xmlns:a="http://schemas.openxmlformats.org/drawingml/2006/main" noGrp="1"/>
          </p:cNvSpPr>
          <p:nvPr/>
        </p:nvSpPr>
        <p:spPr>
          <a:xfrm xmlns:a="http://schemas.openxmlformats.org/drawingml/2006/main">
            <a:off x="11315700" y="6286500"/>
            <a:ext cx="476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spcBef>
                <a:spcPts val="0"/>
              </a:spcBef>
              <a:spcAft>
                <a:spcPts val="0"/>
              </a:spcAft>
              <a:buNone/>
            </a:pPr>
            <a:r>
              <a:rPr sz="775" b="0">
                <a:solidFill>
                  <a:srgbClr val="6D6A63"/>
                </a:solidFill>
                <a:latin typeface="Arial"/>
                <a:ea typeface="Arial"/>
                <a:cs typeface="Arial"/>
              </a:rPr>
              <a:t>02</a:t>
            </a:r>
          </a:p>
        </p:txBody>
      </p:sp>
      <p:sp>
        <p:nvSpPr>
          <p:cNvPr id="30" name="Google Shape;30;p4">
            <a:extLst xmlns:a="http://schemas.openxmlformats.org/drawingml/2006/main">
              <a:ext uri="{FF2B5EF4-FFF2-40B4-BE49-F238E27FC236}">
                <a16:creationId xmlns:a16="http://schemas.microsoft.com/office/drawing/2014/main" id="{305D6997-47F5-4E8A-B640-8DAF1AD39770}"/>
              </a:ext>
            </a:extLst>
          </p:cNvPr>
          <p:cNvSpPr>
            <a:spLocks xmlns:a="http://schemas.openxmlformats.org/drawingml/2006/main" noGrp="1"/>
          </p:cNvSpPr>
          <p:nvPr/>
        </p:nvSpPr>
        <p:spPr>
          <a:xfrm xmlns:a="http://schemas.openxmlformats.org/drawingml/2006/main">
            <a:off x="419100" y="1162050"/>
            <a:ext cx="23812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6D6A63"/>
                </a:solidFill>
                <a:latin typeface="Arial"/>
                <a:ea typeface="Arial"/>
                <a:cs typeface="Arial"/>
              </a:rPr>
              <a:t>Customer problem</a:t>
            </a:r>
          </a:p>
        </p:txBody>
      </p:sp>
      <p:sp>
        <p:nvSpPr>
          <p:cNvPr id="31" name="Google Shape;31;p4">
            <a:extLst xmlns:a="http://schemas.openxmlformats.org/drawingml/2006/main">
              <a:ext uri="{FF2B5EF4-FFF2-40B4-BE49-F238E27FC236}">
                <a16:creationId xmlns:a16="http://schemas.microsoft.com/office/drawing/2014/main" id="{5010970A-498D-4990-A303-4A59D4489A3F}"/>
              </a:ext>
            </a:extLst>
          </p:cNvPr>
          <p:cNvSpPr>
            <a:spLocks xmlns:a="http://schemas.openxmlformats.org/drawingml/2006/main" noGrp="1"/>
          </p:cNvSpPr>
          <p:nvPr/>
        </p:nvSpPr>
        <p:spPr>
          <a:xfrm xmlns:a="http://schemas.openxmlformats.org/drawingml/2006/main">
            <a:off x="419100" y="1600200"/>
            <a:ext cx="4572000" cy="1809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2625" b="1">
                <a:solidFill>
                  <a:srgbClr val="24231F"/>
                </a:solidFill>
                <a:latin typeface="Arial"/>
                <a:ea typeface="Arial"/>
                <a:cs typeface="Arial"/>
              </a:rPr>
              <a:t>Links are fragmented.</a:t>
            </a:r>
          </a:p>
          <a:p xmlns:a="http://schemas.openxmlformats.org/drawingml/2006/main">
            <a:pPr marL="0" marR="0" lvl="0" indent="0" algn="l">
              <a:spcBef>
                <a:spcPts val="0"/>
              </a:spcBef>
              <a:spcAft>
                <a:spcPts val="0"/>
              </a:spcAft>
              <a:buNone/>
            </a:pPr>
            <a:r>
              <a:rPr sz="2625" b="1">
                <a:solidFill>
                  <a:srgbClr val="24231F"/>
                </a:solidFill>
                <a:latin typeface="Arial"/>
                <a:ea typeface="Arial"/>
                <a:cs typeface="Arial"/>
              </a:rPr>
              <a:t>Details are forgotten.</a:t>
            </a:r>
          </a:p>
          <a:p xmlns:a="http://schemas.openxmlformats.org/drawingml/2006/main">
            <a:pPr marL="0" marR="0" lvl="0" indent="0" algn="l">
              <a:spcBef>
                <a:spcPts val="0"/>
              </a:spcBef>
              <a:spcAft>
                <a:spcPts val="0"/>
              </a:spcAft>
              <a:buNone/>
            </a:pPr>
            <a:r>
              <a:rPr sz="2625" b="1">
                <a:solidFill>
                  <a:srgbClr val="24231F"/>
                </a:solidFill>
                <a:latin typeface="Arial"/>
                <a:ea typeface="Arial"/>
                <a:cs typeface="Arial"/>
              </a:rPr>
              <a:t>Generic AI lacks context.</a:t>
            </a:r>
          </a:p>
        </p:txBody>
      </p:sp>
      <p:sp>
        <p:nvSpPr>
          <p:cNvPr id="32" name="Google Shape;32;p4">
            <a:extLst xmlns:a="http://schemas.openxmlformats.org/drawingml/2006/main">
              <a:ext uri="{FF2B5EF4-FFF2-40B4-BE49-F238E27FC236}">
                <a16:creationId xmlns:a16="http://schemas.microsoft.com/office/drawing/2014/main" id="{98FE3C82-C5CB-4B35-A0F2-8523C035F975}"/>
              </a:ext>
            </a:extLst>
          </p:cNvPr>
          <p:cNvSpPr>
            <a:spLocks xmlns:a="http://schemas.openxmlformats.org/drawingml/2006/main" noGrp="1"/>
          </p:cNvSpPr>
          <p:nvPr/>
        </p:nvSpPr>
        <p:spPr>
          <a:xfrm xmlns:a="http://schemas.openxmlformats.org/drawingml/2006/main">
            <a:off x="5286375" y="2381250"/>
            <a:ext cx="1143000" cy="4191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33" name="Google Shape;33;p4">
            <a:extLst xmlns:a="http://schemas.openxmlformats.org/drawingml/2006/main">
              <a:ext uri="{FF2B5EF4-FFF2-40B4-BE49-F238E27FC236}">
                <a16:creationId xmlns:a16="http://schemas.microsoft.com/office/drawing/2014/main" id="{D5292703-9357-4C64-921B-3FA3C820BCBE}"/>
              </a:ext>
            </a:extLst>
          </p:cNvPr>
          <p:cNvSpPr>
            <a:spLocks xmlns:a="http://schemas.openxmlformats.org/drawingml/2006/main" noGrp="1"/>
          </p:cNvSpPr>
          <p:nvPr/>
        </p:nvSpPr>
        <p:spPr>
          <a:xfrm xmlns:a="http://schemas.openxmlformats.org/drawingml/2006/main">
            <a:off x="6762750" y="1162050"/>
            <a:ext cx="28575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CC4824"/>
                </a:solidFill>
                <a:latin typeface="Arial"/>
                <a:ea typeface="Arial"/>
                <a:cs typeface="Arial"/>
              </a:rPr>
              <a:t>How Impulse solves it</a:t>
            </a:r>
          </a:p>
        </p:txBody>
      </p:sp>
      <p:sp>
        <p:nvSpPr>
          <p:cNvPr id="34" name="Google Shape;34;p4">
            <a:extLst xmlns:a="http://schemas.openxmlformats.org/drawingml/2006/main">
              <a:ext uri="{FF2B5EF4-FFF2-40B4-BE49-F238E27FC236}">
                <a16:creationId xmlns:a16="http://schemas.microsoft.com/office/drawing/2014/main" id="{4DBD2467-2502-4B1A-903C-52190476A89A}"/>
              </a:ext>
            </a:extLst>
          </p:cNvPr>
          <p:cNvSpPr>
            <a:spLocks xmlns:a="http://schemas.openxmlformats.org/drawingml/2006/main" noGrp="1"/>
          </p:cNvSpPr>
          <p:nvPr/>
        </p:nvSpPr>
        <p:spPr>
          <a:xfrm xmlns:a="http://schemas.openxmlformats.org/drawingml/2006/main">
            <a:off x="6762750" y="1619250"/>
            <a:ext cx="4667250" cy="876300"/>
          </a:xfrm>
          <a:prstGeom xmlns:a="http://schemas.openxmlformats.org/drawingml/2006/main" prst="roundRect">
            <a:avLst>
              <a:gd name="adj" fmla="val 8696"/>
            </a:avLst>
          </a:prstGeom>
          <a:solidFill xmlns:a="http://schemas.openxmlformats.org/drawingml/2006/main">
            <a:srgbClr val="F8E7E0"/>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35" name="Google Shape;35;p4">
            <a:extLst xmlns:a="http://schemas.openxmlformats.org/drawingml/2006/main">
              <a:ext uri="{FF2B5EF4-FFF2-40B4-BE49-F238E27FC236}">
                <a16:creationId xmlns:a16="http://schemas.microsoft.com/office/drawing/2014/main" id="{9734BA73-412B-47EE-800C-9EA2CE57D95A}"/>
              </a:ext>
            </a:extLst>
          </p:cNvPr>
          <p:cNvSpPr>
            <a:spLocks xmlns:a="http://schemas.openxmlformats.org/drawingml/2006/main" noGrp="1"/>
          </p:cNvSpPr>
          <p:nvPr/>
        </p:nvSpPr>
        <p:spPr>
          <a:xfrm xmlns:a="http://schemas.openxmlformats.org/drawingml/2006/main">
            <a:off x="6762750" y="1619250"/>
            <a:ext cx="76200" cy="876300"/>
          </a:xfrm>
          <a:prstGeom xmlns:a="http://schemas.openxmlformats.org/drawingml/2006/main" prst="rect">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36" name="Google Shape;36;p4">
            <a:extLst xmlns:a="http://schemas.openxmlformats.org/drawingml/2006/main">
              <a:ext uri="{FF2B5EF4-FFF2-40B4-BE49-F238E27FC236}">
                <a16:creationId xmlns:a16="http://schemas.microsoft.com/office/drawing/2014/main" id="{671B18D0-AD81-4B61-84E0-7DF0D049459A}"/>
              </a:ext>
            </a:extLst>
          </p:cNvPr>
          <p:cNvSpPr>
            <a:spLocks xmlns:a="http://schemas.openxmlformats.org/drawingml/2006/main" noGrp="1"/>
          </p:cNvSpPr>
          <p:nvPr/>
        </p:nvSpPr>
        <p:spPr>
          <a:xfrm xmlns:a="http://schemas.openxmlformats.org/drawingml/2006/main">
            <a:off x="6972300" y="1743075"/>
            <a:ext cx="43434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Understand once</a:t>
            </a:r>
          </a:p>
        </p:txBody>
      </p:sp>
      <p:sp>
        <p:nvSpPr>
          <p:cNvPr id="37" name="Google Shape;37;p4">
            <a:extLst xmlns:a="http://schemas.openxmlformats.org/drawingml/2006/main">
              <a:ext uri="{FF2B5EF4-FFF2-40B4-BE49-F238E27FC236}">
                <a16:creationId xmlns:a16="http://schemas.microsoft.com/office/drawing/2014/main" id="{2FB0CA16-24FC-4353-93E1-6B2C07E1F3F6}"/>
              </a:ext>
            </a:extLst>
          </p:cNvPr>
          <p:cNvSpPr>
            <a:spLocks xmlns:a="http://schemas.openxmlformats.org/drawingml/2006/main" noGrp="1"/>
          </p:cNvSpPr>
          <p:nvPr/>
        </p:nvSpPr>
        <p:spPr>
          <a:xfrm xmlns:a="http://schemas.openxmlformats.org/drawingml/2006/main">
            <a:off x="6972300" y="2076450"/>
            <a:ext cx="43434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Extract compact facts, topics and useful actions.</a:t>
            </a:r>
          </a:p>
        </p:txBody>
      </p:sp>
      <p:sp>
        <p:nvSpPr>
          <p:cNvPr id="38" name="Google Shape;38;p4">
            <a:extLst xmlns:a="http://schemas.openxmlformats.org/drawingml/2006/main">
              <a:ext uri="{FF2B5EF4-FFF2-40B4-BE49-F238E27FC236}">
                <a16:creationId xmlns:a16="http://schemas.microsoft.com/office/drawing/2014/main" id="{FDAB920A-ADAD-4BB0-8308-AD1A3B35A9DC}"/>
              </a:ext>
            </a:extLst>
          </p:cNvPr>
          <p:cNvSpPr>
            <a:spLocks xmlns:a="http://schemas.openxmlformats.org/drawingml/2006/main" noGrp="1"/>
          </p:cNvSpPr>
          <p:nvPr/>
        </p:nvSpPr>
        <p:spPr>
          <a:xfrm xmlns:a="http://schemas.openxmlformats.org/drawingml/2006/main">
            <a:off x="6762750" y="2686050"/>
            <a:ext cx="4667250" cy="876300"/>
          </a:xfrm>
          <a:prstGeom xmlns:a="http://schemas.openxmlformats.org/drawingml/2006/main" prst="roundRect">
            <a:avLst>
              <a:gd name="adj" fmla="val 8696"/>
            </a:avLst>
          </a:prstGeom>
          <a:solidFill xmlns:a="http://schemas.openxmlformats.org/drawingml/2006/main">
            <a:srgbClr val="F8E7E0"/>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39" name="Google Shape;39;p4">
            <a:extLst xmlns:a="http://schemas.openxmlformats.org/drawingml/2006/main">
              <a:ext uri="{FF2B5EF4-FFF2-40B4-BE49-F238E27FC236}">
                <a16:creationId xmlns:a16="http://schemas.microsoft.com/office/drawing/2014/main" id="{4E685C7F-8045-4D69-AB93-2FEE0E169B7A}"/>
              </a:ext>
            </a:extLst>
          </p:cNvPr>
          <p:cNvSpPr>
            <a:spLocks xmlns:a="http://schemas.openxmlformats.org/drawingml/2006/main" noGrp="1"/>
          </p:cNvSpPr>
          <p:nvPr/>
        </p:nvSpPr>
        <p:spPr>
          <a:xfrm xmlns:a="http://schemas.openxmlformats.org/drawingml/2006/main">
            <a:off x="6762750" y="2686050"/>
            <a:ext cx="76200" cy="876300"/>
          </a:xfrm>
          <a:prstGeom xmlns:a="http://schemas.openxmlformats.org/drawingml/2006/main" prst="rect">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40" name="Google Shape;40;p4">
            <a:extLst xmlns:a="http://schemas.openxmlformats.org/drawingml/2006/main">
              <a:ext uri="{FF2B5EF4-FFF2-40B4-BE49-F238E27FC236}">
                <a16:creationId xmlns:a16="http://schemas.microsoft.com/office/drawing/2014/main" id="{37B5D4D4-C5F7-4D2C-8D82-C2EBABD1DFEC}"/>
              </a:ext>
            </a:extLst>
          </p:cNvPr>
          <p:cNvSpPr>
            <a:spLocks xmlns:a="http://schemas.openxmlformats.org/drawingml/2006/main" noGrp="1"/>
          </p:cNvSpPr>
          <p:nvPr/>
        </p:nvSpPr>
        <p:spPr>
          <a:xfrm xmlns:a="http://schemas.openxmlformats.org/drawingml/2006/main">
            <a:off x="6972300" y="2809875"/>
            <a:ext cx="43434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Store for retrieval</a:t>
            </a:r>
          </a:p>
        </p:txBody>
      </p:sp>
      <p:sp>
        <p:nvSpPr>
          <p:cNvPr id="41" name="Google Shape;41;p4">
            <a:extLst xmlns:a="http://schemas.openxmlformats.org/drawingml/2006/main">
              <a:ext uri="{FF2B5EF4-FFF2-40B4-BE49-F238E27FC236}">
                <a16:creationId xmlns:a16="http://schemas.microsoft.com/office/drawing/2014/main" id="{F1B28BE5-52F0-45C5-893D-269C1EC668FE}"/>
              </a:ext>
            </a:extLst>
          </p:cNvPr>
          <p:cNvSpPr>
            <a:spLocks xmlns:a="http://schemas.openxmlformats.org/drawingml/2006/main" noGrp="1"/>
          </p:cNvSpPr>
          <p:nvPr/>
        </p:nvSpPr>
        <p:spPr>
          <a:xfrm xmlns:a="http://schemas.openxmlformats.org/drawingml/2006/main">
            <a:off x="6972300" y="3143250"/>
            <a:ext cx="43434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Keep human-readable data and its vector meaning.</a:t>
            </a:r>
          </a:p>
        </p:txBody>
      </p:sp>
      <p:sp>
        <p:nvSpPr>
          <p:cNvPr id="42" name="Google Shape;42;p4">
            <a:extLst xmlns:a="http://schemas.openxmlformats.org/drawingml/2006/main">
              <a:ext uri="{FF2B5EF4-FFF2-40B4-BE49-F238E27FC236}">
                <a16:creationId xmlns:a16="http://schemas.microsoft.com/office/drawing/2014/main" id="{CDA732CD-1613-431D-90E2-2AC357789CEA}"/>
              </a:ext>
            </a:extLst>
          </p:cNvPr>
          <p:cNvSpPr>
            <a:spLocks xmlns:a="http://schemas.openxmlformats.org/drawingml/2006/main" noGrp="1"/>
          </p:cNvSpPr>
          <p:nvPr/>
        </p:nvSpPr>
        <p:spPr>
          <a:xfrm xmlns:a="http://schemas.openxmlformats.org/drawingml/2006/main">
            <a:off x="6762750" y="3752850"/>
            <a:ext cx="4667250" cy="876300"/>
          </a:xfrm>
          <a:prstGeom xmlns:a="http://schemas.openxmlformats.org/drawingml/2006/main" prst="roundRect">
            <a:avLst>
              <a:gd name="adj" fmla="val 8696"/>
            </a:avLst>
          </a:prstGeom>
          <a:solidFill xmlns:a="http://schemas.openxmlformats.org/drawingml/2006/main">
            <a:srgbClr val="F8E7E0"/>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43" name="Google Shape;43;p4">
            <a:extLst xmlns:a="http://schemas.openxmlformats.org/drawingml/2006/main">
              <a:ext uri="{FF2B5EF4-FFF2-40B4-BE49-F238E27FC236}">
                <a16:creationId xmlns:a16="http://schemas.microsoft.com/office/drawing/2014/main" id="{767BC3CB-7935-41E7-945E-75AAD6CCA966}"/>
              </a:ext>
            </a:extLst>
          </p:cNvPr>
          <p:cNvSpPr>
            <a:spLocks xmlns:a="http://schemas.openxmlformats.org/drawingml/2006/main" noGrp="1"/>
          </p:cNvSpPr>
          <p:nvPr/>
        </p:nvSpPr>
        <p:spPr>
          <a:xfrm xmlns:a="http://schemas.openxmlformats.org/drawingml/2006/main">
            <a:off x="6762750" y="3752850"/>
            <a:ext cx="76200" cy="876300"/>
          </a:xfrm>
          <a:prstGeom xmlns:a="http://schemas.openxmlformats.org/drawingml/2006/main" prst="rect">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44" name="Google Shape;44;p4">
            <a:extLst xmlns:a="http://schemas.openxmlformats.org/drawingml/2006/main">
              <a:ext uri="{FF2B5EF4-FFF2-40B4-BE49-F238E27FC236}">
                <a16:creationId xmlns:a16="http://schemas.microsoft.com/office/drawing/2014/main" id="{8B47A73B-E331-4D51-8E08-C7B0EAF861B8}"/>
              </a:ext>
            </a:extLst>
          </p:cNvPr>
          <p:cNvSpPr>
            <a:spLocks xmlns:a="http://schemas.openxmlformats.org/drawingml/2006/main" noGrp="1"/>
          </p:cNvSpPr>
          <p:nvPr/>
        </p:nvSpPr>
        <p:spPr>
          <a:xfrm xmlns:a="http://schemas.openxmlformats.org/drawingml/2006/main">
            <a:off x="6972300" y="3876675"/>
            <a:ext cx="43434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Answer with evidence</a:t>
            </a:r>
          </a:p>
        </p:txBody>
      </p:sp>
      <p:sp>
        <p:nvSpPr>
          <p:cNvPr id="45" name="Google Shape;45;p4">
            <a:extLst xmlns:a="http://schemas.openxmlformats.org/drawingml/2006/main">
              <a:ext uri="{FF2B5EF4-FFF2-40B4-BE49-F238E27FC236}">
                <a16:creationId xmlns:a16="http://schemas.microsoft.com/office/drawing/2014/main" id="{669391F3-0C97-4BD1-B04D-2ECFB7AD0DE3}"/>
              </a:ext>
            </a:extLst>
          </p:cNvPr>
          <p:cNvSpPr>
            <a:spLocks xmlns:a="http://schemas.openxmlformats.org/drawingml/2006/main" noGrp="1"/>
          </p:cNvSpPr>
          <p:nvPr/>
        </p:nvSpPr>
        <p:spPr>
          <a:xfrm xmlns:a="http://schemas.openxmlformats.org/drawingml/2006/main">
            <a:off x="6972300" y="4210050"/>
            <a:ext cx="43434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Retrieve relevant memories before the final LLM responds.</a:t>
            </a:r>
          </a:p>
        </p:txBody>
      </p:sp>
      <p:sp>
        <p:nvSpPr>
          <p:cNvPr id="46" name="Google Shape;46;p4">
            <a:extLst xmlns:a="http://schemas.openxmlformats.org/drawingml/2006/main">
              <a:ext uri="{FF2B5EF4-FFF2-40B4-BE49-F238E27FC236}">
                <a16:creationId xmlns:a16="http://schemas.microsoft.com/office/drawing/2014/main" id="{52ED865F-1919-42FC-83AD-F206BF0946EC}"/>
              </a:ext>
            </a:extLst>
          </p:cNvPr>
          <p:cNvSpPr>
            <a:spLocks xmlns:a="http://schemas.openxmlformats.org/drawingml/2006/main" noGrp="1"/>
          </p:cNvSpPr>
          <p:nvPr/>
        </p:nvSpPr>
        <p:spPr>
          <a:xfrm xmlns:a="http://schemas.openxmlformats.org/drawingml/2006/main">
            <a:off x="419100" y="4953000"/>
            <a:ext cx="11010900" cy="876300"/>
          </a:xfrm>
          <a:prstGeom xmlns:a="http://schemas.openxmlformats.org/drawingml/2006/main" prst="rect">
            <a:avLst/>
          </a:prstGeom>
          <a:solidFill xmlns:a="http://schemas.openxmlformats.org/drawingml/2006/main">
            <a:srgbClr val="F0EDE5"/>
          </a:solidFill>
          <a:ln xmlns:a="http://schemas.openxmlformats.org/drawingml/2006/main" w="14275" cmpd="sng">
            <a:solidFill>
              <a:srgbClr val="F0EDE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47" name="Google Shape;47;p4">
            <a:extLst xmlns:a="http://schemas.openxmlformats.org/drawingml/2006/main">
              <a:ext uri="{FF2B5EF4-FFF2-40B4-BE49-F238E27FC236}">
                <a16:creationId xmlns:a16="http://schemas.microsoft.com/office/drawing/2014/main" id="{54DC1CE3-7B59-47BC-BCE0-40D57A94D9E0}"/>
              </a:ext>
            </a:extLst>
          </p:cNvPr>
          <p:cNvSpPr>
            <a:spLocks xmlns:a="http://schemas.openxmlformats.org/drawingml/2006/main" noGrp="1"/>
          </p:cNvSpPr>
          <p:nvPr/>
        </p:nvSpPr>
        <p:spPr>
          <a:xfrm xmlns:a="http://schemas.openxmlformats.org/drawingml/2006/main">
            <a:off x="685800" y="5095875"/>
            <a:ext cx="104775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500" b="0">
                <a:solidFill>
                  <a:srgbClr val="24231F"/>
                </a:solidFill>
                <a:latin typeface="Arial"/>
                <a:ea typeface="Arial"/>
                <a:cs typeface="Arial"/>
              </a:rPr>
              <a:t>Target customers: students, creators, travelers and professionals who save useful content but cannot find or reuse it when needed.</a:t>
            </a:r>
          </a:p>
        </p:txBody>
      </p:sp>
    </p:spTree>
    <p:extLst>
      <p:ext uri="{BB962C8B-B14F-4D97-AF65-F5344CB8AC3E}">
        <p14:creationId xmlns:p14="http://schemas.microsoft.com/office/powerpoint/2010/main" val="1646838126"/>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3" name="Google Shape;53;p5">
            <a:extLst xmlns:a="http://schemas.openxmlformats.org/drawingml/2006/main">
              <a:ext uri="{FF2B5EF4-FFF2-40B4-BE49-F238E27FC236}">
                <a16:creationId xmlns:a16="http://schemas.microsoft.com/office/drawing/2014/main" id="{540817A3-DAA6-42D3-AF17-AFC3ABDAF3FE}"/>
              </a:ext>
            </a:extLst>
          </p:cNvPr>
          <p:cNvSpPr>
            <a:spLocks xmlns:a="http://schemas.openxmlformats.org/drawingml/2006/main" noGrp="1"/>
          </p:cNvSpPr>
          <p:nvPr/>
        </p:nvSpPr>
        <p:spPr>
          <a:xfrm xmlns:a="http://schemas.openxmlformats.org/drawingml/2006/main">
            <a:off x="400050" y="266700"/>
            <a:ext cx="109537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2850" b="0">
                <a:solidFill>
                  <a:srgbClr val="24231F"/>
                </a:solidFill>
                <a:latin typeface="Georgia"/>
                <a:ea typeface="Georgia"/>
                <a:cs typeface="Georgia"/>
              </a:rPr>
              <a:t>One end-to-end flow turns a URL into searchable memory</a:t>
            </a:r>
          </a:p>
        </p:txBody>
      </p:sp>
      <p:sp>
        <p:nvSpPr>
          <p:cNvPr id="54" name="Google Shape;54;p5">
            <a:extLst xmlns:a="http://schemas.openxmlformats.org/drawingml/2006/main">
              <a:ext uri="{FF2B5EF4-FFF2-40B4-BE49-F238E27FC236}">
                <a16:creationId xmlns:a16="http://schemas.microsoft.com/office/drawing/2014/main" id="{7BD442E2-3C64-42DF-AD0D-168D3E38AC3A}"/>
              </a:ext>
            </a:extLst>
          </p:cNvPr>
          <p:cNvSpPr>
            <a:spLocks xmlns:a="http://schemas.openxmlformats.org/drawingml/2006/main" noGrp="1"/>
          </p:cNvSpPr>
          <p:nvPr/>
        </p:nvSpPr>
        <p:spPr>
          <a:xfrm xmlns:a="http://schemas.openxmlformats.org/drawingml/2006/main">
            <a:off x="11315700" y="6286500"/>
            <a:ext cx="476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spcBef>
                <a:spcPts val="0"/>
              </a:spcBef>
              <a:spcAft>
                <a:spcPts val="0"/>
              </a:spcAft>
              <a:buNone/>
            </a:pPr>
            <a:r>
              <a:rPr sz="775" b="0">
                <a:solidFill>
                  <a:srgbClr val="6D6A63"/>
                </a:solidFill>
                <a:latin typeface="Arial"/>
                <a:ea typeface="Arial"/>
                <a:cs typeface="Arial"/>
              </a:rPr>
              <a:t>03</a:t>
            </a:r>
          </a:p>
        </p:txBody>
      </p:sp>
      <p:sp>
        <p:nvSpPr>
          <p:cNvPr id="55" name="Google Shape;55;p5">
            <a:extLst xmlns:a="http://schemas.openxmlformats.org/drawingml/2006/main">
              <a:ext uri="{FF2B5EF4-FFF2-40B4-BE49-F238E27FC236}">
                <a16:creationId xmlns:a16="http://schemas.microsoft.com/office/drawing/2014/main" id="{00AA2DB7-37D3-4755-A978-F5CCED586BEB}"/>
              </a:ext>
            </a:extLst>
          </p:cNvPr>
          <p:cNvSpPr>
            <a:spLocks xmlns:a="http://schemas.openxmlformats.org/drawingml/2006/main" noGrp="1"/>
          </p:cNvSpPr>
          <p:nvPr/>
        </p:nvSpPr>
        <p:spPr>
          <a:xfrm xmlns:a="http://schemas.openxmlformats.org/drawingml/2006/main">
            <a:off x="419100" y="952500"/>
            <a:ext cx="85725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0">
                <a:solidFill>
                  <a:srgbClr val="6D6A63"/>
                </a:solidFill>
                <a:latin typeface="Arial"/>
                <a:ea typeface="Arial"/>
                <a:cs typeface="Arial"/>
              </a:rPr>
              <a:t>Capture → trusted backend → AI understanding → searchable memory</a:t>
            </a:r>
          </a:p>
        </p:txBody>
      </p:sp>
      <p:sp>
        <p:nvSpPr>
          <p:cNvPr id="56" name="Google Shape;56;p5">
            <a:extLst xmlns:a="http://schemas.openxmlformats.org/drawingml/2006/main">
              <a:ext uri="{FF2B5EF4-FFF2-40B4-BE49-F238E27FC236}">
                <a16:creationId xmlns:a16="http://schemas.microsoft.com/office/drawing/2014/main" id="{84C2205C-2309-4DAB-A04D-BE877754C598}"/>
              </a:ext>
            </a:extLst>
          </p:cNvPr>
          <p:cNvSpPr>
            <a:spLocks xmlns:a="http://schemas.openxmlformats.org/drawingml/2006/main" noGrp="1"/>
          </p:cNvSpPr>
          <p:nvPr/>
        </p:nvSpPr>
        <p:spPr>
          <a:xfrm xmlns:a="http://schemas.openxmlformats.org/drawingml/2006/main">
            <a:off x="2143125" y="2686050"/>
            <a:ext cx="523875" cy="3429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57" name="Google Shape;57;p5">
            <a:extLst xmlns:a="http://schemas.openxmlformats.org/drawingml/2006/main">
              <a:ext uri="{FF2B5EF4-FFF2-40B4-BE49-F238E27FC236}">
                <a16:creationId xmlns:a16="http://schemas.microsoft.com/office/drawing/2014/main" id="{A6AED8F6-E1D8-4687-95B3-0AE6D534CB27}"/>
              </a:ext>
            </a:extLst>
          </p:cNvPr>
          <p:cNvSpPr>
            <a:spLocks xmlns:a="http://schemas.openxmlformats.org/drawingml/2006/main" noGrp="1"/>
          </p:cNvSpPr>
          <p:nvPr/>
        </p:nvSpPr>
        <p:spPr>
          <a:xfrm xmlns:a="http://schemas.openxmlformats.org/drawingml/2006/main">
            <a:off x="4514850" y="2686050"/>
            <a:ext cx="523875" cy="3429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58" name="Google Shape;58;p5">
            <a:extLst xmlns:a="http://schemas.openxmlformats.org/drawingml/2006/main">
              <a:ext uri="{FF2B5EF4-FFF2-40B4-BE49-F238E27FC236}">
                <a16:creationId xmlns:a16="http://schemas.microsoft.com/office/drawing/2014/main" id="{626A8E9C-19E8-40BB-9B03-A6A2273C48A7}"/>
              </a:ext>
            </a:extLst>
          </p:cNvPr>
          <p:cNvSpPr>
            <a:spLocks xmlns:a="http://schemas.openxmlformats.org/drawingml/2006/main" noGrp="1"/>
          </p:cNvSpPr>
          <p:nvPr/>
        </p:nvSpPr>
        <p:spPr>
          <a:xfrm xmlns:a="http://schemas.openxmlformats.org/drawingml/2006/main">
            <a:off x="6886575" y="2686050"/>
            <a:ext cx="523875" cy="3429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59" name="Google Shape;59;p5">
            <a:extLst xmlns:a="http://schemas.openxmlformats.org/drawingml/2006/main">
              <a:ext uri="{FF2B5EF4-FFF2-40B4-BE49-F238E27FC236}">
                <a16:creationId xmlns:a16="http://schemas.microsoft.com/office/drawing/2014/main" id="{3072F022-064D-4C52-BE5A-CB39D6A9971F}"/>
              </a:ext>
            </a:extLst>
          </p:cNvPr>
          <p:cNvSpPr>
            <a:spLocks xmlns:a="http://schemas.openxmlformats.org/drawingml/2006/main" noGrp="1"/>
          </p:cNvSpPr>
          <p:nvPr/>
        </p:nvSpPr>
        <p:spPr>
          <a:xfrm xmlns:a="http://schemas.openxmlformats.org/drawingml/2006/main">
            <a:off x="9258300" y="2686050"/>
            <a:ext cx="523875" cy="3429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60" name="Google Shape;60;p5">
            <a:extLst xmlns:a="http://schemas.openxmlformats.org/drawingml/2006/main">
              <a:ext uri="{FF2B5EF4-FFF2-40B4-BE49-F238E27FC236}">
                <a16:creationId xmlns:a16="http://schemas.microsoft.com/office/drawing/2014/main" id="{38112FDC-CC83-4098-B399-B54D3D529DAC}"/>
              </a:ext>
            </a:extLst>
          </p:cNvPr>
          <p:cNvSpPr>
            <a:spLocks xmlns:a="http://schemas.openxmlformats.org/drawingml/2006/main" noGrp="1"/>
          </p:cNvSpPr>
          <p:nvPr/>
        </p:nvSpPr>
        <p:spPr>
          <a:xfrm xmlns:a="http://schemas.openxmlformats.org/drawingml/2006/main">
            <a:off x="419100" y="1981200"/>
            <a:ext cx="1724025" cy="1752600"/>
          </a:xfrm>
          <a:prstGeom xmlns:a="http://schemas.openxmlformats.org/drawingml/2006/main" prst="roundRect">
            <a:avLst>
              <a:gd name="adj" fmla="val 4420"/>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61" name="Google Shape;61;p5">
            <a:extLst xmlns:a="http://schemas.openxmlformats.org/drawingml/2006/main">
              <a:ext uri="{FF2B5EF4-FFF2-40B4-BE49-F238E27FC236}">
                <a16:creationId xmlns:a16="http://schemas.microsoft.com/office/drawing/2014/main" id="{F1D779B4-0C8D-4DCF-8BEE-B1FF832B8EFA}"/>
              </a:ext>
            </a:extLst>
          </p:cNvPr>
          <p:cNvSpPr>
            <a:spLocks xmlns:a="http://schemas.openxmlformats.org/drawingml/2006/main" noGrp="1"/>
          </p:cNvSpPr>
          <p:nvPr/>
        </p:nvSpPr>
        <p:spPr>
          <a:xfrm xmlns:a="http://schemas.openxmlformats.org/drawingml/2006/main">
            <a:off x="419100" y="1981200"/>
            <a:ext cx="76200" cy="1752600"/>
          </a:xfrm>
          <a:prstGeom xmlns:a="http://schemas.openxmlformats.org/drawingml/2006/main" prst="rect">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62" name="Google Shape;62;p5">
            <a:extLst xmlns:a="http://schemas.openxmlformats.org/drawingml/2006/main">
              <a:ext uri="{FF2B5EF4-FFF2-40B4-BE49-F238E27FC236}">
                <a16:creationId xmlns:a16="http://schemas.microsoft.com/office/drawing/2014/main" id="{EB905E26-1F94-433C-AAF9-8489F8F609AD}"/>
              </a:ext>
            </a:extLst>
          </p:cNvPr>
          <p:cNvSpPr>
            <a:spLocks xmlns:a="http://schemas.openxmlformats.org/drawingml/2006/main" noGrp="1"/>
          </p:cNvSpPr>
          <p:nvPr/>
        </p:nvSpPr>
        <p:spPr>
          <a:xfrm xmlns:a="http://schemas.openxmlformats.org/drawingml/2006/main">
            <a:off x="628650" y="2105025"/>
            <a:ext cx="14001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1  Capture</a:t>
            </a:r>
          </a:p>
        </p:txBody>
      </p:sp>
      <p:sp>
        <p:nvSpPr>
          <p:cNvPr id="63" name="Google Shape;63;p5">
            <a:extLst xmlns:a="http://schemas.openxmlformats.org/drawingml/2006/main">
              <a:ext uri="{FF2B5EF4-FFF2-40B4-BE49-F238E27FC236}">
                <a16:creationId xmlns:a16="http://schemas.microsoft.com/office/drawing/2014/main" id="{947FF9BD-7959-419C-B406-2DC6E79DE955}"/>
              </a:ext>
            </a:extLst>
          </p:cNvPr>
          <p:cNvSpPr>
            <a:spLocks xmlns:a="http://schemas.openxmlformats.org/drawingml/2006/main" noGrp="1"/>
          </p:cNvSpPr>
          <p:nvPr/>
        </p:nvSpPr>
        <p:spPr>
          <a:xfrm xmlns:a="http://schemas.openxmlformats.org/drawingml/2006/main">
            <a:off x="628650" y="2438400"/>
            <a:ext cx="1400175"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Chrome or Android sends URL, visible content and user note.</a:t>
            </a:r>
          </a:p>
        </p:txBody>
      </p:sp>
      <p:sp>
        <p:nvSpPr>
          <p:cNvPr id="64" name="Google Shape;64;p5">
            <a:extLst xmlns:a="http://schemas.openxmlformats.org/drawingml/2006/main">
              <a:ext uri="{FF2B5EF4-FFF2-40B4-BE49-F238E27FC236}">
                <a16:creationId xmlns:a16="http://schemas.microsoft.com/office/drawing/2014/main" id="{30B7B420-E8E1-48FA-9E05-AA7351A22FD5}"/>
              </a:ext>
            </a:extLst>
          </p:cNvPr>
          <p:cNvSpPr>
            <a:spLocks xmlns:a="http://schemas.openxmlformats.org/drawingml/2006/main" noGrp="1"/>
          </p:cNvSpPr>
          <p:nvPr/>
        </p:nvSpPr>
        <p:spPr>
          <a:xfrm xmlns:a="http://schemas.openxmlformats.org/drawingml/2006/main">
            <a:off x="2667000" y="1981200"/>
            <a:ext cx="1847850" cy="1752600"/>
          </a:xfrm>
          <a:prstGeom xmlns:a="http://schemas.openxmlformats.org/drawingml/2006/main" prst="roundRect">
            <a:avLst>
              <a:gd name="adj" fmla="val 4348"/>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65" name="Google Shape;65;p5">
            <a:extLst xmlns:a="http://schemas.openxmlformats.org/drawingml/2006/main">
              <a:ext uri="{FF2B5EF4-FFF2-40B4-BE49-F238E27FC236}">
                <a16:creationId xmlns:a16="http://schemas.microsoft.com/office/drawing/2014/main" id="{F8F96E66-7EE5-4B63-8778-BBB20533E338}"/>
              </a:ext>
            </a:extLst>
          </p:cNvPr>
          <p:cNvSpPr>
            <a:spLocks xmlns:a="http://schemas.openxmlformats.org/drawingml/2006/main" noGrp="1"/>
          </p:cNvSpPr>
          <p:nvPr/>
        </p:nvSpPr>
        <p:spPr>
          <a:xfrm xmlns:a="http://schemas.openxmlformats.org/drawingml/2006/main">
            <a:off x="2667000" y="1981200"/>
            <a:ext cx="76200" cy="1752600"/>
          </a:xfrm>
          <a:prstGeom xmlns:a="http://schemas.openxmlformats.org/drawingml/2006/main" prst="rect">
            <a:avLst/>
          </a:prstGeom>
          <a:solidFill xmlns:a="http://schemas.openxmlformats.org/drawingml/2006/main">
            <a:srgbClr val="24231F"/>
          </a:solidFill>
          <a:ln xmlns:a="http://schemas.openxmlformats.org/drawingml/2006/main" w="9525" cmpd="sng">
            <a:solidFill>
              <a:srgbClr val="24231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66" name="Google Shape;66;p5">
            <a:extLst xmlns:a="http://schemas.openxmlformats.org/drawingml/2006/main">
              <a:ext uri="{FF2B5EF4-FFF2-40B4-BE49-F238E27FC236}">
                <a16:creationId xmlns:a16="http://schemas.microsoft.com/office/drawing/2014/main" id="{72037D13-B916-45A3-88B6-BFD9A561F910}"/>
              </a:ext>
            </a:extLst>
          </p:cNvPr>
          <p:cNvSpPr>
            <a:spLocks xmlns:a="http://schemas.openxmlformats.org/drawingml/2006/main" noGrp="1"/>
          </p:cNvSpPr>
          <p:nvPr/>
        </p:nvSpPr>
        <p:spPr>
          <a:xfrm xmlns:a="http://schemas.openxmlformats.org/drawingml/2006/main">
            <a:off x="2876550" y="2105025"/>
            <a:ext cx="15240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2  Backend</a:t>
            </a:r>
          </a:p>
        </p:txBody>
      </p:sp>
      <p:sp>
        <p:nvSpPr>
          <p:cNvPr id="67" name="Google Shape;67;p5">
            <a:extLst xmlns:a="http://schemas.openxmlformats.org/drawingml/2006/main">
              <a:ext uri="{FF2B5EF4-FFF2-40B4-BE49-F238E27FC236}">
                <a16:creationId xmlns:a16="http://schemas.microsoft.com/office/drawing/2014/main" id="{07FF7843-2D47-4511-BF15-FAF2E381B4CD}"/>
              </a:ext>
            </a:extLst>
          </p:cNvPr>
          <p:cNvSpPr>
            <a:spLocks xmlns:a="http://schemas.openxmlformats.org/drawingml/2006/main" noGrp="1"/>
          </p:cNvSpPr>
          <p:nvPr/>
        </p:nvSpPr>
        <p:spPr>
          <a:xfrm xmlns:a="http://schemas.openxmlformats.org/drawingml/2006/main">
            <a:off x="2876550" y="2438400"/>
            <a:ext cx="15240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Validates source, user and payload. Calls the AI service.</a:t>
            </a:r>
          </a:p>
        </p:txBody>
      </p:sp>
      <p:sp>
        <p:nvSpPr>
          <p:cNvPr id="68" name="Google Shape;68;p5">
            <a:extLst xmlns:a="http://schemas.openxmlformats.org/drawingml/2006/main">
              <a:ext uri="{FF2B5EF4-FFF2-40B4-BE49-F238E27FC236}">
                <a16:creationId xmlns:a16="http://schemas.microsoft.com/office/drawing/2014/main" id="{FE2B47BB-9A8B-4968-8DD0-0AEEBBAF5534}"/>
              </a:ext>
            </a:extLst>
          </p:cNvPr>
          <p:cNvSpPr>
            <a:spLocks xmlns:a="http://schemas.openxmlformats.org/drawingml/2006/main" noGrp="1"/>
          </p:cNvSpPr>
          <p:nvPr/>
        </p:nvSpPr>
        <p:spPr>
          <a:xfrm xmlns:a="http://schemas.openxmlformats.org/drawingml/2006/main">
            <a:off x="5038725" y="1981200"/>
            <a:ext cx="1847850" cy="1752600"/>
          </a:xfrm>
          <a:prstGeom xmlns:a="http://schemas.openxmlformats.org/drawingml/2006/main" prst="roundRect">
            <a:avLst>
              <a:gd name="adj" fmla="val 4348"/>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69" name="Google Shape;69;p5">
            <a:extLst xmlns:a="http://schemas.openxmlformats.org/drawingml/2006/main">
              <a:ext uri="{FF2B5EF4-FFF2-40B4-BE49-F238E27FC236}">
                <a16:creationId xmlns:a16="http://schemas.microsoft.com/office/drawing/2014/main" id="{0EA76B4E-7C7F-4E4D-8159-EBDD839AE94E}"/>
              </a:ext>
            </a:extLst>
          </p:cNvPr>
          <p:cNvSpPr>
            <a:spLocks xmlns:a="http://schemas.openxmlformats.org/drawingml/2006/main" noGrp="1"/>
          </p:cNvSpPr>
          <p:nvPr/>
        </p:nvSpPr>
        <p:spPr>
          <a:xfrm xmlns:a="http://schemas.openxmlformats.org/drawingml/2006/main">
            <a:off x="5038725" y="1981200"/>
            <a:ext cx="76200" cy="1752600"/>
          </a:xfrm>
          <a:prstGeom xmlns:a="http://schemas.openxmlformats.org/drawingml/2006/main" prst="rect">
            <a:avLst/>
          </a:prstGeom>
          <a:solidFill xmlns:a="http://schemas.openxmlformats.org/drawingml/2006/main">
            <a:srgbClr val="806C52"/>
          </a:solidFill>
          <a:ln xmlns:a="http://schemas.openxmlformats.org/drawingml/2006/main" w="9525" cmpd="sng">
            <a:solidFill>
              <a:srgbClr val="806C5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70" name="Google Shape;70;p5">
            <a:extLst xmlns:a="http://schemas.openxmlformats.org/drawingml/2006/main">
              <a:ext uri="{FF2B5EF4-FFF2-40B4-BE49-F238E27FC236}">
                <a16:creationId xmlns:a16="http://schemas.microsoft.com/office/drawing/2014/main" id="{26FCDB1E-E834-4BF2-99A0-DB9CE17AFC6B}"/>
              </a:ext>
            </a:extLst>
          </p:cNvPr>
          <p:cNvSpPr>
            <a:spLocks xmlns:a="http://schemas.openxmlformats.org/drawingml/2006/main" noGrp="1"/>
          </p:cNvSpPr>
          <p:nvPr/>
        </p:nvSpPr>
        <p:spPr>
          <a:xfrm xmlns:a="http://schemas.openxmlformats.org/drawingml/2006/main">
            <a:off x="5248275" y="2105025"/>
            <a:ext cx="15240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3  AI service</a:t>
            </a:r>
          </a:p>
        </p:txBody>
      </p:sp>
      <p:sp>
        <p:nvSpPr>
          <p:cNvPr id="71" name="Google Shape;71;p5">
            <a:extLst xmlns:a="http://schemas.openxmlformats.org/drawingml/2006/main">
              <a:ext uri="{FF2B5EF4-FFF2-40B4-BE49-F238E27FC236}">
                <a16:creationId xmlns:a16="http://schemas.microsoft.com/office/drawing/2014/main" id="{6482F41E-0CB0-4D48-9B0E-84518E580F5D}"/>
              </a:ext>
            </a:extLst>
          </p:cNvPr>
          <p:cNvSpPr>
            <a:spLocks xmlns:a="http://schemas.openxmlformats.org/drawingml/2006/main" noGrp="1"/>
          </p:cNvSpPr>
          <p:nvPr/>
        </p:nvSpPr>
        <p:spPr>
          <a:xfrm xmlns:a="http://schemas.openxmlformats.org/drawingml/2006/main">
            <a:off x="5248275" y="2438400"/>
            <a:ext cx="15240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a:solidFill>
                  <a:srgbClr val="6D6A63"/>
                </a:solidFill>
              </a:rPr>
              <a:t>E</a:t>
            </a:r>
            <a:r>
              <a:rPr sz="1200" b="0">
                <a:solidFill>
                  <a:srgbClr val="6D6A63"/>
                </a:solidFill>
                <a:latin typeface="Arial"/>
                <a:ea typeface="Arial"/>
                <a:cs typeface="Arial"/>
              </a:rPr>
              <a:t>xtracts supplied text, analyzes them</a:t>
            </a:r>
            <a:r>
              <a:rPr sz="1200">
                <a:solidFill>
                  <a:srgbClr val="6D6A63"/>
                </a:solidFill>
              </a:rPr>
              <a:t>, creates </a:t>
            </a:r>
            <a:r>
              <a:rPr sz="1200">
                <a:solidFill>
                  <a:srgbClr val="6D6A63"/>
                </a:solidFill>
              </a:rPr>
              <a:t>embedding</a:t>
            </a:r>
            <a:r>
              <a:rPr sz="1200">
                <a:solidFill>
                  <a:srgbClr val="6D6A63"/>
                </a:solidFill>
              </a:rPr>
              <a:t> and stores them in databases.</a:t>
            </a:r>
          </a:p>
        </p:txBody>
      </p:sp>
      <p:sp>
        <p:nvSpPr>
          <p:cNvPr id="72" name="Google Shape;72;p5">
            <a:extLst xmlns:a="http://schemas.openxmlformats.org/drawingml/2006/main">
              <a:ext uri="{FF2B5EF4-FFF2-40B4-BE49-F238E27FC236}">
                <a16:creationId xmlns:a16="http://schemas.microsoft.com/office/drawing/2014/main" id="{87337BD7-A3F7-46CE-BB6A-F2C9CA664EDE}"/>
              </a:ext>
            </a:extLst>
          </p:cNvPr>
          <p:cNvSpPr>
            <a:spLocks xmlns:a="http://schemas.openxmlformats.org/drawingml/2006/main" noGrp="1"/>
          </p:cNvSpPr>
          <p:nvPr/>
        </p:nvSpPr>
        <p:spPr>
          <a:xfrm xmlns:a="http://schemas.openxmlformats.org/drawingml/2006/main">
            <a:off x="7410450" y="1981200"/>
            <a:ext cx="1847850" cy="1752600"/>
          </a:xfrm>
          <a:prstGeom xmlns:a="http://schemas.openxmlformats.org/drawingml/2006/main" prst="roundRect">
            <a:avLst>
              <a:gd name="adj" fmla="val 4348"/>
            </a:avLst>
          </a:prstGeom>
          <a:solidFill xmlns:a="http://schemas.openxmlformats.org/drawingml/2006/main">
            <a:srgbClr val="F8E7E0"/>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73" name="Google Shape;73;p5">
            <a:extLst xmlns:a="http://schemas.openxmlformats.org/drawingml/2006/main">
              <a:ext uri="{FF2B5EF4-FFF2-40B4-BE49-F238E27FC236}">
                <a16:creationId xmlns:a16="http://schemas.microsoft.com/office/drawing/2014/main" id="{8605D3B9-9CD5-439B-9D06-F3316F1D4EAA}"/>
              </a:ext>
            </a:extLst>
          </p:cNvPr>
          <p:cNvSpPr>
            <a:spLocks xmlns:a="http://schemas.openxmlformats.org/drawingml/2006/main" noGrp="1"/>
          </p:cNvSpPr>
          <p:nvPr/>
        </p:nvSpPr>
        <p:spPr>
          <a:xfrm xmlns:a="http://schemas.openxmlformats.org/drawingml/2006/main">
            <a:off x="7410450" y="1981200"/>
            <a:ext cx="76200" cy="1752600"/>
          </a:xfrm>
          <a:prstGeom xmlns:a="http://schemas.openxmlformats.org/drawingml/2006/main" prst="rect">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74" name="Google Shape;74;p5">
            <a:extLst xmlns:a="http://schemas.openxmlformats.org/drawingml/2006/main">
              <a:ext uri="{FF2B5EF4-FFF2-40B4-BE49-F238E27FC236}">
                <a16:creationId xmlns:a16="http://schemas.microsoft.com/office/drawing/2014/main" id="{458D0EAB-D376-4839-B42D-074EC7856B1C}"/>
              </a:ext>
            </a:extLst>
          </p:cNvPr>
          <p:cNvSpPr>
            <a:spLocks xmlns:a="http://schemas.openxmlformats.org/drawingml/2006/main" noGrp="1"/>
          </p:cNvSpPr>
          <p:nvPr/>
        </p:nvSpPr>
        <p:spPr>
          <a:xfrm xmlns:a="http://schemas.openxmlformats.org/drawingml/2006/main">
            <a:off x="7620000" y="2105025"/>
            <a:ext cx="15240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4  First LLM</a:t>
            </a:r>
          </a:p>
        </p:txBody>
      </p:sp>
      <p:sp>
        <p:nvSpPr>
          <p:cNvPr id="75" name="Google Shape;75;p5">
            <a:extLst xmlns:a="http://schemas.openxmlformats.org/drawingml/2006/main">
              <a:ext uri="{FF2B5EF4-FFF2-40B4-BE49-F238E27FC236}">
                <a16:creationId xmlns:a16="http://schemas.microsoft.com/office/drawing/2014/main" id="{BA21D1F7-94D8-4829-88DD-98CBAE385853}"/>
              </a:ext>
            </a:extLst>
          </p:cNvPr>
          <p:cNvSpPr>
            <a:spLocks xmlns:a="http://schemas.openxmlformats.org/drawingml/2006/main" noGrp="1"/>
          </p:cNvSpPr>
          <p:nvPr/>
        </p:nvSpPr>
        <p:spPr>
          <a:xfrm xmlns:a="http://schemas.openxmlformats.org/drawingml/2006/main">
            <a:off x="7620000" y="2438400"/>
            <a:ext cx="15240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Creates summary, category, tags, topics and actions.</a:t>
            </a:r>
          </a:p>
        </p:txBody>
      </p:sp>
      <p:sp>
        <p:nvSpPr>
          <p:cNvPr id="76" name="Google Shape;76;p5">
            <a:extLst xmlns:a="http://schemas.openxmlformats.org/drawingml/2006/main">
              <a:ext uri="{FF2B5EF4-FFF2-40B4-BE49-F238E27FC236}">
                <a16:creationId xmlns:a16="http://schemas.microsoft.com/office/drawing/2014/main" id="{3309992D-607A-4AB7-B9FE-752F4D018C8E}"/>
              </a:ext>
            </a:extLst>
          </p:cNvPr>
          <p:cNvSpPr>
            <a:spLocks xmlns:a="http://schemas.openxmlformats.org/drawingml/2006/main" noGrp="1"/>
          </p:cNvSpPr>
          <p:nvPr/>
        </p:nvSpPr>
        <p:spPr>
          <a:xfrm xmlns:a="http://schemas.openxmlformats.org/drawingml/2006/main">
            <a:off x="9782175" y="1981200"/>
            <a:ext cx="1724025" cy="1752600"/>
          </a:xfrm>
          <a:prstGeom xmlns:a="http://schemas.openxmlformats.org/drawingml/2006/main" prst="roundRect">
            <a:avLst>
              <a:gd name="adj" fmla="val 4420"/>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77" name="Google Shape;77;p5">
            <a:extLst xmlns:a="http://schemas.openxmlformats.org/drawingml/2006/main">
              <a:ext uri="{FF2B5EF4-FFF2-40B4-BE49-F238E27FC236}">
                <a16:creationId xmlns:a16="http://schemas.microsoft.com/office/drawing/2014/main" id="{CBA1173C-19BB-4B6F-AC43-77B0FA7C068C}"/>
              </a:ext>
            </a:extLst>
          </p:cNvPr>
          <p:cNvSpPr>
            <a:spLocks xmlns:a="http://schemas.openxmlformats.org/drawingml/2006/main" noGrp="1"/>
          </p:cNvSpPr>
          <p:nvPr/>
        </p:nvSpPr>
        <p:spPr>
          <a:xfrm xmlns:a="http://schemas.openxmlformats.org/drawingml/2006/main">
            <a:off x="9782175" y="1981200"/>
            <a:ext cx="76200" cy="1752600"/>
          </a:xfrm>
          <a:prstGeom xmlns:a="http://schemas.openxmlformats.org/drawingml/2006/main" prst="rect">
            <a:avLst/>
          </a:prstGeom>
          <a:solidFill xmlns:a="http://schemas.openxmlformats.org/drawingml/2006/main">
            <a:srgbClr val="26734D"/>
          </a:solidFill>
          <a:ln xmlns:a="http://schemas.openxmlformats.org/drawingml/2006/main" w="9525" cmpd="sng">
            <a:solidFill>
              <a:srgbClr val="26734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78" name="Google Shape;78;p5">
            <a:extLst xmlns:a="http://schemas.openxmlformats.org/drawingml/2006/main">
              <a:ext uri="{FF2B5EF4-FFF2-40B4-BE49-F238E27FC236}">
                <a16:creationId xmlns:a16="http://schemas.microsoft.com/office/drawing/2014/main" id="{D8C86350-632F-4514-8E12-6E0F220C277D}"/>
              </a:ext>
            </a:extLst>
          </p:cNvPr>
          <p:cNvSpPr>
            <a:spLocks xmlns:a="http://schemas.openxmlformats.org/drawingml/2006/main" noGrp="1"/>
          </p:cNvSpPr>
          <p:nvPr/>
        </p:nvSpPr>
        <p:spPr>
          <a:xfrm xmlns:a="http://schemas.openxmlformats.org/drawingml/2006/main">
            <a:off x="9991725" y="2105025"/>
            <a:ext cx="14001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5  Persist</a:t>
            </a:r>
          </a:p>
        </p:txBody>
      </p:sp>
      <p:sp>
        <p:nvSpPr>
          <p:cNvPr id="79" name="Google Shape;79;p5">
            <a:extLst xmlns:a="http://schemas.openxmlformats.org/drawingml/2006/main">
              <a:ext uri="{FF2B5EF4-FFF2-40B4-BE49-F238E27FC236}">
                <a16:creationId xmlns:a16="http://schemas.microsoft.com/office/drawing/2014/main" id="{9D17847C-15D3-4442-926A-5C27CC8B7157}"/>
              </a:ext>
            </a:extLst>
          </p:cNvPr>
          <p:cNvSpPr>
            <a:spLocks xmlns:a="http://schemas.openxmlformats.org/drawingml/2006/main" noGrp="1"/>
          </p:cNvSpPr>
          <p:nvPr/>
        </p:nvSpPr>
        <p:spPr>
          <a:xfrm xmlns:a="http://schemas.openxmlformats.org/drawingml/2006/main">
            <a:off x="9991725" y="2438400"/>
            <a:ext cx="1400175"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Stores structured memory plus a 768-value embedding.</a:t>
            </a:r>
          </a:p>
        </p:txBody>
      </p:sp>
      <p:sp>
        <p:nvSpPr>
          <p:cNvPr id="80" name="Google Shape;80;p5">
            <a:extLst xmlns:a="http://schemas.openxmlformats.org/drawingml/2006/main">
              <a:ext uri="{FF2B5EF4-FFF2-40B4-BE49-F238E27FC236}">
                <a16:creationId xmlns:a16="http://schemas.microsoft.com/office/drawing/2014/main" id="{1F2A7138-DA15-4AEF-A0E5-C74ED8C785DE}"/>
              </a:ext>
            </a:extLst>
          </p:cNvPr>
          <p:cNvSpPr>
            <a:spLocks xmlns:a="http://schemas.openxmlformats.org/drawingml/2006/main" noGrp="1"/>
          </p:cNvSpPr>
          <p:nvPr/>
        </p:nvSpPr>
        <p:spPr>
          <a:xfrm xmlns:a="http://schemas.openxmlformats.org/drawingml/2006/main">
            <a:off x="419100" y="4286250"/>
            <a:ext cx="11087100" cy="1162050"/>
          </a:xfrm>
          <a:prstGeom xmlns:a="http://schemas.openxmlformats.org/drawingml/2006/main" prst="rect">
            <a:avLst/>
          </a:prstGeom>
          <a:solidFill xmlns:a="http://schemas.openxmlformats.org/drawingml/2006/main">
            <a:srgbClr val="F0EDE5"/>
          </a:solidFill>
          <a:ln xmlns:a="http://schemas.openxmlformats.org/drawingml/2006/main" w="14275" cmpd="sng">
            <a:solidFill>
              <a:srgbClr val="F0EDE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81" name="Google Shape;81;p5">
            <a:extLst xmlns:a="http://schemas.openxmlformats.org/drawingml/2006/main">
              <a:ext uri="{FF2B5EF4-FFF2-40B4-BE49-F238E27FC236}">
                <a16:creationId xmlns:a16="http://schemas.microsoft.com/office/drawing/2014/main" id="{3F33B5F3-3930-409C-925C-3BFA7F412174}"/>
              </a:ext>
            </a:extLst>
          </p:cNvPr>
          <p:cNvSpPr>
            <a:spLocks xmlns:a="http://schemas.openxmlformats.org/drawingml/2006/main" noGrp="1"/>
          </p:cNvSpPr>
          <p:nvPr/>
        </p:nvSpPr>
        <p:spPr>
          <a:xfrm xmlns:a="http://schemas.openxmlformats.org/drawingml/2006/main">
            <a:off x="647700" y="4438650"/>
            <a:ext cx="2381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75" b="1">
                <a:solidFill>
                  <a:srgbClr val="24231F"/>
                </a:solidFill>
                <a:latin typeface="Arial"/>
                <a:ea typeface="Arial"/>
                <a:cs typeface="Arial"/>
              </a:rPr>
              <a:t>What is saved</a:t>
            </a:r>
          </a:p>
        </p:txBody>
      </p:sp>
      <p:sp>
        <p:nvSpPr>
          <p:cNvPr id="82" name="Google Shape;82;p5">
            <a:extLst xmlns:a="http://schemas.openxmlformats.org/drawingml/2006/main">
              <a:ext uri="{FF2B5EF4-FFF2-40B4-BE49-F238E27FC236}">
                <a16:creationId xmlns:a16="http://schemas.microsoft.com/office/drawing/2014/main" id="{1EA0C1AD-6BF2-4F46-ACCD-290F3BF60384}"/>
              </a:ext>
            </a:extLst>
          </p:cNvPr>
          <p:cNvSpPr>
            <a:spLocks xmlns:a="http://schemas.openxmlformats.org/drawingml/2006/main" noGrp="1"/>
          </p:cNvSpPr>
          <p:nvPr/>
        </p:nvSpPr>
        <p:spPr>
          <a:xfrm xmlns:a="http://schemas.openxmlformats.org/drawingml/2006/main">
            <a:off x="647700" y="4819650"/>
            <a:ext cx="1038225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17" b="0">
                <a:solidFill>
                  <a:srgbClr val="24231F"/>
                </a:solidFill>
                <a:latin typeface="Arial"/>
                <a:ea typeface="Arial"/>
                <a:cs typeface="Arial"/>
              </a:rPr>
              <a:t>PostgreSQL: URL, title, summary, category, tags, topics and actions   •   pgvector: 768 numbers representing semantic meaning</a:t>
            </a:r>
          </a:p>
        </p:txBody>
      </p:sp>
    </p:spTree>
    <p:extLst>
      <p:ext uri="{BB962C8B-B14F-4D97-AF65-F5344CB8AC3E}">
        <p14:creationId xmlns:p14="http://schemas.microsoft.com/office/powerpoint/2010/main" val="1057568119"/>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8" name="Google Shape;88;p6">
            <a:extLst xmlns:a="http://schemas.openxmlformats.org/drawingml/2006/main">
              <a:ext uri="{FF2B5EF4-FFF2-40B4-BE49-F238E27FC236}">
                <a16:creationId xmlns:a16="http://schemas.microsoft.com/office/drawing/2014/main" id="{0437E0C3-3ECE-41BF-BB6D-3CC1A823D157}"/>
              </a:ext>
            </a:extLst>
          </p:cNvPr>
          <p:cNvSpPr>
            <a:spLocks xmlns:a="http://schemas.openxmlformats.org/drawingml/2006/main" noGrp="1"/>
          </p:cNvSpPr>
          <p:nvPr/>
        </p:nvSpPr>
        <p:spPr>
          <a:xfrm xmlns:a="http://schemas.openxmlformats.org/drawingml/2006/main">
            <a:off x="400050" y="266700"/>
            <a:ext cx="109537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2850" b="0">
                <a:solidFill>
                  <a:srgbClr val="24231F"/>
                </a:solidFill>
                <a:latin typeface="Georgia"/>
                <a:ea typeface="Georgia"/>
                <a:cs typeface="Georgia"/>
              </a:rPr>
              <a:t>LLM and RAG: understand once, find the right memory, answer</a:t>
            </a:r>
          </a:p>
        </p:txBody>
      </p:sp>
      <p:sp>
        <p:nvSpPr>
          <p:cNvPr id="89" name="Google Shape;89;p6">
            <a:extLst xmlns:a="http://schemas.openxmlformats.org/drawingml/2006/main">
              <a:ext uri="{FF2B5EF4-FFF2-40B4-BE49-F238E27FC236}">
                <a16:creationId xmlns:a16="http://schemas.microsoft.com/office/drawing/2014/main" id="{3CD04856-99FD-4CD3-9ACE-3C5F4B4C11B8}"/>
              </a:ext>
            </a:extLst>
          </p:cNvPr>
          <p:cNvSpPr>
            <a:spLocks xmlns:a="http://schemas.openxmlformats.org/drawingml/2006/main" noGrp="1"/>
          </p:cNvSpPr>
          <p:nvPr/>
        </p:nvSpPr>
        <p:spPr>
          <a:xfrm xmlns:a="http://schemas.openxmlformats.org/drawingml/2006/main">
            <a:off x="11315700" y="6286500"/>
            <a:ext cx="476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spcBef>
                <a:spcPts val="0"/>
              </a:spcBef>
              <a:spcAft>
                <a:spcPts val="0"/>
              </a:spcAft>
              <a:buNone/>
            </a:pPr>
            <a:r>
              <a:rPr sz="775" b="0">
                <a:solidFill>
                  <a:srgbClr val="6D6A63"/>
                </a:solidFill>
                <a:latin typeface="Arial"/>
                <a:ea typeface="Arial"/>
                <a:cs typeface="Arial"/>
              </a:rPr>
              <a:t>04</a:t>
            </a:r>
          </a:p>
        </p:txBody>
      </p:sp>
      <p:sp>
        <p:nvSpPr>
          <p:cNvPr id="90" name="Google Shape;90;p6">
            <a:extLst xmlns:a="http://schemas.openxmlformats.org/drawingml/2006/main">
              <a:ext uri="{FF2B5EF4-FFF2-40B4-BE49-F238E27FC236}">
                <a16:creationId xmlns:a16="http://schemas.microsoft.com/office/drawing/2014/main" id="{1943CCD5-CBA9-420F-B5EC-F02C664888F5}"/>
              </a:ext>
            </a:extLst>
          </p:cNvPr>
          <p:cNvSpPr>
            <a:spLocks xmlns:a="http://schemas.openxmlformats.org/drawingml/2006/main" noGrp="1"/>
          </p:cNvSpPr>
          <p:nvPr/>
        </p:nvSpPr>
        <p:spPr>
          <a:xfrm xmlns:a="http://schemas.openxmlformats.org/drawingml/2006/main">
            <a:off x="419100" y="1028700"/>
            <a:ext cx="4191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150" b="1">
                <a:solidFill>
                  <a:srgbClr val="CC4824"/>
                </a:solidFill>
                <a:latin typeface="Arial"/>
                <a:ea typeface="Arial"/>
                <a:cs typeface="Arial"/>
              </a:rPr>
              <a:t>INGEST • happens once per new source</a:t>
            </a:r>
          </a:p>
        </p:txBody>
      </p:sp>
      <p:sp>
        <p:nvSpPr>
          <p:cNvPr id="91" name="Google Shape;91;p6">
            <a:extLst xmlns:a="http://schemas.openxmlformats.org/drawingml/2006/main">
              <a:ext uri="{FF2B5EF4-FFF2-40B4-BE49-F238E27FC236}">
                <a16:creationId xmlns:a16="http://schemas.microsoft.com/office/drawing/2014/main" id="{67369A08-987E-45EA-A5FB-0936A3646C4E}"/>
              </a:ext>
            </a:extLst>
          </p:cNvPr>
          <p:cNvSpPr>
            <a:spLocks xmlns:a="http://schemas.openxmlformats.org/drawingml/2006/main" noGrp="1"/>
          </p:cNvSpPr>
          <p:nvPr/>
        </p:nvSpPr>
        <p:spPr>
          <a:xfrm xmlns:a="http://schemas.openxmlformats.org/drawingml/2006/main">
            <a:off x="2333625" y="1809750"/>
            <a:ext cx="476250" cy="3048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92" name="Google Shape;92;p6">
            <a:extLst xmlns:a="http://schemas.openxmlformats.org/drawingml/2006/main">
              <a:ext uri="{FF2B5EF4-FFF2-40B4-BE49-F238E27FC236}">
                <a16:creationId xmlns:a16="http://schemas.microsoft.com/office/drawing/2014/main" id="{63B5830B-F4FF-4BD3-A94B-D674332E557D}"/>
              </a:ext>
            </a:extLst>
          </p:cNvPr>
          <p:cNvSpPr>
            <a:spLocks xmlns:a="http://schemas.openxmlformats.org/drawingml/2006/main" noGrp="1"/>
          </p:cNvSpPr>
          <p:nvPr/>
        </p:nvSpPr>
        <p:spPr>
          <a:xfrm xmlns:a="http://schemas.openxmlformats.org/drawingml/2006/main">
            <a:off x="4762500" y="1809750"/>
            <a:ext cx="476250" cy="3048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93" name="Google Shape;93;p6">
            <a:extLst xmlns:a="http://schemas.openxmlformats.org/drawingml/2006/main">
              <a:ext uri="{FF2B5EF4-FFF2-40B4-BE49-F238E27FC236}">
                <a16:creationId xmlns:a16="http://schemas.microsoft.com/office/drawing/2014/main" id="{82A1BD36-35B9-4A28-8489-1155429B6CB3}"/>
              </a:ext>
            </a:extLst>
          </p:cNvPr>
          <p:cNvSpPr>
            <a:spLocks xmlns:a="http://schemas.openxmlformats.org/drawingml/2006/main" noGrp="1"/>
          </p:cNvSpPr>
          <p:nvPr/>
        </p:nvSpPr>
        <p:spPr>
          <a:xfrm xmlns:a="http://schemas.openxmlformats.org/drawingml/2006/main">
            <a:off x="7191375" y="1809750"/>
            <a:ext cx="476250" cy="3048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94" name="Google Shape;94;p6">
            <a:extLst xmlns:a="http://schemas.openxmlformats.org/drawingml/2006/main">
              <a:ext uri="{FF2B5EF4-FFF2-40B4-BE49-F238E27FC236}">
                <a16:creationId xmlns:a16="http://schemas.microsoft.com/office/drawing/2014/main" id="{3607177C-152D-4F82-9C33-C2E56F293763}"/>
              </a:ext>
            </a:extLst>
          </p:cNvPr>
          <p:cNvSpPr>
            <a:spLocks xmlns:a="http://schemas.openxmlformats.org/drawingml/2006/main" noGrp="1"/>
          </p:cNvSpPr>
          <p:nvPr/>
        </p:nvSpPr>
        <p:spPr>
          <a:xfrm xmlns:a="http://schemas.openxmlformats.org/drawingml/2006/main">
            <a:off x="9620250" y="1809750"/>
            <a:ext cx="476250" cy="3048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95" name="Google Shape;95;p6">
            <a:extLst xmlns:a="http://schemas.openxmlformats.org/drawingml/2006/main">
              <a:ext uri="{FF2B5EF4-FFF2-40B4-BE49-F238E27FC236}">
                <a16:creationId xmlns:a16="http://schemas.microsoft.com/office/drawing/2014/main" id="{54583771-C1D5-4E1B-A740-FE4D2B774EBD}"/>
              </a:ext>
            </a:extLst>
          </p:cNvPr>
          <p:cNvSpPr>
            <a:spLocks xmlns:a="http://schemas.openxmlformats.org/drawingml/2006/main" noGrp="1"/>
          </p:cNvSpPr>
          <p:nvPr/>
        </p:nvSpPr>
        <p:spPr>
          <a:xfrm xmlns:a="http://schemas.openxmlformats.org/drawingml/2006/main">
            <a:off x="419100" y="1428750"/>
            <a:ext cx="1914525" cy="1066800"/>
          </a:xfrm>
          <a:prstGeom xmlns:a="http://schemas.openxmlformats.org/drawingml/2006/main" prst="roundRect">
            <a:avLst>
              <a:gd name="adj" fmla="val 7143"/>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96" name="Google Shape;96;p6">
            <a:extLst xmlns:a="http://schemas.openxmlformats.org/drawingml/2006/main">
              <a:ext uri="{FF2B5EF4-FFF2-40B4-BE49-F238E27FC236}">
                <a16:creationId xmlns:a16="http://schemas.microsoft.com/office/drawing/2014/main" id="{A52A1DD9-B5B8-4179-9932-FDF1824FF97F}"/>
              </a:ext>
            </a:extLst>
          </p:cNvPr>
          <p:cNvSpPr>
            <a:spLocks xmlns:a="http://schemas.openxmlformats.org/drawingml/2006/main" noGrp="1"/>
          </p:cNvSpPr>
          <p:nvPr/>
        </p:nvSpPr>
        <p:spPr>
          <a:xfrm xmlns:a="http://schemas.openxmlformats.org/drawingml/2006/main">
            <a:off x="419100" y="1428750"/>
            <a:ext cx="76200" cy="1066800"/>
          </a:xfrm>
          <a:prstGeom xmlns:a="http://schemas.openxmlformats.org/drawingml/2006/main" prst="rect">
            <a:avLst/>
          </a:prstGeom>
          <a:solidFill xmlns:a="http://schemas.openxmlformats.org/drawingml/2006/main">
            <a:srgbClr val="24231F"/>
          </a:solidFill>
          <a:ln xmlns:a="http://schemas.openxmlformats.org/drawingml/2006/main" w="9525" cmpd="sng">
            <a:solidFill>
              <a:srgbClr val="24231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97" name="Google Shape;97;p6">
            <a:extLst xmlns:a="http://schemas.openxmlformats.org/drawingml/2006/main">
              <a:ext uri="{FF2B5EF4-FFF2-40B4-BE49-F238E27FC236}">
                <a16:creationId xmlns:a16="http://schemas.microsoft.com/office/drawing/2014/main" id="{FC7BEFD8-DF41-416C-8999-76C562659450}"/>
              </a:ext>
            </a:extLst>
          </p:cNvPr>
          <p:cNvSpPr>
            <a:spLocks xmlns:a="http://schemas.openxmlformats.org/drawingml/2006/main" noGrp="1"/>
          </p:cNvSpPr>
          <p:nvPr/>
        </p:nvSpPr>
        <p:spPr>
          <a:xfrm xmlns:a="http://schemas.openxmlformats.org/drawingml/2006/main">
            <a:off x="628650" y="1552575"/>
            <a:ext cx="15906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Source content</a:t>
            </a:r>
          </a:p>
        </p:txBody>
      </p:sp>
      <p:sp>
        <p:nvSpPr>
          <p:cNvPr id="98" name="Google Shape;98;p6">
            <a:extLst xmlns:a="http://schemas.openxmlformats.org/drawingml/2006/main">
              <a:ext uri="{FF2B5EF4-FFF2-40B4-BE49-F238E27FC236}">
                <a16:creationId xmlns:a16="http://schemas.microsoft.com/office/drawing/2014/main" id="{769867E2-220F-4704-B76D-E5A6F055BF13}"/>
              </a:ext>
            </a:extLst>
          </p:cNvPr>
          <p:cNvSpPr>
            <a:spLocks xmlns:a="http://schemas.openxmlformats.org/drawingml/2006/main" noGrp="1"/>
          </p:cNvSpPr>
          <p:nvPr/>
        </p:nvSpPr>
        <p:spPr>
          <a:xfrm xmlns:a="http://schemas.openxmlformats.org/drawingml/2006/main">
            <a:off x="628650" y="1885950"/>
            <a:ext cx="159067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a:solidFill>
                  <a:srgbClr val="6D6A63"/>
                </a:solidFill>
              </a:rPr>
              <a:t>Videos, Posts, </a:t>
            </a:r>
            <a:r>
              <a:rPr sz="1200" b="0">
                <a:solidFill>
                  <a:srgbClr val="6D6A63"/>
                </a:solidFill>
                <a:latin typeface="Arial"/>
                <a:ea typeface="Arial"/>
                <a:cs typeface="Arial"/>
              </a:rPr>
              <a:t>Caption, visible text</a:t>
            </a:r>
          </a:p>
        </p:txBody>
      </p:sp>
      <p:sp>
        <p:nvSpPr>
          <p:cNvPr id="99" name="Google Shape;99;p6">
            <a:extLst xmlns:a="http://schemas.openxmlformats.org/drawingml/2006/main">
              <a:ext uri="{FF2B5EF4-FFF2-40B4-BE49-F238E27FC236}">
                <a16:creationId xmlns:a16="http://schemas.microsoft.com/office/drawing/2014/main" id="{E2B5AC5F-936E-4648-B8B0-6CB3B1A94532}"/>
              </a:ext>
            </a:extLst>
          </p:cNvPr>
          <p:cNvSpPr>
            <a:spLocks xmlns:a="http://schemas.openxmlformats.org/drawingml/2006/main" noGrp="1"/>
          </p:cNvSpPr>
          <p:nvPr/>
        </p:nvSpPr>
        <p:spPr>
          <a:xfrm xmlns:a="http://schemas.openxmlformats.org/drawingml/2006/main">
            <a:off x="2809875" y="1428750"/>
            <a:ext cx="1952625" cy="1066800"/>
          </a:xfrm>
          <a:prstGeom xmlns:a="http://schemas.openxmlformats.org/drawingml/2006/main" prst="roundRect">
            <a:avLst>
              <a:gd name="adj" fmla="val 7143"/>
            </a:avLst>
          </a:prstGeom>
          <a:solidFill xmlns:a="http://schemas.openxmlformats.org/drawingml/2006/main">
            <a:srgbClr val="F8E7E0"/>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00" name="Google Shape;100;p6">
            <a:extLst xmlns:a="http://schemas.openxmlformats.org/drawingml/2006/main">
              <a:ext uri="{FF2B5EF4-FFF2-40B4-BE49-F238E27FC236}">
                <a16:creationId xmlns:a16="http://schemas.microsoft.com/office/drawing/2014/main" id="{DC448578-5C86-4127-B96A-9EBCF0492BDB}"/>
              </a:ext>
            </a:extLst>
          </p:cNvPr>
          <p:cNvSpPr>
            <a:spLocks xmlns:a="http://schemas.openxmlformats.org/drawingml/2006/main" noGrp="1"/>
          </p:cNvSpPr>
          <p:nvPr/>
        </p:nvSpPr>
        <p:spPr>
          <a:xfrm xmlns:a="http://schemas.openxmlformats.org/drawingml/2006/main">
            <a:off x="2809875" y="1428750"/>
            <a:ext cx="76200" cy="1066800"/>
          </a:xfrm>
          <a:prstGeom xmlns:a="http://schemas.openxmlformats.org/drawingml/2006/main" prst="rect">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01" name="Google Shape;101;p6">
            <a:extLst xmlns:a="http://schemas.openxmlformats.org/drawingml/2006/main">
              <a:ext uri="{FF2B5EF4-FFF2-40B4-BE49-F238E27FC236}">
                <a16:creationId xmlns:a16="http://schemas.microsoft.com/office/drawing/2014/main" id="{0E5EFBEA-D328-40F6-9E31-3696653DF3FF}"/>
              </a:ext>
            </a:extLst>
          </p:cNvPr>
          <p:cNvSpPr>
            <a:spLocks xmlns:a="http://schemas.openxmlformats.org/drawingml/2006/main" noGrp="1"/>
          </p:cNvSpPr>
          <p:nvPr/>
        </p:nvSpPr>
        <p:spPr>
          <a:xfrm xmlns:a="http://schemas.openxmlformats.org/drawingml/2006/main">
            <a:off x="3019425" y="1552575"/>
            <a:ext cx="16287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First LLM</a:t>
            </a:r>
          </a:p>
        </p:txBody>
      </p:sp>
      <p:sp>
        <p:nvSpPr>
          <p:cNvPr id="102" name="Google Shape;102;p6">
            <a:extLst xmlns:a="http://schemas.openxmlformats.org/drawingml/2006/main">
              <a:ext uri="{FF2B5EF4-FFF2-40B4-BE49-F238E27FC236}">
                <a16:creationId xmlns:a16="http://schemas.microsoft.com/office/drawing/2014/main" id="{1D41178F-7257-42A3-92F0-A133899B2808}"/>
              </a:ext>
            </a:extLst>
          </p:cNvPr>
          <p:cNvSpPr>
            <a:spLocks xmlns:a="http://schemas.openxmlformats.org/drawingml/2006/main" noGrp="1"/>
          </p:cNvSpPr>
          <p:nvPr/>
        </p:nvSpPr>
        <p:spPr>
          <a:xfrm xmlns:a="http://schemas.openxmlformats.org/drawingml/2006/main">
            <a:off x="3019425" y="1885950"/>
            <a:ext cx="162877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Turns content into clean notes and tags</a:t>
            </a:r>
          </a:p>
        </p:txBody>
      </p:sp>
      <p:sp>
        <p:nvSpPr>
          <p:cNvPr id="103" name="Google Shape;103;p6">
            <a:extLst xmlns:a="http://schemas.openxmlformats.org/drawingml/2006/main">
              <a:ext uri="{FF2B5EF4-FFF2-40B4-BE49-F238E27FC236}">
                <a16:creationId xmlns:a16="http://schemas.microsoft.com/office/drawing/2014/main" id="{3DD7C65E-0A07-422B-B7DA-C3E9C13010CD}"/>
              </a:ext>
            </a:extLst>
          </p:cNvPr>
          <p:cNvSpPr>
            <a:spLocks xmlns:a="http://schemas.openxmlformats.org/drawingml/2006/main" noGrp="1"/>
          </p:cNvSpPr>
          <p:nvPr/>
        </p:nvSpPr>
        <p:spPr>
          <a:xfrm xmlns:a="http://schemas.openxmlformats.org/drawingml/2006/main">
            <a:off x="5238750" y="1428750"/>
            <a:ext cx="1952625" cy="1066800"/>
          </a:xfrm>
          <a:prstGeom xmlns:a="http://schemas.openxmlformats.org/drawingml/2006/main" prst="roundRect">
            <a:avLst>
              <a:gd name="adj" fmla="val 7143"/>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04" name="Google Shape;104;p6">
            <a:extLst xmlns:a="http://schemas.openxmlformats.org/drawingml/2006/main">
              <a:ext uri="{FF2B5EF4-FFF2-40B4-BE49-F238E27FC236}">
                <a16:creationId xmlns:a16="http://schemas.microsoft.com/office/drawing/2014/main" id="{74248E48-C255-4F78-B88C-7F20A050F7A4}"/>
              </a:ext>
            </a:extLst>
          </p:cNvPr>
          <p:cNvSpPr>
            <a:spLocks xmlns:a="http://schemas.openxmlformats.org/drawingml/2006/main" noGrp="1"/>
          </p:cNvSpPr>
          <p:nvPr/>
        </p:nvSpPr>
        <p:spPr>
          <a:xfrm xmlns:a="http://schemas.openxmlformats.org/drawingml/2006/main">
            <a:off x="5238750" y="1428750"/>
            <a:ext cx="76200" cy="1066800"/>
          </a:xfrm>
          <a:prstGeom xmlns:a="http://schemas.openxmlformats.org/drawingml/2006/main" prst="rect">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05" name="Google Shape;105;p6">
            <a:extLst xmlns:a="http://schemas.openxmlformats.org/drawingml/2006/main">
              <a:ext uri="{FF2B5EF4-FFF2-40B4-BE49-F238E27FC236}">
                <a16:creationId xmlns:a16="http://schemas.microsoft.com/office/drawing/2014/main" id="{8704202E-AC6F-4DAA-8873-E296F1A69B5A}"/>
              </a:ext>
            </a:extLst>
          </p:cNvPr>
          <p:cNvSpPr>
            <a:spLocks xmlns:a="http://schemas.openxmlformats.org/drawingml/2006/main" noGrp="1"/>
          </p:cNvSpPr>
          <p:nvPr/>
        </p:nvSpPr>
        <p:spPr>
          <a:xfrm xmlns:a="http://schemas.openxmlformats.org/drawingml/2006/main">
            <a:off x="5448300" y="1552575"/>
            <a:ext cx="16287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Embedding</a:t>
            </a:r>
          </a:p>
        </p:txBody>
      </p:sp>
      <p:sp>
        <p:nvSpPr>
          <p:cNvPr id="106" name="Google Shape;106;p6">
            <a:extLst xmlns:a="http://schemas.openxmlformats.org/drawingml/2006/main">
              <a:ext uri="{FF2B5EF4-FFF2-40B4-BE49-F238E27FC236}">
                <a16:creationId xmlns:a16="http://schemas.microsoft.com/office/drawing/2014/main" id="{0796B46D-88BB-4294-B48E-234D573261E8}"/>
              </a:ext>
            </a:extLst>
          </p:cNvPr>
          <p:cNvSpPr>
            <a:spLocks xmlns:a="http://schemas.openxmlformats.org/drawingml/2006/main" noGrp="1"/>
          </p:cNvSpPr>
          <p:nvPr/>
        </p:nvSpPr>
        <p:spPr>
          <a:xfrm xmlns:a="http://schemas.openxmlformats.org/drawingml/2006/main">
            <a:off x="5448300" y="1885950"/>
            <a:ext cx="162877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Meaning becomes 768 numbers</a:t>
            </a:r>
          </a:p>
        </p:txBody>
      </p:sp>
      <p:sp>
        <p:nvSpPr>
          <p:cNvPr id="107" name="Google Shape;107;p6">
            <a:extLst xmlns:a="http://schemas.openxmlformats.org/drawingml/2006/main">
              <a:ext uri="{FF2B5EF4-FFF2-40B4-BE49-F238E27FC236}">
                <a16:creationId xmlns:a16="http://schemas.microsoft.com/office/drawing/2014/main" id="{28E16815-4C8E-4EAB-947A-73DCAAF81A0E}"/>
              </a:ext>
            </a:extLst>
          </p:cNvPr>
          <p:cNvSpPr>
            <a:spLocks xmlns:a="http://schemas.openxmlformats.org/drawingml/2006/main" noGrp="1"/>
          </p:cNvSpPr>
          <p:nvPr/>
        </p:nvSpPr>
        <p:spPr>
          <a:xfrm xmlns:a="http://schemas.openxmlformats.org/drawingml/2006/main">
            <a:off x="7667625" y="1428750"/>
            <a:ext cx="1952625" cy="1066800"/>
          </a:xfrm>
          <a:prstGeom xmlns:a="http://schemas.openxmlformats.org/drawingml/2006/main" prst="roundRect">
            <a:avLst>
              <a:gd name="adj" fmla="val 7143"/>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08" name="Google Shape;108;p6">
            <a:extLst xmlns:a="http://schemas.openxmlformats.org/drawingml/2006/main">
              <a:ext uri="{FF2B5EF4-FFF2-40B4-BE49-F238E27FC236}">
                <a16:creationId xmlns:a16="http://schemas.microsoft.com/office/drawing/2014/main" id="{6D717092-BD54-4659-907A-830C617EFC1D}"/>
              </a:ext>
            </a:extLst>
          </p:cNvPr>
          <p:cNvSpPr>
            <a:spLocks xmlns:a="http://schemas.openxmlformats.org/drawingml/2006/main" noGrp="1"/>
          </p:cNvSpPr>
          <p:nvPr/>
        </p:nvSpPr>
        <p:spPr>
          <a:xfrm xmlns:a="http://schemas.openxmlformats.org/drawingml/2006/main">
            <a:off x="7667625" y="1428750"/>
            <a:ext cx="76200" cy="1066800"/>
          </a:xfrm>
          <a:prstGeom xmlns:a="http://schemas.openxmlformats.org/drawingml/2006/main" prst="rect">
            <a:avLst/>
          </a:prstGeom>
          <a:solidFill xmlns:a="http://schemas.openxmlformats.org/drawingml/2006/main">
            <a:srgbClr val="26734D"/>
          </a:solidFill>
          <a:ln xmlns:a="http://schemas.openxmlformats.org/drawingml/2006/main" w="9525" cmpd="sng">
            <a:solidFill>
              <a:srgbClr val="26734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09" name="Google Shape;109;p6">
            <a:extLst xmlns:a="http://schemas.openxmlformats.org/drawingml/2006/main">
              <a:ext uri="{FF2B5EF4-FFF2-40B4-BE49-F238E27FC236}">
                <a16:creationId xmlns:a16="http://schemas.microsoft.com/office/drawing/2014/main" id="{4ED81271-B6E4-4E34-B95D-CE9F4AA50891}"/>
              </a:ext>
            </a:extLst>
          </p:cNvPr>
          <p:cNvSpPr>
            <a:spLocks xmlns:a="http://schemas.openxmlformats.org/drawingml/2006/main" noGrp="1"/>
          </p:cNvSpPr>
          <p:nvPr/>
        </p:nvSpPr>
        <p:spPr>
          <a:xfrm xmlns:a="http://schemas.openxmlformats.org/drawingml/2006/main">
            <a:off x="7877175" y="1552575"/>
            <a:ext cx="16287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Memory store</a:t>
            </a:r>
          </a:p>
        </p:txBody>
      </p:sp>
      <p:sp>
        <p:nvSpPr>
          <p:cNvPr id="110" name="Google Shape;110;p6">
            <a:extLst xmlns:a="http://schemas.openxmlformats.org/drawingml/2006/main">
              <a:ext uri="{FF2B5EF4-FFF2-40B4-BE49-F238E27FC236}">
                <a16:creationId xmlns:a16="http://schemas.microsoft.com/office/drawing/2014/main" id="{5E2E2195-C357-4F9F-BDAD-010AD4B1008D}"/>
              </a:ext>
            </a:extLst>
          </p:cNvPr>
          <p:cNvSpPr>
            <a:spLocks xmlns:a="http://schemas.openxmlformats.org/drawingml/2006/main" noGrp="1"/>
          </p:cNvSpPr>
          <p:nvPr/>
        </p:nvSpPr>
        <p:spPr>
          <a:xfrm xmlns:a="http://schemas.openxmlformats.org/drawingml/2006/main">
            <a:off x="7877175" y="1885950"/>
            <a:ext cx="162877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PostgreSQL + pgvector</a:t>
            </a:r>
          </a:p>
        </p:txBody>
      </p:sp>
      <p:sp>
        <p:nvSpPr>
          <p:cNvPr id="111" name="Google Shape;111;p6">
            <a:extLst xmlns:a="http://schemas.openxmlformats.org/drawingml/2006/main">
              <a:ext uri="{FF2B5EF4-FFF2-40B4-BE49-F238E27FC236}">
                <a16:creationId xmlns:a16="http://schemas.microsoft.com/office/drawing/2014/main" id="{0B192B67-A3FB-48C2-9635-E6F8A0FA6E27}"/>
              </a:ext>
            </a:extLst>
          </p:cNvPr>
          <p:cNvSpPr>
            <a:spLocks xmlns:a="http://schemas.openxmlformats.org/drawingml/2006/main" noGrp="1"/>
          </p:cNvSpPr>
          <p:nvPr/>
        </p:nvSpPr>
        <p:spPr>
          <a:xfrm xmlns:a="http://schemas.openxmlformats.org/drawingml/2006/main">
            <a:off x="10096500" y="1428750"/>
            <a:ext cx="1409700" cy="1066800"/>
          </a:xfrm>
          <a:prstGeom xmlns:a="http://schemas.openxmlformats.org/drawingml/2006/main" prst="roundRect">
            <a:avLst>
              <a:gd name="adj" fmla="val 7143"/>
            </a:avLst>
          </a:prstGeom>
          <a:solidFill xmlns:a="http://schemas.openxmlformats.org/drawingml/2006/main">
            <a:srgbClr val="D6EE72"/>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12" name="Google Shape;112;p6">
            <a:extLst xmlns:a="http://schemas.openxmlformats.org/drawingml/2006/main">
              <a:ext uri="{FF2B5EF4-FFF2-40B4-BE49-F238E27FC236}">
                <a16:creationId xmlns:a16="http://schemas.microsoft.com/office/drawing/2014/main" id="{90F67430-7EA4-4EE0-92B2-A3947DE90BE6}"/>
              </a:ext>
            </a:extLst>
          </p:cNvPr>
          <p:cNvSpPr>
            <a:spLocks xmlns:a="http://schemas.openxmlformats.org/drawingml/2006/main" noGrp="1"/>
          </p:cNvSpPr>
          <p:nvPr/>
        </p:nvSpPr>
        <p:spPr>
          <a:xfrm xmlns:a="http://schemas.openxmlformats.org/drawingml/2006/main">
            <a:off x="10096500" y="1428750"/>
            <a:ext cx="76200" cy="1066800"/>
          </a:xfrm>
          <a:prstGeom xmlns:a="http://schemas.openxmlformats.org/drawingml/2006/main" prst="rect">
            <a:avLst/>
          </a:prstGeom>
          <a:solidFill xmlns:a="http://schemas.openxmlformats.org/drawingml/2006/main">
            <a:srgbClr val="24231F"/>
          </a:solidFill>
          <a:ln xmlns:a="http://schemas.openxmlformats.org/drawingml/2006/main" w="9525" cmpd="sng">
            <a:solidFill>
              <a:srgbClr val="24231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13" name="Google Shape;113;p6">
            <a:extLst xmlns:a="http://schemas.openxmlformats.org/drawingml/2006/main">
              <a:ext uri="{FF2B5EF4-FFF2-40B4-BE49-F238E27FC236}">
                <a16:creationId xmlns:a16="http://schemas.microsoft.com/office/drawing/2014/main" id="{21CF2E30-5837-411C-B2AA-D2D8C68118F5}"/>
              </a:ext>
            </a:extLst>
          </p:cNvPr>
          <p:cNvSpPr>
            <a:spLocks xmlns:a="http://schemas.openxmlformats.org/drawingml/2006/main" noGrp="1"/>
          </p:cNvSpPr>
          <p:nvPr/>
        </p:nvSpPr>
        <p:spPr>
          <a:xfrm xmlns:a="http://schemas.openxmlformats.org/drawingml/2006/main">
            <a:off x="10306050" y="1552575"/>
            <a:ext cx="10858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Reusable</a:t>
            </a:r>
          </a:p>
        </p:txBody>
      </p:sp>
      <p:sp>
        <p:nvSpPr>
          <p:cNvPr id="114" name="Google Shape;114;p6">
            <a:extLst xmlns:a="http://schemas.openxmlformats.org/drawingml/2006/main">
              <a:ext uri="{FF2B5EF4-FFF2-40B4-BE49-F238E27FC236}">
                <a16:creationId xmlns:a16="http://schemas.microsoft.com/office/drawing/2014/main" id="{F1D02AC8-0E1F-40E4-91ED-77E44B8A64E1}"/>
              </a:ext>
            </a:extLst>
          </p:cNvPr>
          <p:cNvSpPr>
            <a:spLocks xmlns:a="http://schemas.openxmlformats.org/drawingml/2006/main" noGrp="1"/>
          </p:cNvSpPr>
          <p:nvPr/>
        </p:nvSpPr>
        <p:spPr>
          <a:xfrm xmlns:a="http://schemas.openxmlformats.org/drawingml/2006/main">
            <a:off x="10306050" y="1885950"/>
            <a:ext cx="10858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Analyze once</a:t>
            </a:r>
          </a:p>
        </p:txBody>
      </p:sp>
      <p:sp>
        <p:nvSpPr>
          <p:cNvPr id="115" name="Google Shape;115;p6">
            <a:extLst xmlns:a="http://schemas.openxmlformats.org/drawingml/2006/main">
              <a:ext uri="{FF2B5EF4-FFF2-40B4-BE49-F238E27FC236}">
                <a16:creationId xmlns:a16="http://schemas.microsoft.com/office/drawing/2014/main" id="{E7B47F0C-3DFD-414F-8DCF-A084E5CEB6F6}"/>
              </a:ext>
            </a:extLst>
          </p:cNvPr>
          <p:cNvSpPr>
            <a:spLocks xmlns:a="http://schemas.openxmlformats.org/drawingml/2006/main" noGrp="1"/>
          </p:cNvSpPr>
          <p:nvPr/>
        </p:nvSpPr>
        <p:spPr>
          <a:xfrm xmlns:a="http://schemas.openxmlformats.org/drawingml/2006/main">
            <a:off x="419100" y="2990850"/>
            <a:ext cx="4191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150" b="1">
                <a:solidFill>
                  <a:srgbClr val="CC4824"/>
                </a:solidFill>
                <a:latin typeface="Arial"/>
                <a:ea typeface="Arial"/>
                <a:cs typeface="Arial"/>
              </a:rPr>
              <a:t>ASK • happens for every question</a:t>
            </a:r>
          </a:p>
        </p:txBody>
      </p:sp>
      <p:sp>
        <p:nvSpPr>
          <p:cNvPr id="116" name="Google Shape;116;p6">
            <a:extLst xmlns:a="http://schemas.openxmlformats.org/drawingml/2006/main">
              <a:ext uri="{FF2B5EF4-FFF2-40B4-BE49-F238E27FC236}">
                <a16:creationId xmlns:a16="http://schemas.microsoft.com/office/drawing/2014/main" id="{0EA235F3-FA40-4BC4-8727-974BA615B6D6}"/>
              </a:ext>
            </a:extLst>
          </p:cNvPr>
          <p:cNvSpPr>
            <a:spLocks xmlns:a="http://schemas.openxmlformats.org/drawingml/2006/main" noGrp="1"/>
          </p:cNvSpPr>
          <p:nvPr/>
        </p:nvSpPr>
        <p:spPr>
          <a:xfrm xmlns:a="http://schemas.openxmlformats.org/drawingml/2006/main">
            <a:off x="2333625" y="3810000"/>
            <a:ext cx="476250" cy="3048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17" name="Google Shape;117;p6">
            <a:extLst xmlns:a="http://schemas.openxmlformats.org/drawingml/2006/main">
              <a:ext uri="{FF2B5EF4-FFF2-40B4-BE49-F238E27FC236}">
                <a16:creationId xmlns:a16="http://schemas.microsoft.com/office/drawing/2014/main" id="{0FA850A5-082F-481A-8711-78D16D496AF8}"/>
              </a:ext>
            </a:extLst>
          </p:cNvPr>
          <p:cNvSpPr>
            <a:spLocks xmlns:a="http://schemas.openxmlformats.org/drawingml/2006/main" noGrp="1"/>
          </p:cNvSpPr>
          <p:nvPr/>
        </p:nvSpPr>
        <p:spPr>
          <a:xfrm xmlns:a="http://schemas.openxmlformats.org/drawingml/2006/main">
            <a:off x="4762500" y="3810000"/>
            <a:ext cx="476250" cy="3048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18" name="Google Shape;118;p6">
            <a:extLst xmlns:a="http://schemas.openxmlformats.org/drawingml/2006/main">
              <a:ext uri="{FF2B5EF4-FFF2-40B4-BE49-F238E27FC236}">
                <a16:creationId xmlns:a16="http://schemas.microsoft.com/office/drawing/2014/main" id="{FFE1BD3D-FF5B-4E3B-AAB4-FF2774D55A33}"/>
              </a:ext>
            </a:extLst>
          </p:cNvPr>
          <p:cNvSpPr>
            <a:spLocks xmlns:a="http://schemas.openxmlformats.org/drawingml/2006/main" noGrp="1"/>
          </p:cNvSpPr>
          <p:nvPr/>
        </p:nvSpPr>
        <p:spPr>
          <a:xfrm xmlns:a="http://schemas.openxmlformats.org/drawingml/2006/main">
            <a:off x="7191375" y="3810000"/>
            <a:ext cx="476250" cy="3048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19" name="Google Shape;119;p6">
            <a:extLst xmlns:a="http://schemas.openxmlformats.org/drawingml/2006/main">
              <a:ext uri="{FF2B5EF4-FFF2-40B4-BE49-F238E27FC236}">
                <a16:creationId xmlns:a16="http://schemas.microsoft.com/office/drawing/2014/main" id="{12CBD697-10BE-4589-8C2F-488D30F3FF25}"/>
              </a:ext>
            </a:extLst>
          </p:cNvPr>
          <p:cNvSpPr>
            <a:spLocks xmlns:a="http://schemas.openxmlformats.org/drawingml/2006/main" noGrp="1"/>
          </p:cNvSpPr>
          <p:nvPr/>
        </p:nvSpPr>
        <p:spPr>
          <a:xfrm xmlns:a="http://schemas.openxmlformats.org/drawingml/2006/main">
            <a:off x="9620250" y="3810000"/>
            <a:ext cx="476250" cy="3048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20" name="Google Shape;120;p6">
            <a:extLst xmlns:a="http://schemas.openxmlformats.org/drawingml/2006/main">
              <a:ext uri="{FF2B5EF4-FFF2-40B4-BE49-F238E27FC236}">
                <a16:creationId xmlns:a16="http://schemas.microsoft.com/office/drawing/2014/main" id="{507F026B-DE51-490D-A035-EC0F360094BE}"/>
              </a:ext>
            </a:extLst>
          </p:cNvPr>
          <p:cNvSpPr>
            <a:spLocks xmlns:a="http://schemas.openxmlformats.org/drawingml/2006/main" noGrp="1"/>
          </p:cNvSpPr>
          <p:nvPr/>
        </p:nvSpPr>
        <p:spPr>
          <a:xfrm xmlns:a="http://schemas.openxmlformats.org/drawingml/2006/main">
            <a:off x="419100" y="3429000"/>
            <a:ext cx="1914525" cy="1066800"/>
          </a:xfrm>
          <a:prstGeom xmlns:a="http://schemas.openxmlformats.org/drawingml/2006/main" prst="roundRect">
            <a:avLst>
              <a:gd name="adj" fmla="val 7143"/>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21" name="Google Shape;121;p6">
            <a:extLst xmlns:a="http://schemas.openxmlformats.org/drawingml/2006/main">
              <a:ext uri="{FF2B5EF4-FFF2-40B4-BE49-F238E27FC236}">
                <a16:creationId xmlns:a16="http://schemas.microsoft.com/office/drawing/2014/main" id="{5AD17D10-2F95-498B-88FB-0A45505A1368}"/>
              </a:ext>
            </a:extLst>
          </p:cNvPr>
          <p:cNvSpPr>
            <a:spLocks xmlns:a="http://schemas.openxmlformats.org/drawingml/2006/main" noGrp="1"/>
          </p:cNvSpPr>
          <p:nvPr/>
        </p:nvSpPr>
        <p:spPr>
          <a:xfrm xmlns:a="http://schemas.openxmlformats.org/drawingml/2006/main">
            <a:off x="419100" y="3429000"/>
            <a:ext cx="76200" cy="1066800"/>
          </a:xfrm>
          <a:prstGeom xmlns:a="http://schemas.openxmlformats.org/drawingml/2006/main" prst="rect">
            <a:avLst/>
          </a:prstGeom>
          <a:solidFill xmlns:a="http://schemas.openxmlformats.org/drawingml/2006/main">
            <a:srgbClr val="24231F"/>
          </a:solidFill>
          <a:ln xmlns:a="http://schemas.openxmlformats.org/drawingml/2006/main" w="9525" cmpd="sng">
            <a:solidFill>
              <a:srgbClr val="24231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22" name="Google Shape;122;p6">
            <a:extLst xmlns:a="http://schemas.openxmlformats.org/drawingml/2006/main">
              <a:ext uri="{FF2B5EF4-FFF2-40B4-BE49-F238E27FC236}">
                <a16:creationId xmlns:a16="http://schemas.microsoft.com/office/drawing/2014/main" id="{0DD6A144-DF75-4F5B-9AC6-A7DE00C79954}"/>
              </a:ext>
            </a:extLst>
          </p:cNvPr>
          <p:cNvSpPr>
            <a:spLocks xmlns:a="http://schemas.openxmlformats.org/drawingml/2006/main" noGrp="1"/>
          </p:cNvSpPr>
          <p:nvPr/>
        </p:nvSpPr>
        <p:spPr>
          <a:xfrm xmlns:a="http://schemas.openxmlformats.org/drawingml/2006/main">
            <a:off x="628650" y="3552825"/>
            <a:ext cx="15906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User question</a:t>
            </a:r>
          </a:p>
        </p:txBody>
      </p:sp>
      <p:sp>
        <p:nvSpPr>
          <p:cNvPr id="123" name="Google Shape;123;p6">
            <a:extLst xmlns:a="http://schemas.openxmlformats.org/drawingml/2006/main">
              <a:ext uri="{FF2B5EF4-FFF2-40B4-BE49-F238E27FC236}">
                <a16:creationId xmlns:a16="http://schemas.microsoft.com/office/drawing/2014/main" id="{9657BEF9-1F91-4610-B48F-D6E42C6FD500}"/>
              </a:ext>
            </a:extLst>
          </p:cNvPr>
          <p:cNvSpPr>
            <a:spLocks xmlns:a="http://schemas.openxmlformats.org/drawingml/2006/main" noGrp="1"/>
          </p:cNvSpPr>
          <p:nvPr/>
        </p:nvSpPr>
        <p:spPr>
          <a:xfrm xmlns:a="http://schemas.openxmlformats.org/drawingml/2006/main">
            <a:off x="628650" y="3886200"/>
            <a:ext cx="159067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Goal and constraints</a:t>
            </a:r>
          </a:p>
        </p:txBody>
      </p:sp>
      <p:sp>
        <p:nvSpPr>
          <p:cNvPr id="124" name="Google Shape;124;p6">
            <a:extLst xmlns:a="http://schemas.openxmlformats.org/drawingml/2006/main">
              <a:ext uri="{FF2B5EF4-FFF2-40B4-BE49-F238E27FC236}">
                <a16:creationId xmlns:a16="http://schemas.microsoft.com/office/drawing/2014/main" id="{15CBB310-5901-44C8-8249-73AD72604C71}"/>
              </a:ext>
            </a:extLst>
          </p:cNvPr>
          <p:cNvSpPr>
            <a:spLocks xmlns:a="http://schemas.openxmlformats.org/drawingml/2006/main" noGrp="1"/>
          </p:cNvSpPr>
          <p:nvPr/>
        </p:nvSpPr>
        <p:spPr>
          <a:xfrm xmlns:a="http://schemas.openxmlformats.org/drawingml/2006/main">
            <a:off x="2809875" y="3429000"/>
            <a:ext cx="1952625" cy="1066800"/>
          </a:xfrm>
          <a:prstGeom xmlns:a="http://schemas.openxmlformats.org/drawingml/2006/main" prst="roundRect">
            <a:avLst>
              <a:gd name="adj" fmla="val 7143"/>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25" name="Google Shape;125;p6">
            <a:extLst xmlns:a="http://schemas.openxmlformats.org/drawingml/2006/main">
              <a:ext uri="{FF2B5EF4-FFF2-40B4-BE49-F238E27FC236}">
                <a16:creationId xmlns:a16="http://schemas.microsoft.com/office/drawing/2014/main" id="{934FA876-EE1C-4EC9-9E69-C34A1671F8A4}"/>
              </a:ext>
            </a:extLst>
          </p:cNvPr>
          <p:cNvSpPr>
            <a:spLocks xmlns:a="http://schemas.openxmlformats.org/drawingml/2006/main" noGrp="1"/>
          </p:cNvSpPr>
          <p:nvPr/>
        </p:nvSpPr>
        <p:spPr>
          <a:xfrm xmlns:a="http://schemas.openxmlformats.org/drawingml/2006/main">
            <a:off x="2809875" y="3429000"/>
            <a:ext cx="76200" cy="1066800"/>
          </a:xfrm>
          <a:prstGeom xmlns:a="http://schemas.openxmlformats.org/drawingml/2006/main" prst="rect">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26" name="Google Shape;126;p6">
            <a:extLst xmlns:a="http://schemas.openxmlformats.org/drawingml/2006/main">
              <a:ext uri="{FF2B5EF4-FFF2-40B4-BE49-F238E27FC236}">
                <a16:creationId xmlns:a16="http://schemas.microsoft.com/office/drawing/2014/main" id="{A8C89920-46A8-4499-AC01-26E694765621}"/>
              </a:ext>
            </a:extLst>
          </p:cNvPr>
          <p:cNvSpPr>
            <a:spLocks xmlns:a="http://schemas.openxmlformats.org/drawingml/2006/main" noGrp="1"/>
          </p:cNvSpPr>
          <p:nvPr/>
        </p:nvSpPr>
        <p:spPr>
          <a:xfrm xmlns:a="http://schemas.openxmlformats.org/drawingml/2006/main">
            <a:off x="3019425" y="3552825"/>
            <a:ext cx="18384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300" b="1">
                <a:solidFill>
                  <a:srgbClr val="24231F"/>
                </a:solidFill>
                <a:latin typeface="Arial"/>
                <a:ea typeface="Arial"/>
                <a:cs typeface="Arial"/>
              </a:rPr>
              <a:t>Question</a:t>
            </a:r>
            <a:r>
              <a:rPr sz="1300" b="1">
                <a:solidFill>
                  <a:srgbClr val="24231F"/>
                </a:solidFill>
              </a:rPr>
              <a:t> </a:t>
            </a:r>
            <a:r>
              <a:rPr sz="1400" b="1">
                <a:solidFill>
                  <a:srgbClr val="24231F"/>
                </a:solidFill>
              </a:rPr>
              <a:t>Embedding</a:t>
            </a:r>
          </a:p>
        </p:txBody>
      </p:sp>
      <p:sp>
        <p:nvSpPr>
          <p:cNvPr id="127" name="Google Shape;127;p6">
            <a:extLst xmlns:a="http://schemas.openxmlformats.org/drawingml/2006/main">
              <a:ext uri="{FF2B5EF4-FFF2-40B4-BE49-F238E27FC236}">
                <a16:creationId xmlns:a16="http://schemas.microsoft.com/office/drawing/2014/main" id="{56A0ABB7-7118-4133-BB16-432F981A60B7}"/>
              </a:ext>
            </a:extLst>
          </p:cNvPr>
          <p:cNvSpPr>
            <a:spLocks xmlns:a="http://schemas.openxmlformats.org/drawingml/2006/main" noGrp="1"/>
          </p:cNvSpPr>
          <p:nvPr/>
        </p:nvSpPr>
        <p:spPr>
          <a:xfrm xmlns:a="http://schemas.openxmlformats.org/drawingml/2006/main">
            <a:off x="3019425" y="3886200"/>
            <a:ext cx="162877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Question becomes 768 numbers</a:t>
            </a:r>
          </a:p>
        </p:txBody>
      </p:sp>
      <p:sp>
        <p:nvSpPr>
          <p:cNvPr id="128" name="Google Shape;128;p6">
            <a:extLst xmlns:a="http://schemas.openxmlformats.org/drawingml/2006/main">
              <a:ext uri="{FF2B5EF4-FFF2-40B4-BE49-F238E27FC236}">
                <a16:creationId xmlns:a16="http://schemas.microsoft.com/office/drawing/2014/main" id="{1A21E40C-7706-4C5F-9DB3-DF75E94996F7}"/>
              </a:ext>
            </a:extLst>
          </p:cNvPr>
          <p:cNvSpPr>
            <a:spLocks xmlns:a="http://schemas.openxmlformats.org/drawingml/2006/main" noGrp="1"/>
          </p:cNvSpPr>
          <p:nvPr/>
        </p:nvSpPr>
        <p:spPr>
          <a:xfrm xmlns:a="http://schemas.openxmlformats.org/drawingml/2006/main">
            <a:off x="5238750" y="3429000"/>
            <a:ext cx="1952625" cy="1066800"/>
          </a:xfrm>
          <a:prstGeom xmlns:a="http://schemas.openxmlformats.org/drawingml/2006/main" prst="roundRect">
            <a:avLst>
              <a:gd name="adj" fmla="val 7143"/>
            </a:avLst>
          </a:prstGeom>
          <a:solidFill xmlns:a="http://schemas.openxmlformats.org/drawingml/2006/main">
            <a:srgbClr val="F8E7E0"/>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29" name="Google Shape;129;p6">
            <a:extLst xmlns:a="http://schemas.openxmlformats.org/drawingml/2006/main">
              <a:ext uri="{FF2B5EF4-FFF2-40B4-BE49-F238E27FC236}">
                <a16:creationId xmlns:a16="http://schemas.microsoft.com/office/drawing/2014/main" id="{F8CBE115-57CD-42D2-9BD6-F5B9857BE6BB}"/>
              </a:ext>
            </a:extLst>
          </p:cNvPr>
          <p:cNvSpPr>
            <a:spLocks xmlns:a="http://schemas.openxmlformats.org/drawingml/2006/main" noGrp="1"/>
          </p:cNvSpPr>
          <p:nvPr/>
        </p:nvSpPr>
        <p:spPr>
          <a:xfrm xmlns:a="http://schemas.openxmlformats.org/drawingml/2006/main">
            <a:off x="5238750" y="3429000"/>
            <a:ext cx="76200" cy="1066800"/>
          </a:xfrm>
          <a:prstGeom xmlns:a="http://schemas.openxmlformats.org/drawingml/2006/main" prst="rect">
            <a:avLst/>
          </a:prstGeom>
          <a:solidFill xmlns:a="http://schemas.openxmlformats.org/drawingml/2006/main">
            <a:srgbClr val="806C52"/>
          </a:solidFill>
          <a:ln xmlns:a="http://schemas.openxmlformats.org/drawingml/2006/main" w="9525" cmpd="sng">
            <a:solidFill>
              <a:srgbClr val="806C5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30" name="Google Shape;130;p6">
            <a:extLst xmlns:a="http://schemas.openxmlformats.org/drawingml/2006/main">
              <a:ext uri="{FF2B5EF4-FFF2-40B4-BE49-F238E27FC236}">
                <a16:creationId xmlns:a16="http://schemas.microsoft.com/office/drawing/2014/main" id="{E704D000-64F5-401F-8E5B-D39FBFFC9651}"/>
              </a:ext>
            </a:extLst>
          </p:cNvPr>
          <p:cNvSpPr>
            <a:spLocks xmlns:a="http://schemas.openxmlformats.org/drawingml/2006/main" noGrp="1"/>
          </p:cNvSpPr>
          <p:nvPr/>
        </p:nvSpPr>
        <p:spPr>
          <a:xfrm xmlns:a="http://schemas.openxmlformats.org/drawingml/2006/main">
            <a:off x="5448300" y="3552825"/>
            <a:ext cx="16287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RAG search</a:t>
            </a:r>
          </a:p>
        </p:txBody>
      </p:sp>
      <p:sp>
        <p:nvSpPr>
          <p:cNvPr id="131" name="Google Shape;131;p6">
            <a:extLst xmlns:a="http://schemas.openxmlformats.org/drawingml/2006/main">
              <a:ext uri="{FF2B5EF4-FFF2-40B4-BE49-F238E27FC236}">
                <a16:creationId xmlns:a16="http://schemas.microsoft.com/office/drawing/2014/main" id="{BDD74353-1953-4849-B606-44929A018223}"/>
              </a:ext>
            </a:extLst>
          </p:cNvPr>
          <p:cNvSpPr>
            <a:spLocks xmlns:a="http://schemas.openxmlformats.org/drawingml/2006/main" noGrp="1"/>
          </p:cNvSpPr>
          <p:nvPr/>
        </p:nvSpPr>
        <p:spPr>
          <a:xfrm xmlns:a="http://schemas.openxmlformats.org/drawingml/2006/main">
            <a:off x="5448300" y="3886200"/>
            <a:ext cx="162877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Finds close meaning and matching words</a:t>
            </a:r>
          </a:p>
        </p:txBody>
      </p:sp>
      <p:sp>
        <p:nvSpPr>
          <p:cNvPr id="132" name="Google Shape;132;p6">
            <a:extLst xmlns:a="http://schemas.openxmlformats.org/drawingml/2006/main">
              <a:ext uri="{FF2B5EF4-FFF2-40B4-BE49-F238E27FC236}">
                <a16:creationId xmlns:a16="http://schemas.microsoft.com/office/drawing/2014/main" id="{8DB2512D-4577-4837-A484-C51449264D06}"/>
              </a:ext>
            </a:extLst>
          </p:cNvPr>
          <p:cNvSpPr>
            <a:spLocks xmlns:a="http://schemas.openxmlformats.org/drawingml/2006/main" noGrp="1"/>
          </p:cNvSpPr>
          <p:nvPr/>
        </p:nvSpPr>
        <p:spPr>
          <a:xfrm xmlns:a="http://schemas.openxmlformats.org/drawingml/2006/main">
            <a:off x="7667625" y="3429000"/>
            <a:ext cx="1952625" cy="1066800"/>
          </a:xfrm>
          <a:prstGeom xmlns:a="http://schemas.openxmlformats.org/drawingml/2006/main" prst="roundRect">
            <a:avLst>
              <a:gd name="adj" fmla="val 7143"/>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33" name="Google Shape;133;p6">
            <a:extLst xmlns:a="http://schemas.openxmlformats.org/drawingml/2006/main">
              <a:ext uri="{FF2B5EF4-FFF2-40B4-BE49-F238E27FC236}">
                <a16:creationId xmlns:a16="http://schemas.microsoft.com/office/drawing/2014/main" id="{C7F258B4-169B-4A7F-9A9E-6C4877519E26}"/>
              </a:ext>
            </a:extLst>
          </p:cNvPr>
          <p:cNvSpPr>
            <a:spLocks xmlns:a="http://schemas.openxmlformats.org/drawingml/2006/main" noGrp="1"/>
          </p:cNvSpPr>
          <p:nvPr/>
        </p:nvSpPr>
        <p:spPr>
          <a:xfrm xmlns:a="http://schemas.openxmlformats.org/drawingml/2006/main">
            <a:off x="7667625" y="3429000"/>
            <a:ext cx="76200" cy="1066800"/>
          </a:xfrm>
          <a:prstGeom xmlns:a="http://schemas.openxmlformats.org/drawingml/2006/main" prst="rect">
            <a:avLst/>
          </a:prstGeom>
          <a:solidFill xmlns:a="http://schemas.openxmlformats.org/drawingml/2006/main">
            <a:srgbClr val="26734D"/>
          </a:solidFill>
          <a:ln xmlns:a="http://schemas.openxmlformats.org/drawingml/2006/main" w="9525" cmpd="sng">
            <a:solidFill>
              <a:srgbClr val="26734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34" name="Google Shape;134;p6">
            <a:extLst xmlns:a="http://schemas.openxmlformats.org/drawingml/2006/main">
              <a:ext uri="{FF2B5EF4-FFF2-40B4-BE49-F238E27FC236}">
                <a16:creationId xmlns:a16="http://schemas.microsoft.com/office/drawing/2014/main" id="{8E25E45C-DDF8-4046-BC05-C733D64ED76D}"/>
              </a:ext>
            </a:extLst>
          </p:cNvPr>
          <p:cNvSpPr>
            <a:spLocks xmlns:a="http://schemas.openxmlformats.org/drawingml/2006/main" noGrp="1"/>
          </p:cNvSpPr>
          <p:nvPr/>
        </p:nvSpPr>
        <p:spPr>
          <a:xfrm xmlns:a="http://schemas.openxmlformats.org/drawingml/2006/main">
            <a:off x="7877175" y="3552825"/>
            <a:ext cx="16287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Top memories</a:t>
            </a:r>
          </a:p>
        </p:txBody>
      </p:sp>
      <p:sp>
        <p:nvSpPr>
          <p:cNvPr id="135" name="Google Shape;135;p6">
            <a:extLst xmlns:a="http://schemas.openxmlformats.org/drawingml/2006/main">
              <a:ext uri="{FF2B5EF4-FFF2-40B4-BE49-F238E27FC236}">
                <a16:creationId xmlns:a16="http://schemas.microsoft.com/office/drawing/2014/main" id="{E04DE810-3F6F-43D5-A14E-C4AB0DF20095}"/>
              </a:ext>
            </a:extLst>
          </p:cNvPr>
          <p:cNvSpPr>
            <a:spLocks xmlns:a="http://schemas.openxmlformats.org/drawingml/2006/main" noGrp="1"/>
          </p:cNvSpPr>
          <p:nvPr/>
        </p:nvSpPr>
        <p:spPr>
          <a:xfrm xmlns:a="http://schemas.openxmlformats.org/drawingml/2006/main">
            <a:off x="7877175" y="3886200"/>
            <a:ext cx="162877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At most 6; weak matches removed</a:t>
            </a:r>
          </a:p>
        </p:txBody>
      </p:sp>
      <p:sp>
        <p:nvSpPr>
          <p:cNvPr id="136" name="Google Shape;136;p6">
            <a:extLst xmlns:a="http://schemas.openxmlformats.org/drawingml/2006/main">
              <a:ext uri="{FF2B5EF4-FFF2-40B4-BE49-F238E27FC236}">
                <a16:creationId xmlns:a16="http://schemas.microsoft.com/office/drawing/2014/main" id="{8AA12B16-6B52-4947-B6FE-37653892756D}"/>
              </a:ext>
            </a:extLst>
          </p:cNvPr>
          <p:cNvSpPr>
            <a:spLocks xmlns:a="http://schemas.openxmlformats.org/drawingml/2006/main" noGrp="1"/>
          </p:cNvSpPr>
          <p:nvPr/>
        </p:nvSpPr>
        <p:spPr>
          <a:xfrm xmlns:a="http://schemas.openxmlformats.org/drawingml/2006/main">
            <a:off x="10096500" y="3429000"/>
            <a:ext cx="1409700" cy="1066800"/>
          </a:xfrm>
          <a:prstGeom xmlns:a="http://schemas.openxmlformats.org/drawingml/2006/main" prst="roundRect">
            <a:avLst>
              <a:gd name="adj" fmla="val 7143"/>
            </a:avLst>
          </a:prstGeom>
          <a:solidFill xmlns:a="http://schemas.openxmlformats.org/drawingml/2006/main">
            <a:srgbClr val="D6EE72"/>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37" name="Google Shape;137;p6">
            <a:extLst xmlns:a="http://schemas.openxmlformats.org/drawingml/2006/main">
              <a:ext uri="{FF2B5EF4-FFF2-40B4-BE49-F238E27FC236}">
                <a16:creationId xmlns:a16="http://schemas.microsoft.com/office/drawing/2014/main" id="{B198C8BD-3329-4BB8-ABF8-C03A1029EC5E}"/>
              </a:ext>
            </a:extLst>
          </p:cNvPr>
          <p:cNvSpPr>
            <a:spLocks xmlns:a="http://schemas.openxmlformats.org/drawingml/2006/main" noGrp="1"/>
          </p:cNvSpPr>
          <p:nvPr/>
        </p:nvSpPr>
        <p:spPr>
          <a:xfrm xmlns:a="http://schemas.openxmlformats.org/drawingml/2006/main">
            <a:off x="10096500" y="3429000"/>
            <a:ext cx="76200" cy="1066800"/>
          </a:xfrm>
          <a:prstGeom xmlns:a="http://schemas.openxmlformats.org/drawingml/2006/main" prst="rect">
            <a:avLst/>
          </a:prstGeom>
          <a:solidFill xmlns:a="http://schemas.openxmlformats.org/drawingml/2006/main">
            <a:srgbClr val="24231F"/>
          </a:solidFill>
          <a:ln xmlns:a="http://schemas.openxmlformats.org/drawingml/2006/main" w="9525" cmpd="sng">
            <a:solidFill>
              <a:srgbClr val="24231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38" name="Google Shape;138;p6">
            <a:extLst xmlns:a="http://schemas.openxmlformats.org/drawingml/2006/main">
              <a:ext uri="{FF2B5EF4-FFF2-40B4-BE49-F238E27FC236}">
                <a16:creationId xmlns:a16="http://schemas.microsoft.com/office/drawing/2014/main" id="{02841063-F095-4273-AA18-A56EE80C526D}"/>
              </a:ext>
            </a:extLst>
          </p:cNvPr>
          <p:cNvSpPr>
            <a:spLocks xmlns:a="http://schemas.openxmlformats.org/drawingml/2006/main" noGrp="1"/>
          </p:cNvSpPr>
          <p:nvPr/>
        </p:nvSpPr>
        <p:spPr>
          <a:xfrm xmlns:a="http://schemas.openxmlformats.org/drawingml/2006/main">
            <a:off x="10306050" y="3552825"/>
            <a:ext cx="10858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Final LLM</a:t>
            </a:r>
          </a:p>
        </p:txBody>
      </p:sp>
      <p:sp>
        <p:nvSpPr>
          <p:cNvPr id="139" name="Google Shape;139;p6">
            <a:extLst xmlns:a="http://schemas.openxmlformats.org/drawingml/2006/main">
              <a:ext uri="{FF2B5EF4-FFF2-40B4-BE49-F238E27FC236}">
                <a16:creationId xmlns:a16="http://schemas.microsoft.com/office/drawing/2014/main" id="{D6B7C5E2-813F-4238-B417-DBEF2743CB3C}"/>
              </a:ext>
            </a:extLst>
          </p:cNvPr>
          <p:cNvSpPr>
            <a:spLocks xmlns:a="http://schemas.openxmlformats.org/drawingml/2006/main" noGrp="1"/>
          </p:cNvSpPr>
          <p:nvPr/>
        </p:nvSpPr>
        <p:spPr>
          <a:xfrm xmlns:a="http://schemas.openxmlformats.org/drawingml/2006/main">
            <a:off x="10306050" y="3886200"/>
            <a:ext cx="10858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Grounded answer</a:t>
            </a:r>
          </a:p>
        </p:txBody>
      </p:sp>
      <p:sp>
        <p:nvSpPr>
          <p:cNvPr id="140" name="Google Shape;140;p6">
            <a:extLst xmlns:a="http://schemas.openxmlformats.org/drawingml/2006/main">
              <a:ext uri="{FF2B5EF4-FFF2-40B4-BE49-F238E27FC236}">
                <a16:creationId xmlns:a16="http://schemas.microsoft.com/office/drawing/2014/main" id="{48FCC224-A5C7-4B51-B5A7-341E5B624B10}"/>
              </a:ext>
            </a:extLst>
          </p:cNvPr>
          <p:cNvSpPr>
            <a:spLocks xmlns:a="http://schemas.openxmlformats.org/drawingml/2006/main" noGrp="1"/>
          </p:cNvSpPr>
          <p:nvPr/>
        </p:nvSpPr>
        <p:spPr>
          <a:xfrm xmlns:a="http://schemas.openxmlformats.org/drawingml/2006/main">
            <a:off x="419100" y="4953000"/>
            <a:ext cx="11087100" cy="1066800"/>
          </a:xfrm>
          <a:prstGeom xmlns:a="http://schemas.openxmlformats.org/drawingml/2006/main" prst="rect">
            <a:avLst/>
          </a:prstGeom>
          <a:solidFill xmlns:a="http://schemas.openxmlformats.org/drawingml/2006/main">
            <a:srgbClr val="F0EDE5"/>
          </a:solidFill>
          <a:ln xmlns:a="http://schemas.openxmlformats.org/drawingml/2006/main" w="14275" cmpd="sng">
            <a:solidFill>
              <a:srgbClr val="F0EDE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41" name="Google Shape;141;p6">
            <a:extLst xmlns:a="http://schemas.openxmlformats.org/drawingml/2006/main">
              <a:ext uri="{FF2B5EF4-FFF2-40B4-BE49-F238E27FC236}">
                <a16:creationId xmlns:a16="http://schemas.microsoft.com/office/drawing/2014/main" id="{C3654D63-9A64-4BA8-BDA5-896814AF0133}"/>
              </a:ext>
            </a:extLst>
          </p:cNvPr>
          <p:cNvSpPr>
            <a:spLocks xmlns:a="http://schemas.openxmlformats.org/drawingml/2006/main" noGrp="1"/>
          </p:cNvSpPr>
          <p:nvPr/>
        </p:nvSpPr>
        <p:spPr>
          <a:xfrm xmlns:a="http://schemas.openxmlformats.org/drawingml/2006/main">
            <a:off x="685800" y="5067300"/>
            <a:ext cx="3714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150" b="1">
                <a:solidFill>
                  <a:srgbClr val="CC4824"/>
                </a:solidFill>
                <a:latin typeface="Arial"/>
                <a:ea typeface="Arial"/>
                <a:cs typeface="Arial"/>
              </a:rPr>
              <a:t>The backend is the safety boundary</a:t>
            </a:r>
          </a:p>
        </p:txBody>
      </p:sp>
      <p:sp>
        <p:nvSpPr>
          <p:cNvPr id="142" name="Google Shape;142;p6">
            <a:extLst xmlns:a="http://schemas.openxmlformats.org/drawingml/2006/main">
              <a:ext uri="{FF2B5EF4-FFF2-40B4-BE49-F238E27FC236}">
                <a16:creationId xmlns:a16="http://schemas.microsoft.com/office/drawing/2014/main" id="{554495E5-4A99-440C-B36C-F9B16C5EE5BC}"/>
              </a:ext>
            </a:extLst>
          </p:cNvPr>
          <p:cNvSpPr>
            <a:spLocks xmlns:a="http://schemas.openxmlformats.org/drawingml/2006/main" noGrp="1"/>
          </p:cNvSpPr>
          <p:nvPr/>
        </p:nvSpPr>
        <p:spPr>
          <a:xfrm xmlns:a="http://schemas.openxmlformats.org/drawingml/2006/main">
            <a:off x="685800" y="5381625"/>
            <a:ext cx="10553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24231F"/>
                </a:solidFill>
                <a:latin typeface="Arial"/>
                <a:ea typeface="Arial"/>
                <a:cs typeface="Arial"/>
              </a:rPr>
              <a:t>Before saving: required fields + exactly 768 embedding values. Before answering: correct user only, weak matches removed, duplicates removed, maximum 6 memories.</a:t>
            </a:r>
          </a:p>
        </p:txBody>
      </p:sp>
    </p:spTree>
    <p:extLst>
      <p:ext uri="{BB962C8B-B14F-4D97-AF65-F5344CB8AC3E}">
        <p14:creationId xmlns:p14="http://schemas.microsoft.com/office/powerpoint/2010/main" val="292589976"/>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8" name="Google Shape;148;p7">
            <a:extLst xmlns:a="http://schemas.openxmlformats.org/drawingml/2006/main">
              <a:ext uri="{FF2B5EF4-FFF2-40B4-BE49-F238E27FC236}">
                <a16:creationId xmlns:a16="http://schemas.microsoft.com/office/drawing/2014/main" id="{43236B5B-7817-4A10-BF08-6C4B19D51B11}"/>
              </a:ext>
            </a:extLst>
          </p:cNvPr>
          <p:cNvSpPr>
            <a:spLocks xmlns:a="http://schemas.openxmlformats.org/drawingml/2006/main" noGrp="1"/>
          </p:cNvSpPr>
          <p:nvPr/>
        </p:nvSpPr>
        <p:spPr>
          <a:xfrm xmlns:a="http://schemas.openxmlformats.org/drawingml/2006/main">
            <a:off x="400050" y="266700"/>
            <a:ext cx="109537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2850" b="0">
                <a:solidFill>
                  <a:srgbClr val="24231F"/>
                </a:solidFill>
                <a:latin typeface="Georgia"/>
                <a:ea typeface="Georgia"/>
                <a:cs typeface="Georgia"/>
              </a:rPr>
              <a:t>Future scope: richer inputs, faster retrieval, more control</a:t>
            </a:r>
          </a:p>
        </p:txBody>
      </p:sp>
      <p:sp>
        <p:nvSpPr>
          <p:cNvPr id="149" name="Google Shape;149;p7">
            <a:extLst xmlns:a="http://schemas.openxmlformats.org/drawingml/2006/main">
              <a:ext uri="{FF2B5EF4-FFF2-40B4-BE49-F238E27FC236}">
                <a16:creationId xmlns:a16="http://schemas.microsoft.com/office/drawing/2014/main" id="{6D48F6B8-0CC7-4D9F-83BF-C6DBDA765A3C}"/>
              </a:ext>
            </a:extLst>
          </p:cNvPr>
          <p:cNvSpPr>
            <a:spLocks xmlns:a="http://schemas.openxmlformats.org/drawingml/2006/main" noGrp="1"/>
          </p:cNvSpPr>
          <p:nvPr/>
        </p:nvSpPr>
        <p:spPr>
          <a:xfrm xmlns:a="http://schemas.openxmlformats.org/drawingml/2006/main">
            <a:off x="11315700" y="6286500"/>
            <a:ext cx="476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spcBef>
                <a:spcPts val="0"/>
              </a:spcBef>
              <a:spcAft>
                <a:spcPts val="0"/>
              </a:spcAft>
              <a:buNone/>
            </a:pPr>
            <a:r>
              <a:rPr sz="775" b="0">
                <a:solidFill>
                  <a:srgbClr val="6D6A63"/>
                </a:solidFill>
                <a:latin typeface="Arial"/>
                <a:ea typeface="Arial"/>
                <a:cs typeface="Arial"/>
              </a:rPr>
              <a:t>05</a:t>
            </a:r>
          </a:p>
        </p:txBody>
      </p:sp>
      <p:sp>
        <p:nvSpPr>
          <p:cNvPr id="150" name="Google Shape;150;p7">
            <a:extLst xmlns:a="http://schemas.openxmlformats.org/drawingml/2006/main">
              <a:ext uri="{FF2B5EF4-FFF2-40B4-BE49-F238E27FC236}">
                <a16:creationId xmlns:a16="http://schemas.microsoft.com/office/drawing/2014/main" id="{0CF6349C-BBF8-4E1B-8358-E39519C90834}"/>
              </a:ext>
            </a:extLst>
          </p:cNvPr>
          <p:cNvSpPr>
            <a:spLocks xmlns:a="http://schemas.openxmlformats.org/drawingml/2006/main" noGrp="1"/>
          </p:cNvSpPr>
          <p:nvPr/>
        </p:nvSpPr>
        <p:spPr>
          <a:xfrm xmlns:a="http://schemas.openxmlformats.org/drawingml/2006/main">
            <a:off x="419100" y="971550"/>
            <a:ext cx="83820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75" b="0">
                <a:solidFill>
                  <a:srgbClr val="6D6A63"/>
                </a:solidFill>
                <a:latin typeface="Arial"/>
                <a:ea typeface="Arial"/>
                <a:cs typeface="Arial"/>
              </a:rPr>
              <a:t>Add capability in stages without changing the core architecture</a:t>
            </a:r>
          </a:p>
        </p:txBody>
      </p:sp>
      <p:sp>
        <p:nvSpPr>
          <p:cNvPr id="151" name="Google Shape;151;p7">
            <a:extLst xmlns:a="http://schemas.openxmlformats.org/drawingml/2006/main">
              <a:ext uri="{FF2B5EF4-FFF2-40B4-BE49-F238E27FC236}">
                <a16:creationId xmlns:a16="http://schemas.microsoft.com/office/drawing/2014/main" id="{3D786B66-7FDD-4BCF-A63D-8A8D8B3AB7A8}"/>
              </a:ext>
            </a:extLst>
          </p:cNvPr>
          <p:cNvSpPr>
            <a:spLocks xmlns:a="http://schemas.openxmlformats.org/drawingml/2006/main" noGrp="1"/>
          </p:cNvSpPr>
          <p:nvPr/>
        </p:nvSpPr>
        <p:spPr>
          <a:xfrm xmlns:a="http://schemas.openxmlformats.org/drawingml/2006/main">
            <a:off x="419100" y="1638300"/>
            <a:ext cx="2571750" cy="2381250"/>
          </a:xfrm>
          <a:prstGeom xmlns:a="http://schemas.openxmlformats.org/drawingml/2006/main" prst="roundRect">
            <a:avLst>
              <a:gd name="adj" fmla="val 3200"/>
            </a:avLst>
          </a:prstGeom>
          <a:solidFill xmlns:a="http://schemas.openxmlformats.org/drawingml/2006/main">
            <a:srgbClr val="F8E7E0"/>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52" name="Google Shape;152;p7">
            <a:extLst xmlns:a="http://schemas.openxmlformats.org/drawingml/2006/main">
              <a:ext uri="{FF2B5EF4-FFF2-40B4-BE49-F238E27FC236}">
                <a16:creationId xmlns:a16="http://schemas.microsoft.com/office/drawing/2014/main" id="{6BC1D259-3DE8-452B-86A7-71CA4FDA41E8}"/>
              </a:ext>
            </a:extLst>
          </p:cNvPr>
          <p:cNvSpPr>
            <a:spLocks xmlns:a="http://schemas.openxmlformats.org/drawingml/2006/main" noGrp="1"/>
          </p:cNvSpPr>
          <p:nvPr/>
        </p:nvSpPr>
        <p:spPr>
          <a:xfrm xmlns:a="http://schemas.openxmlformats.org/drawingml/2006/main">
            <a:off x="419100" y="1638300"/>
            <a:ext cx="76200" cy="2381250"/>
          </a:xfrm>
          <a:prstGeom xmlns:a="http://schemas.openxmlformats.org/drawingml/2006/main" prst="rect">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53" name="Google Shape;153;p7">
            <a:extLst xmlns:a="http://schemas.openxmlformats.org/drawingml/2006/main">
              <a:ext uri="{FF2B5EF4-FFF2-40B4-BE49-F238E27FC236}">
                <a16:creationId xmlns:a16="http://schemas.microsoft.com/office/drawing/2014/main" id="{E6BAF4C5-661E-40D9-9230-21BB74FC21F7}"/>
              </a:ext>
            </a:extLst>
          </p:cNvPr>
          <p:cNvSpPr>
            <a:spLocks xmlns:a="http://schemas.openxmlformats.org/drawingml/2006/main" noGrp="1"/>
          </p:cNvSpPr>
          <p:nvPr/>
        </p:nvSpPr>
        <p:spPr>
          <a:xfrm xmlns:a="http://schemas.openxmlformats.org/drawingml/2006/main">
            <a:off x="628650" y="1762125"/>
            <a:ext cx="2247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1  Multimodal analysis</a:t>
            </a:r>
          </a:p>
        </p:txBody>
      </p:sp>
      <p:sp>
        <p:nvSpPr>
          <p:cNvPr id="154" name="Google Shape;154;p7">
            <a:extLst xmlns:a="http://schemas.openxmlformats.org/drawingml/2006/main">
              <a:ext uri="{FF2B5EF4-FFF2-40B4-BE49-F238E27FC236}">
                <a16:creationId xmlns:a16="http://schemas.microsoft.com/office/drawing/2014/main" id="{2CD2EB04-C1A5-4315-9449-AA369A0E118E}"/>
              </a:ext>
            </a:extLst>
          </p:cNvPr>
          <p:cNvSpPr>
            <a:spLocks xmlns:a="http://schemas.openxmlformats.org/drawingml/2006/main" noGrp="1"/>
          </p:cNvSpPr>
          <p:nvPr/>
        </p:nvSpPr>
        <p:spPr>
          <a:xfrm xmlns:a="http://schemas.openxmlformats.org/drawingml/2006/main">
            <a:off x="628650" y="2095500"/>
            <a:ext cx="2247900" cy="18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Transcribe audio</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Analyze selected video frames</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Read on-screen text</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Combine speech, image and caption</a:t>
            </a:r>
          </a:p>
        </p:txBody>
      </p:sp>
      <p:sp>
        <p:nvSpPr>
          <p:cNvPr id="155" name="Google Shape;155;p7">
            <a:extLst xmlns:a="http://schemas.openxmlformats.org/drawingml/2006/main">
              <a:ext uri="{FF2B5EF4-FFF2-40B4-BE49-F238E27FC236}">
                <a16:creationId xmlns:a16="http://schemas.microsoft.com/office/drawing/2014/main" id="{6F1995A0-3FDE-4AEA-9C4C-3A4DFAEBC71A}"/>
              </a:ext>
            </a:extLst>
          </p:cNvPr>
          <p:cNvSpPr>
            <a:spLocks xmlns:a="http://schemas.openxmlformats.org/drawingml/2006/main" noGrp="1"/>
          </p:cNvSpPr>
          <p:nvPr/>
        </p:nvSpPr>
        <p:spPr>
          <a:xfrm xmlns:a="http://schemas.openxmlformats.org/drawingml/2006/main">
            <a:off x="3219450" y="1638300"/>
            <a:ext cx="2571750" cy="2381250"/>
          </a:xfrm>
          <a:prstGeom xmlns:a="http://schemas.openxmlformats.org/drawingml/2006/main" prst="roundRect">
            <a:avLst>
              <a:gd name="adj" fmla="val 3200"/>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56" name="Google Shape;156;p7">
            <a:extLst xmlns:a="http://schemas.openxmlformats.org/drawingml/2006/main">
              <a:ext uri="{FF2B5EF4-FFF2-40B4-BE49-F238E27FC236}">
                <a16:creationId xmlns:a16="http://schemas.microsoft.com/office/drawing/2014/main" id="{FB7CB31F-F449-4E29-8CCA-FA5048CA307E}"/>
              </a:ext>
            </a:extLst>
          </p:cNvPr>
          <p:cNvSpPr>
            <a:spLocks xmlns:a="http://schemas.openxmlformats.org/drawingml/2006/main" noGrp="1"/>
          </p:cNvSpPr>
          <p:nvPr/>
        </p:nvSpPr>
        <p:spPr>
          <a:xfrm xmlns:a="http://schemas.openxmlformats.org/drawingml/2006/main">
            <a:off x="3219450" y="1638300"/>
            <a:ext cx="76200" cy="2381250"/>
          </a:xfrm>
          <a:prstGeom xmlns:a="http://schemas.openxmlformats.org/drawingml/2006/main" prst="rect">
            <a:avLst/>
          </a:prstGeom>
          <a:solidFill xmlns:a="http://schemas.openxmlformats.org/drawingml/2006/main">
            <a:srgbClr val="806C52"/>
          </a:solidFill>
          <a:ln xmlns:a="http://schemas.openxmlformats.org/drawingml/2006/main" w="9525" cmpd="sng">
            <a:solidFill>
              <a:srgbClr val="806C5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57" name="Google Shape;157;p7">
            <a:extLst xmlns:a="http://schemas.openxmlformats.org/drawingml/2006/main">
              <a:ext uri="{FF2B5EF4-FFF2-40B4-BE49-F238E27FC236}">
                <a16:creationId xmlns:a16="http://schemas.microsoft.com/office/drawing/2014/main" id="{C34AA57D-061B-463F-A367-CCAD9B48427C}"/>
              </a:ext>
            </a:extLst>
          </p:cNvPr>
          <p:cNvSpPr>
            <a:spLocks xmlns:a="http://schemas.openxmlformats.org/drawingml/2006/main" noGrp="1"/>
          </p:cNvSpPr>
          <p:nvPr/>
        </p:nvSpPr>
        <p:spPr>
          <a:xfrm xmlns:a="http://schemas.openxmlformats.org/drawingml/2006/main">
            <a:off x="3429000" y="1762125"/>
            <a:ext cx="2247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2  More sources</a:t>
            </a:r>
          </a:p>
        </p:txBody>
      </p:sp>
      <p:sp>
        <p:nvSpPr>
          <p:cNvPr id="158" name="Google Shape;158;p7">
            <a:extLst xmlns:a="http://schemas.openxmlformats.org/drawingml/2006/main">
              <a:ext uri="{FF2B5EF4-FFF2-40B4-BE49-F238E27FC236}">
                <a16:creationId xmlns:a16="http://schemas.microsoft.com/office/drawing/2014/main" id="{295DE6D8-855D-4C09-8D34-A49EFD1AF138}"/>
              </a:ext>
            </a:extLst>
          </p:cNvPr>
          <p:cNvSpPr>
            <a:spLocks xmlns:a="http://schemas.openxmlformats.org/drawingml/2006/main" noGrp="1"/>
          </p:cNvSpPr>
          <p:nvPr/>
        </p:nvSpPr>
        <p:spPr>
          <a:xfrm xmlns:a="http://schemas.openxmlformats.org/drawingml/2006/main">
            <a:off x="3429000" y="2095500"/>
            <a:ext cx="2247900" cy="18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Approved social integrations</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Documents and podcasts</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Private sources with consent</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Duplicate and source-quality checks</a:t>
            </a:r>
          </a:p>
        </p:txBody>
      </p:sp>
      <p:sp>
        <p:nvSpPr>
          <p:cNvPr id="159" name="Google Shape;159;p7">
            <a:extLst xmlns:a="http://schemas.openxmlformats.org/drawingml/2006/main">
              <a:ext uri="{FF2B5EF4-FFF2-40B4-BE49-F238E27FC236}">
                <a16:creationId xmlns:a16="http://schemas.microsoft.com/office/drawing/2014/main" id="{B0C6022A-A679-44D0-B9F9-E67D2B4C4964}"/>
              </a:ext>
            </a:extLst>
          </p:cNvPr>
          <p:cNvSpPr>
            <a:spLocks xmlns:a="http://schemas.openxmlformats.org/drawingml/2006/main" noGrp="1"/>
          </p:cNvSpPr>
          <p:nvPr/>
        </p:nvSpPr>
        <p:spPr>
          <a:xfrm xmlns:a="http://schemas.openxmlformats.org/drawingml/2006/main">
            <a:off x="6019800" y="1638300"/>
            <a:ext cx="2571750" cy="2381250"/>
          </a:xfrm>
          <a:prstGeom xmlns:a="http://schemas.openxmlformats.org/drawingml/2006/main" prst="roundRect">
            <a:avLst>
              <a:gd name="adj" fmla="val 3200"/>
            </a:avLst>
          </a:prstGeom>
          <a:solidFill xmlns:a="http://schemas.openxmlformats.org/drawingml/2006/main">
            <a:srgbClr val="F8E7E0"/>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60" name="Google Shape;160;p7">
            <a:extLst xmlns:a="http://schemas.openxmlformats.org/drawingml/2006/main">
              <a:ext uri="{FF2B5EF4-FFF2-40B4-BE49-F238E27FC236}">
                <a16:creationId xmlns:a16="http://schemas.microsoft.com/office/drawing/2014/main" id="{C4F460F0-23FD-4DB8-95BF-A72A146A6F4D}"/>
              </a:ext>
            </a:extLst>
          </p:cNvPr>
          <p:cNvSpPr>
            <a:spLocks xmlns:a="http://schemas.openxmlformats.org/drawingml/2006/main" noGrp="1"/>
          </p:cNvSpPr>
          <p:nvPr/>
        </p:nvSpPr>
        <p:spPr>
          <a:xfrm xmlns:a="http://schemas.openxmlformats.org/drawingml/2006/main">
            <a:off x="6019800" y="1638300"/>
            <a:ext cx="76200" cy="2381250"/>
          </a:xfrm>
          <a:prstGeom xmlns:a="http://schemas.openxmlformats.org/drawingml/2006/main" prst="rect">
            <a:avLst/>
          </a:prstGeom>
          <a:solidFill xmlns:a="http://schemas.openxmlformats.org/drawingml/2006/main">
            <a:srgbClr val="26734D"/>
          </a:solidFill>
          <a:ln xmlns:a="http://schemas.openxmlformats.org/drawingml/2006/main" w="9525" cmpd="sng">
            <a:solidFill>
              <a:srgbClr val="26734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61" name="Google Shape;161;p7">
            <a:extLst xmlns:a="http://schemas.openxmlformats.org/drawingml/2006/main">
              <a:ext uri="{FF2B5EF4-FFF2-40B4-BE49-F238E27FC236}">
                <a16:creationId xmlns:a16="http://schemas.microsoft.com/office/drawing/2014/main" id="{D6864E14-1F01-453A-A554-3EC4630754E9}"/>
              </a:ext>
            </a:extLst>
          </p:cNvPr>
          <p:cNvSpPr>
            <a:spLocks xmlns:a="http://schemas.openxmlformats.org/drawingml/2006/main" noGrp="1"/>
          </p:cNvSpPr>
          <p:nvPr/>
        </p:nvSpPr>
        <p:spPr>
          <a:xfrm xmlns:a="http://schemas.openxmlformats.org/drawingml/2006/main">
            <a:off x="6229350" y="1762125"/>
            <a:ext cx="2247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3  Scale retrieval</a:t>
            </a:r>
          </a:p>
        </p:txBody>
      </p:sp>
      <p:sp>
        <p:nvSpPr>
          <p:cNvPr id="162" name="Google Shape;162;p7">
            <a:extLst xmlns:a="http://schemas.openxmlformats.org/drawingml/2006/main">
              <a:ext uri="{FF2B5EF4-FFF2-40B4-BE49-F238E27FC236}">
                <a16:creationId xmlns:a16="http://schemas.microsoft.com/office/drawing/2014/main" id="{81E36951-34DE-4679-8379-AD690672C0A6}"/>
              </a:ext>
            </a:extLst>
          </p:cNvPr>
          <p:cNvSpPr>
            <a:spLocks xmlns:a="http://schemas.openxmlformats.org/drawingml/2006/main" noGrp="1"/>
          </p:cNvSpPr>
          <p:nvPr/>
        </p:nvSpPr>
        <p:spPr>
          <a:xfrm xmlns:a="http://schemas.openxmlformats.org/drawingml/2006/main">
            <a:off x="6229350" y="2095500"/>
            <a:ext cx="2247900" cy="18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Async processing and retries</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pgvector ANN search</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Reranking and caching</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Re-embed when models improve</a:t>
            </a:r>
          </a:p>
        </p:txBody>
      </p:sp>
      <p:sp>
        <p:nvSpPr>
          <p:cNvPr id="163" name="Google Shape;163;p7">
            <a:extLst xmlns:a="http://schemas.openxmlformats.org/drawingml/2006/main">
              <a:ext uri="{FF2B5EF4-FFF2-40B4-BE49-F238E27FC236}">
                <a16:creationId xmlns:a16="http://schemas.microsoft.com/office/drawing/2014/main" id="{0CBBD4A6-F3DF-4800-8BF0-351DFF727CA3}"/>
              </a:ext>
            </a:extLst>
          </p:cNvPr>
          <p:cNvSpPr>
            <a:spLocks xmlns:a="http://schemas.openxmlformats.org/drawingml/2006/main" noGrp="1"/>
          </p:cNvSpPr>
          <p:nvPr/>
        </p:nvSpPr>
        <p:spPr>
          <a:xfrm xmlns:a="http://schemas.openxmlformats.org/drawingml/2006/main">
            <a:off x="8820150" y="1638300"/>
            <a:ext cx="2686050" cy="2381250"/>
          </a:xfrm>
          <a:prstGeom xmlns:a="http://schemas.openxmlformats.org/drawingml/2006/main" prst="roundRect">
            <a:avLst>
              <a:gd name="adj" fmla="val 3200"/>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64" name="Google Shape;164;p7">
            <a:extLst xmlns:a="http://schemas.openxmlformats.org/drawingml/2006/main">
              <a:ext uri="{FF2B5EF4-FFF2-40B4-BE49-F238E27FC236}">
                <a16:creationId xmlns:a16="http://schemas.microsoft.com/office/drawing/2014/main" id="{AF3482B9-381C-4CB8-A710-F955FF6ECB67}"/>
              </a:ext>
            </a:extLst>
          </p:cNvPr>
          <p:cNvSpPr>
            <a:spLocks xmlns:a="http://schemas.openxmlformats.org/drawingml/2006/main" noGrp="1"/>
          </p:cNvSpPr>
          <p:nvPr/>
        </p:nvSpPr>
        <p:spPr>
          <a:xfrm xmlns:a="http://schemas.openxmlformats.org/drawingml/2006/main">
            <a:off x="8820150" y="1638300"/>
            <a:ext cx="76200" cy="2381250"/>
          </a:xfrm>
          <a:prstGeom xmlns:a="http://schemas.openxmlformats.org/drawingml/2006/main" prst="rect">
            <a:avLst/>
          </a:prstGeom>
          <a:solidFill xmlns:a="http://schemas.openxmlformats.org/drawingml/2006/main">
            <a:srgbClr val="24231F"/>
          </a:solidFill>
          <a:ln xmlns:a="http://schemas.openxmlformats.org/drawingml/2006/main" w="9525" cmpd="sng">
            <a:solidFill>
              <a:srgbClr val="24231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65" name="Google Shape;165;p7">
            <a:extLst xmlns:a="http://schemas.openxmlformats.org/drawingml/2006/main">
              <a:ext uri="{FF2B5EF4-FFF2-40B4-BE49-F238E27FC236}">
                <a16:creationId xmlns:a16="http://schemas.microsoft.com/office/drawing/2014/main" id="{2EBC166D-D0A3-4FD6-B775-2BC7BD956131}"/>
              </a:ext>
            </a:extLst>
          </p:cNvPr>
          <p:cNvSpPr>
            <a:spLocks xmlns:a="http://schemas.openxmlformats.org/drawingml/2006/main" noGrp="1"/>
          </p:cNvSpPr>
          <p:nvPr/>
        </p:nvSpPr>
        <p:spPr>
          <a:xfrm xmlns:a="http://schemas.openxmlformats.org/drawingml/2006/main">
            <a:off x="9029700" y="1762125"/>
            <a:ext cx="23622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4  User control</a:t>
            </a:r>
          </a:p>
        </p:txBody>
      </p:sp>
      <p:sp>
        <p:nvSpPr>
          <p:cNvPr id="166" name="Google Shape;166;p7">
            <a:extLst xmlns:a="http://schemas.openxmlformats.org/drawingml/2006/main">
              <a:ext uri="{FF2B5EF4-FFF2-40B4-BE49-F238E27FC236}">
                <a16:creationId xmlns:a16="http://schemas.microsoft.com/office/drawing/2014/main" id="{F06EDDF8-8D76-4A37-AEE1-8DB23F9F33D3}"/>
              </a:ext>
            </a:extLst>
          </p:cNvPr>
          <p:cNvSpPr>
            <a:spLocks xmlns:a="http://schemas.openxmlformats.org/drawingml/2006/main" noGrp="1"/>
          </p:cNvSpPr>
          <p:nvPr/>
        </p:nvSpPr>
        <p:spPr>
          <a:xfrm xmlns:a="http://schemas.openxmlformats.org/drawingml/2006/main">
            <a:off x="9029700" y="2095500"/>
            <a:ext cx="2362200" cy="18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Edit AI-generated tags</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Feedback on recommendations</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Explain why each source was used</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Privacy and retention controls</a:t>
            </a:r>
          </a:p>
        </p:txBody>
      </p:sp>
      <p:sp>
        <p:nvSpPr>
          <p:cNvPr id="167" name="Google Shape;167;p7">
            <a:extLst xmlns:a="http://schemas.openxmlformats.org/drawingml/2006/main">
              <a:ext uri="{FF2B5EF4-FFF2-40B4-BE49-F238E27FC236}">
                <a16:creationId xmlns:a16="http://schemas.microsoft.com/office/drawing/2014/main" id="{FD180037-EAC1-49F2-9C3B-AB7F5A3E4170}"/>
              </a:ext>
            </a:extLst>
          </p:cNvPr>
          <p:cNvSpPr>
            <a:spLocks xmlns:a="http://schemas.openxmlformats.org/drawingml/2006/main" noGrp="1"/>
          </p:cNvSpPr>
          <p:nvPr/>
        </p:nvSpPr>
        <p:spPr>
          <a:xfrm xmlns:a="http://schemas.openxmlformats.org/drawingml/2006/main">
            <a:off x="419100" y="4629150"/>
            <a:ext cx="11087100" cy="1066800"/>
          </a:xfrm>
          <a:prstGeom xmlns:a="http://schemas.openxmlformats.org/drawingml/2006/main" prst="rect">
            <a:avLst/>
          </a:prstGeom>
          <a:solidFill xmlns:a="http://schemas.openxmlformats.org/drawingml/2006/main">
            <a:srgbClr val="F0EDE5"/>
          </a:solidFill>
          <a:ln xmlns:a="http://schemas.openxmlformats.org/drawingml/2006/main" w="14275" cmpd="sng">
            <a:solidFill>
              <a:srgbClr val="F0EDE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68" name="Google Shape;168;p7">
            <a:extLst xmlns:a="http://schemas.openxmlformats.org/drawingml/2006/main">
              <a:ext uri="{FF2B5EF4-FFF2-40B4-BE49-F238E27FC236}">
                <a16:creationId xmlns:a16="http://schemas.microsoft.com/office/drawing/2014/main" id="{AC5E0FF2-9E26-4E31-81F9-5DABABE58124}"/>
              </a:ext>
            </a:extLst>
          </p:cNvPr>
          <p:cNvSpPr>
            <a:spLocks xmlns:a="http://schemas.openxmlformats.org/drawingml/2006/main" noGrp="1"/>
          </p:cNvSpPr>
          <p:nvPr/>
        </p:nvSpPr>
        <p:spPr>
          <a:xfrm xmlns:a="http://schemas.openxmlformats.org/drawingml/2006/main">
            <a:off x="685800" y="4762500"/>
            <a:ext cx="33337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CC4824"/>
                </a:solidFill>
                <a:latin typeface="Arial"/>
                <a:ea typeface="Arial"/>
                <a:cs typeface="Arial"/>
              </a:rPr>
              <a:t>The architecture stays the same</a:t>
            </a:r>
          </a:p>
        </p:txBody>
      </p:sp>
      <p:sp>
        <p:nvSpPr>
          <p:cNvPr id="169" name="Google Shape;169;p7">
            <a:extLst xmlns:a="http://schemas.openxmlformats.org/drawingml/2006/main">
              <a:ext uri="{FF2B5EF4-FFF2-40B4-BE49-F238E27FC236}">
                <a16:creationId xmlns:a16="http://schemas.microsoft.com/office/drawing/2014/main" id="{FE34FE37-8DF1-4092-9DE7-5C232ADCEC91}"/>
              </a:ext>
            </a:extLst>
          </p:cNvPr>
          <p:cNvSpPr>
            <a:spLocks xmlns:a="http://schemas.openxmlformats.org/drawingml/2006/main" noGrp="1"/>
          </p:cNvSpPr>
          <p:nvPr/>
        </p:nvSpPr>
        <p:spPr>
          <a:xfrm xmlns:a="http://schemas.openxmlformats.org/drawingml/2006/main">
            <a:off x="685800" y="5124450"/>
            <a:ext cx="102870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192" b="0">
                <a:solidFill>
                  <a:srgbClr val="24231F"/>
                </a:solidFill>
                <a:latin typeface="Arial"/>
                <a:ea typeface="Arial"/>
                <a:cs typeface="Arial"/>
              </a:rPr>
              <a:t>Capture → understand → embed → store → retrieve → generate. Future features improve each stage without breaking the trusted backend boundary.</a:t>
            </a:r>
          </a:p>
        </p:txBody>
      </p:sp>
    </p:spTree>
    <p:extLst>
      <p:ext uri="{BB962C8B-B14F-4D97-AF65-F5344CB8AC3E}">
        <p14:creationId xmlns:p14="http://schemas.microsoft.com/office/powerpoint/2010/main" val="1628491678"/>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83" name="Google Shape;175;p8"/>
          <p:cNvPicPr>
            <a:picLocks xmlns:a="http://schemas.openxmlformats.org/drawingml/2006/main" noChangeAspect="1"/>
          </p:cNvPicPr>
          <p:nvPr/>
        </p:nvPicPr>
        <p:blipFill rotWithShape="1">
          <a:blip xmlns:r="http://schemas.openxmlformats.org/officeDocument/2006/relationships" xmlns:a="http://schemas.openxmlformats.org/drawingml/2006/main" r:embed="R93346cf4ec9d4371">
            <a:alphaModFix/>
          </a:blip>
          <a:srcRect xmlns:a="http://schemas.openxmlformats.org/drawingml/2006/main" l="28504" t="0" r="28504" b="0"/>
          <a:stretch xmlns:a="http://schemas.openxmlformats.org/drawingml/2006/main"/>
        </p:blipFill>
        <p:spPr>
          <a:xfrm xmlns:a="http://schemas.openxmlformats.org/drawingml/2006/main">
            <a:off x="6953250" y="0"/>
            <a:ext cx="5238750" cy="6858000"/>
          </a:xfrm>
          <a:prstGeom xmlns:a="http://schemas.openxmlformats.org/drawingml/2006/main" prst="rect">
            <a:avLst/>
          </a:prstGeom>
          <a:ln xmlns:a="http://schemas.openxmlformats.org/drawingml/2006/main">
            <a:noFill/>
          </a:ln>
        </p:spPr>
      </p:pic>
      <p:sp>
        <p:nvSpPr>
          <p:cNvPr id="176" name="Google Shape;176;p8">
            <a:extLst xmlns:a="http://schemas.openxmlformats.org/drawingml/2006/main">
              <a:ext uri="{FF2B5EF4-FFF2-40B4-BE49-F238E27FC236}">
                <a16:creationId xmlns:a16="http://schemas.microsoft.com/office/drawing/2014/main" id="{10BD79A6-9316-41EC-B3E9-BB5FF12EDBDA}"/>
              </a:ext>
            </a:extLst>
          </p:cNvPr>
          <p:cNvSpPr>
            <a:spLocks xmlns:a="http://schemas.openxmlformats.org/drawingml/2006/main" noGrp="1"/>
          </p:cNvSpPr>
          <p:nvPr/>
        </p:nvSpPr>
        <p:spPr>
          <a:xfrm xmlns:a="http://schemas.openxmlformats.org/drawingml/2006/main">
            <a:off x="419100" y="495300"/>
            <a:ext cx="38100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75" b="1">
                <a:solidFill>
                  <a:srgbClr val="CC4824"/>
                </a:solidFill>
                <a:latin typeface="Arial"/>
                <a:ea typeface="Arial"/>
                <a:cs typeface="Arial"/>
              </a:rPr>
              <a:t>IMPULSE • CREATORBRAIN</a:t>
            </a:r>
          </a:p>
        </p:txBody>
      </p:sp>
      <p:sp>
        <p:nvSpPr>
          <p:cNvPr id="177" name="Google Shape;177;p8">
            <a:extLst xmlns:a="http://schemas.openxmlformats.org/drawingml/2006/main">
              <a:ext uri="{FF2B5EF4-FFF2-40B4-BE49-F238E27FC236}">
                <a16:creationId xmlns:a16="http://schemas.microsoft.com/office/drawing/2014/main" id="{49AC2C18-8185-4D12-B67F-FB696238796A}"/>
              </a:ext>
            </a:extLst>
          </p:cNvPr>
          <p:cNvSpPr>
            <a:spLocks xmlns:a="http://schemas.openxmlformats.org/drawingml/2006/main" noGrp="1"/>
          </p:cNvSpPr>
          <p:nvPr/>
        </p:nvSpPr>
        <p:spPr>
          <a:xfrm xmlns:a="http://schemas.openxmlformats.org/drawingml/2006/main">
            <a:off x="419100" y="2038350"/>
            <a:ext cx="5334000" cy="8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4650" b="0">
                <a:solidFill>
                  <a:srgbClr val="24231F"/>
                </a:solidFill>
                <a:latin typeface="Georgia"/>
                <a:ea typeface="Georgia"/>
                <a:cs typeface="Georgia"/>
              </a:rPr>
              <a:t>Questions?</a:t>
            </a:r>
          </a:p>
        </p:txBody>
      </p:sp>
      <p:sp>
        <p:nvSpPr>
          <p:cNvPr id="178" name="Google Shape;178;p8">
            <a:extLst xmlns:a="http://schemas.openxmlformats.org/drawingml/2006/main">
              <a:ext uri="{FF2B5EF4-FFF2-40B4-BE49-F238E27FC236}">
                <a16:creationId xmlns:a16="http://schemas.microsoft.com/office/drawing/2014/main" id="{55CFF63D-2013-48B2-83CD-C9B8D4E7CABB}"/>
              </a:ext>
            </a:extLst>
          </p:cNvPr>
          <p:cNvSpPr>
            <a:spLocks xmlns:a="http://schemas.openxmlformats.org/drawingml/2006/main" noGrp="1"/>
          </p:cNvSpPr>
          <p:nvPr/>
        </p:nvSpPr>
        <p:spPr>
          <a:xfrm xmlns:a="http://schemas.openxmlformats.org/drawingml/2006/main">
            <a:off x="419100" y="3124200"/>
            <a:ext cx="53340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2100" b="0">
                <a:solidFill>
                  <a:srgbClr val="6D6A63"/>
                </a:solidFill>
                <a:latin typeface="Arial"/>
                <a:ea typeface="Arial"/>
                <a:cs typeface="Arial"/>
              </a:rPr>
              <a:t>Save once. Understand once.</a:t>
            </a:r>
          </a:p>
          <a:p xmlns:a="http://schemas.openxmlformats.org/drawingml/2006/main">
            <a:pPr marL="0" marR="0" lvl="0" indent="0" algn="l">
              <a:spcBef>
                <a:spcPts val="0"/>
              </a:spcBef>
              <a:spcAft>
                <a:spcPts val="0"/>
              </a:spcAft>
              <a:buNone/>
            </a:pPr>
            <a:r>
              <a:rPr sz="2100" b="0">
                <a:solidFill>
                  <a:srgbClr val="6D6A63"/>
                </a:solidFill>
                <a:latin typeface="Arial"/>
                <a:ea typeface="Arial"/>
                <a:cs typeface="Arial"/>
              </a:rPr>
              <a:t>Retrieve whenever it matters.</a:t>
            </a:r>
          </a:p>
        </p:txBody>
      </p:sp>
      <p:sp>
        <p:nvSpPr>
          <p:cNvPr id="179" name="Google Shape;179;p8">
            <a:extLst xmlns:a="http://schemas.openxmlformats.org/drawingml/2006/main">
              <a:ext uri="{FF2B5EF4-FFF2-40B4-BE49-F238E27FC236}">
                <a16:creationId xmlns:a16="http://schemas.microsoft.com/office/drawing/2014/main" id="{3E60FA1F-B230-4E52-8DF1-A6F13CB77997}"/>
              </a:ext>
            </a:extLst>
          </p:cNvPr>
          <p:cNvSpPr>
            <a:spLocks xmlns:a="http://schemas.openxmlformats.org/drawingml/2006/main" noGrp="1"/>
          </p:cNvSpPr>
          <p:nvPr/>
        </p:nvSpPr>
        <p:spPr>
          <a:xfrm xmlns:a="http://schemas.openxmlformats.org/drawingml/2006/main">
            <a:off x="419100" y="4876800"/>
            <a:ext cx="5715000" cy="876300"/>
          </a:xfrm>
          <a:prstGeom xmlns:a="http://schemas.openxmlformats.org/drawingml/2006/main" prst="rect">
            <a:avLst/>
          </a:prstGeom>
          <a:solidFill xmlns:a="http://schemas.openxmlformats.org/drawingml/2006/main">
            <a:srgbClr val="F0EDE5"/>
          </a:solidFill>
          <a:ln xmlns:a="http://schemas.openxmlformats.org/drawingml/2006/main" w="14275" cmpd="sng">
            <a:solidFill>
              <a:srgbClr val="F0EDE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80" name="Google Shape;180;p8">
            <a:extLst xmlns:a="http://schemas.openxmlformats.org/drawingml/2006/main">
              <a:ext uri="{FF2B5EF4-FFF2-40B4-BE49-F238E27FC236}">
                <a16:creationId xmlns:a16="http://schemas.microsoft.com/office/drawing/2014/main" id="{E4D112AA-0D1F-423C-8C56-DCF678811593}"/>
              </a:ext>
            </a:extLst>
          </p:cNvPr>
          <p:cNvSpPr>
            <a:spLocks xmlns:a="http://schemas.openxmlformats.org/drawingml/2006/main" noGrp="1"/>
          </p:cNvSpPr>
          <p:nvPr/>
        </p:nvSpPr>
        <p:spPr>
          <a:xfrm xmlns:a="http://schemas.openxmlformats.org/drawingml/2006/main">
            <a:off x="685800" y="5067300"/>
            <a:ext cx="51816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489" b="1">
                <a:solidFill>
                  <a:srgbClr val="24231F"/>
                </a:solidFill>
                <a:latin typeface="Arial"/>
                <a:ea typeface="Arial"/>
                <a:cs typeface="Arial"/>
              </a:rPr>
              <a:t>Capture → Understand → Embed → Retrieve → Answer</a:t>
            </a:r>
          </a:p>
        </p:txBody>
      </p:sp>
      <p:sp>
        <p:nvSpPr>
          <p:cNvPr id="181" name="Google Shape;181;p8">
            <a:extLst xmlns:a="http://schemas.openxmlformats.org/drawingml/2006/main">
              <a:ext uri="{FF2B5EF4-FFF2-40B4-BE49-F238E27FC236}">
                <a16:creationId xmlns:a16="http://schemas.microsoft.com/office/drawing/2014/main" id="{61CA0835-49FE-4560-87E4-E67102C5E7BE}"/>
              </a:ext>
            </a:extLst>
          </p:cNvPr>
          <p:cNvSpPr>
            <a:spLocks xmlns:a="http://schemas.openxmlformats.org/drawingml/2006/main" noGrp="1"/>
          </p:cNvSpPr>
          <p:nvPr/>
        </p:nvSpPr>
        <p:spPr>
          <a:xfrm xmlns:a="http://schemas.openxmlformats.org/drawingml/2006/main">
            <a:off x="6400800" y="6286500"/>
            <a:ext cx="381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spcBef>
                <a:spcPts val="0"/>
              </a:spcBef>
              <a:spcAft>
                <a:spcPts val="0"/>
              </a:spcAft>
              <a:buNone/>
            </a:pPr>
            <a:r>
              <a:rPr sz="775" b="0">
                <a:solidFill>
                  <a:srgbClr val="6D6A63"/>
                </a:solidFill>
                <a:latin typeface="Arial"/>
                <a:ea typeface="Arial"/>
                <a:cs typeface="Arial"/>
              </a:rPr>
              <a:t>06</a:t>
            </a:r>
          </a:p>
        </p:txBody>
      </p:sp>
    </p:spTree>
    <p:extLst>
      <p:ext uri="{BB962C8B-B14F-4D97-AF65-F5344CB8AC3E}">
        <p14:creationId xmlns:p14="http://schemas.microsoft.com/office/powerpoint/2010/main" val="19749690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2026-07-24T10:47:46.8100000Z</dcterms:created>
  <dcterms:modified xsi:type="dcterms:W3CDTF">2026-07-24T10:47:46.8100000Z</dcterms:modified>
</coreProperties>
</file>