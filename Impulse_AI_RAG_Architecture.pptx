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8cae34c6bb4c54" /><Relationship Type="http://schemas.openxmlformats.org/officeDocument/2006/relationships/extended-properties" Target="/docProps/app.xml" Id="Rebf9a67466e240a1" /><Relationship Type="http://schemas.openxmlformats.org/officeDocument/2006/relationships/officeDocument" Target="/ppt/presentation.xml" Id="Rfd8f42a8ce034cef" /></Relationships>
</file>

<file path=ppt/presentation.xml><?xml version="1.0" encoding="utf-8"?>
<p:presentation xmlns:p="http://schemas.openxmlformats.org/presentationml/2006/main">
  <p:sldMasterIdLst>
    <p:sldMasterId xmlns:r="http://schemas.openxmlformats.org/officeDocument/2006/relationships" id="2147483648" r:id="Ra169a35bbb3e406e"/>
  </p:sldMasterIdLst>
  <p:notesMasterIdLst>
    <p:notesMasterId xmlns:r="http://schemas.openxmlformats.org/officeDocument/2006/relationships" r:id="R61175ed7853e4cb2"/>
  </p:notesMasterIdLst>
  <p:sldIdLst>
    <p:sldId xmlns:r="http://schemas.openxmlformats.org/officeDocument/2006/relationships" id="256" r:id="R1af80aa758fb49b7"/>
    <p:sldId xmlns:r="http://schemas.openxmlformats.org/officeDocument/2006/relationships" id="257" r:id="Re64a631272204a32"/>
    <p:sldId xmlns:r="http://schemas.openxmlformats.org/officeDocument/2006/relationships" id="258" r:id="Rc13021862ade4a3b"/>
    <p:sldId xmlns:r="http://schemas.openxmlformats.org/officeDocument/2006/relationships" id="259" r:id="Rede0224e438247d5"/>
    <p:sldId xmlns:r="http://schemas.openxmlformats.org/officeDocument/2006/relationships" id="260" r:id="R20e1861379d04ab3"/>
    <p:sldId xmlns:r="http://schemas.openxmlformats.org/officeDocument/2006/relationships" id="261" r:id="Rc05944cfe55048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a2ad15bcbf43be" /><Relationship Type="http://schemas.openxmlformats.org/officeDocument/2006/relationships/slideMaster" Target="/ppt/slideMasters/slideMaster1.xml" Id="Ra169a35bbb3e406e" /><Relationship Type="http://schemas.openxmlformats.org/officeDocument/2006/relationships/notesMaster" Target="/ppt/notesMasters/notesMaster1.xml" Id="R61175ed7853e4cb2" /><Relationship Type="http://schemas.openxmlformats.org/officeDocument/2006/relationships/presProps" Target="/ppt/presProps.xml" Id="Rcef5ba0c2c004a63" /><Relationship Type="http://schemas.openxmlformats.org/officeDocument/2006/relationships/tableStyles" Target="/ppt/tableStyles.xml" Id="R00a2129259fc463f" /><Relationship Type="http://schemas.openxmlformats.org/officeDocument/2006/relationships/slide" Target="/ppt/slides/slide1.xml" Id="R1af80aa758fb49b7" /><Relationship Type="http://schemas.openxmlformats.org/officeDocument/2006/relationships/slide" Target="/ppt/slides/slide2.xml" Id="Re64a631272204a32" /><Relationship Type="http://schemas.openxmlformats.org/officeDocument/2006/relationships/slide" Target="/ppt/slides/slide3.xml" Id="Rc13021862ade4a3b" /><Relationship Type="http://schemas.openxmlformats.org/officeDocument/2006/relationships/slide" Target="/ppt/slides/slide4.xml" Id="Rede0224e438247d5" /><Relationship Type="http://schemas.openxmlformats.org/officeDocument/2006/relationships/slide" Target="/ppt/slides/slide5.xml" Id="R20e1861379d04ab3" /><Relationship Type="http://schemas.openxmlformats.org/officeDocument/2006/relationships/slide" Target="/ppt/slides/slide6.xml" Id="Rc05944cfe55048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eaff9993524c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ac139468cc4019" /><Relationship Type="http://schemas.openxmlformats.org/officeDocument/2006/relationships/notesMaster" Target="/ppt/notesMasters/notesMaster1.xml" Id="R213a375071c242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8022aed27c453e" /><Relationship Type="http://schemas.openxmlformats.org/officeDocument/2006/relationships/notesMaster" Target="/ppt/notesMasters/notesMaster1.xml" Id="R966f88d2f3d74d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6aa7920c934772" /><Relationship Type="http://schemas.openxmlformats.org/officeDocument/2006/relationships/notesMaster" Target="/ppt/notesMasters/notesMaster1.xml" Id="R7abb4a5cae064c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a8f437d1214ffa" /><Relationship Type="http://schemas.openxmlformats.org/officeDocument/2006/relationships/notesMaster" Target="/ppt/notesMasters/notesMaster1.xml" Id="Ra2f09e90297043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9d2d1b4c4b4308" /><Relationship Type="http://schemas.openxmlformats.org/officeDocument/2006/relationships/notesMaster" Target="/ppt/notesMasters/notesMaster1.xml" Id="Rc2e9e4ec2d814c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141cde894a4fd7" /><Relationship Type="http://schemas.openxmlformats.org/officeDocument/2006/relationships/notesMaster" Target="/ppt/notesMasters/notesMaster1.xml" Id="R38e674f12ffa44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Impulse solves a simple problem: useful ideas are scattered across saved links. The application turns those sources into structured, searchable memory and grounded answers.</a:t>
            </a:r>
          </a:p>
          <a:p xmlns:a="http://schemas.openxmlformats.org/drawingml/2006/main">
            <a:r>
              <a:t/>
            </a:r>
          </a:p>
          <a:p xmlns:a="http://schemas.openxmlformats.org/drawingml/2006/main">
            <a:r>
              <a:t>[Sources]</a:t>
            </a:r>
          </a:p>
          <a:p xmlns:a="http://schemas.openxmlformats.org/drawingml/2006/main">
            <a:r>
              <a:t>- Generated visual: OpenAI ImageGen; prompt recorded in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Saving a URL alone does not preserve meaning. The extension captures content, the Android application provides the user experience, and both rely on the same backend memory pipeline.</a:t>
            </a:r>
          </a:p>
          <a:p xmlns:a="http://schemas.openxmlformats.org/drawingml/2006/main">
            <a:r>
              <a:t/>
            </a:r>
          </a:p>
          <a:p xmlns:a="http://schemas.openxmlformats.org/drawingml/2006/main">
            <a:r>
              <a:t>[Sources]</a:t>
            </a:r>
          </a:p>
          <a:p xmlns:a="http://schemas.openxmlformats.org/drawingml/2006/main">
            <a:r>
              <a:t>- docs/01-product-overview.md</a:t>
            </a:r>
          </a:p>
          <a:p xmlns:a="http://schemas.openxmlformats.org/drawingml/2006/main">
            <a:r>
              <a:t>- docs/10-browser-extension.md</a:t>
            </a:r>
          </a:p>
          <a:p xmlns:a="http://schemas.openxmlformats.org/drawingml/2006/main">
            <a:r>
              <a:t>- apps/frontend/app/src/main/java/com/impulse/ui/main/MainScreen.kt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never talks directly to the database or Gemini. Spring Boot validates the request, calls the FastAPI AI service, validates the returned 768-value embedding, and saves the memory.</a:t>
            </a:r>
          </a:p>
          <a:p xmlns:a="http://schemas.openxmlformats.org/drawingml/2006/main">
            <a:r>
              <a:t/>
            </a:r>
          </a:p>
          <a:p xmlns:a="http://schemas.openxmlformats.org/drawingml/2006/main">
            <a:r>
              <a:t>[Sources]</a:t>
            </a:r>
          </a:p>
          <a:p xmlns:a="http://schemas.openxmlformats.org/drawingml/2006/main">
            <a:r>
              <a:t>- apps/extension/utils/extractors.js</a:t>
            </a:r>
          </a:p>
          <a:p xmlns:a="http://schemas.openxmlformats.org/drawingml/2006/main">
            <a:r>
              <a:t>- apps/backend/src/main/kotlin/com/impulse/backend/memory/MemoryService.kt</a:t>
            </a:r>
          </a:p>
          <a:p xmlns:a="http://schemas.openxmlformats.org/drawingml/2006/main">
            <a:r>
              <a:t>- apps/backend/src/main/kotlin/com/impulse/backend/memory/AiMemoryProcessor.kt</a:t>
            </a:r>
          </a:p>
          <a:p xmlns:a="http://schemas.openxmlformats.org/drawingml/2006/main">
            <a:r>
              <a:t>- apps/ai-service/memory_processor.py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LLM converts source content into reusable memory. At query time the question is embedded, hybrid retrieval ranks the user's memories, and only the best six are sent to the final LLM for a grounded response.</a:t>
            </a:r>
          </a:p>
          <a:p xmlns:a="http://schemas.openxmlformats.org/drawingml/2006/main">
            <a:r>
              <a:t/>
            </a:r>
          </a:p>
          <a:p xmlns:a="http://schemas.openxmlformats.org/drawingml/2006/main">
            <a:r>
              <a:t>[Sources]</a:t>
            </a:r>
          </a:p>
          <a:p xmlns:a="http://schemas.openxmlformats.org/drawingml/2006/main">
            <a:r>
              <a:t>- docs/04-rag-design.md</a:t>
            </a:r>
          </a:p>
          <a:p xmlns:a="http://schemas.openxmlformats.org/drawingml/2006/main">
            <a:r>
              <a:t>- apps/backend/src/main/kotlin/com/impulse/backend/planning/MemoryRetrievalService.kt</a:t>
            </a:r>
          </a:p>
          <a:p xmlns:a="http://schemas.openxmlformats.org/drawingml/2006/main">
            <a:r>
              <a:t>- apps/backend/src/main/kotlin/com/impulse/backend/planning/PlanningService.kt</a:t>
            </a:r>
          </a:p>
          <a:p xmlns:a="http://schemas.openxmlformats.org/drawingml/2006/main">
            <a:r>
              <a:t>- apps/ai-service/memory_processor.py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adds audio and frame analysis, more approved sources, asynchronous processing, faster vector search, reranking, and stronger user controls. The core flow remains stable: understand, store, retrieve, then generate.</a:t>
            </a:r>
          </a:p>
          <a:p xmlns:a="http://schemas.openxmlformats.org/drawingml/2006/main">
            <a:r>
              <a:t/>
            </a:r>
          </a:p>
          <a:p xmlns:a="http://schemas.openxmlformats.org/drawingml/2006/main">
            <a:r>
              <a:t>[Sources]</a:t>
            </a:r>
          </a:p>
          <a:p xmlns:a="http://schemas.openxmlformats.org/drawingml/2006/main">
            <a:r>
              <a:t>- docs/11-creatorbrain-impulse-progress.md</a:t>
            </a:r>
          </a:p>
          <a:p xmlns:a="http://schemas.openxmlformats.org/drawingml/2006/main">
            <a:r>
              <a:t>- docs/08-link-ingestion-plan.md</a:t>
            </a:r>
          </a:p>
          <a:p xmlns:a="http://schemas.openxmlformats.org/drawingml/2006/main">
            <a:r>
              <a:t>- docs/04-rag-design.md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Impulse creates a reusable personal knowledge layer from content the user already values. Questions and feedback are welcome.</a:t>
            </a:r>
          </a:p>
          <a:p xmlns:a="http://schemas.openxmlformats.org/drawingml/2006/main">
            <a:r>
              <a:t/>
            </a:r>
          </a:p>
          <a:p xmlns:a="http://schemas.openxmlformats.org/drawingml/2006/main">
            <a:r>
              <a:t>[Sources]</a:t>
            </a:r>
          </a:p>
          <a:p xmlns:a="http://schemas.openxmlformats.org/drawingml/2006/main">
            <a:r>
              <a:t>- Generated visual: OpenAI ImageGen; prompt recorded in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bbab4efe194a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6c4ef35a054753" /><Relationship Type="http://schemas.openxmlformats.org/officeDocument/2006/relationships/slideLayout" Target="/ppt/slideLayouts/slideLayout1.xml" Id="R65c4fe8c472745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c4fe8c472745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b84fb81c474d0d" /><Relationship Type="http://schemas.openxmlformats.org/officeDocument/2006/relationships/image" Target="/ppt/media/image.png" Id="Ra9b6329173b746f4" /><Relationship Type="http://schemas.openxmlformats.org/officeDocument/2006/relationships/notesSlide" Target="/ppt/notesSlides/notesSlide1.xml" Id="R8ca1afa7bcb74e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5356b6e2d241a4" /><Relationship Type="http://schemas.openxmlformats.org/officeDocument/2006/relationships/notesSlide" Target="/ppt/notesSlides/notesSlide2.xml" Id="R325f1f6ab88c4c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390999d7184d6d" /><Relationship Type="http://schemas.openxmlformats.org/officeDocument/2006/relationships/notesSlide" Target="/ppt/notesSlides/notesSlide3.xml" Id="R6a7d9dad317944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1e41d788b64fc2" /><Relationship Type="http://schemas.openxmlformats.org/officeDocument/2006/relationships/notesSlide" Target="/ppt/notesSlides/notesSlide4.xml" Id="R0644e9ff9bae4a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f4dafb9c8b45a9" /><Relationship Type="http://schemas.openxmlformats.org/officeDocument/2006/relationships/notesSlide" Target="/ppt/notesSlides/notesSlide5.xml" Id="R60abce05ac4546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88a27145844fcb" /><Relationship Type="http://schemas.openxmlformats.org/officeDocument/2006/relationships/image" Target="/ppt/media/image2.png" Id="R8f22f8bc4166498d" /><Relationship Type="http://schemas.openxmlformats.org/officeDocument/2006/relationships/notesSlide" Target="/ppt/notesSlides/notesSlide6.xml" Id="R4d39fbb73fc64112" /></Relationships>
</file>

<file path=ppt/slides/slide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9b6329173b746f4"/>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cover-kicker">
            <a:extLst xmlns:a="http://schemas.openxmlformats.org/drawingml/2006/main">
              <a:ext uri="{FF2B5EF4-FFF2-40B4-BE49-F238E27FC236}">
                <a16:creationId xmlns:a16="http://schemas.microsoft.com/office/drawing/2014/main" id="{1355602A-A0B5-46FD-94C7-DEBA14D13497}"/>
              </a:ext>
            </a:extLst>
          </p:cNvPr>
          <p:cNvSpPr>
            <a:spLocks xmlns:a="http://schemas.openxmlformats.org/drawingml/2006/main" noGrp="1"/>
          </p:cNvSpPr>
          <p:nvPr/>
        </p:nvSpPr>
        <p:spPr>
          <a:xfrm xmlns:a="http://schemas.openxmlformats.org/drawingml/2006/main">
            <a:off x="419100" y="4572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3478F6"/>
                </a:solidFill>
                <a:latin typeface="Arial"/>
                <a:ea typeface="Arial"/>
                <a:cs typeface="Arial"/>
              </a:defRPr>
            </a:pPr>
            <a:r>
              <a:rPr sz="1275" b="1">
                <a:solidFill>
                  <a:srgbClr val="3478F6"/>
                </a:solidFill>
                <a:latin typeface="Arial"/>
                <a:ea typeface="Arial"/>
                <a:cs typeface="Arial"/>
              </a:rPr>
              <a:t>IMPULSE • PERSONAL KNOWLEDGE + PLANNING</a:t>
            </a:r>
          </a:p>
        </p:txBody>
      </p:sp>
      <p:sp>
        <p:nvSpPr>
          <p:cNvPr id="3" name="cover-title">
            <a:extLst xmlns:a="http://schemas.openxmlformats.org/drawingml/2006/main">
              <a:ext uri="{FF2B5EF4-FFF2-40B4-BE49-F238E27FC236}">
                <a16:creationId xmlns:a16="http://schemas.microsoft.com/office/drawing/2014/main" id="{D12A6B37-43D2-4C6D-A399-B0300678101C}"/>
              </a:ext>
            </a:extLst>
          </p:cNvPr>
          <p:cNvSpPr>
            <a:spLocks xmlns:a="http://schemas.openxmlformats.org/drawingml/2006/main" noGrp="1"/>
          </p:cNvSpPr>
          <p:nvPr/>
        </p:nvSpPr>
        <p:spPr>
          <a:xfrm xmlns:a="http://schemas.openxmlformats.org/drawingml/2006/main">
            <a:off x="419100" y="1466850"/>
            <a:ext cx="4476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171717"/>
                </a:solidFill>
                <a:latin typeface="Arial"/>
                <a:ea typeface="Arial"/>
                <a:cs typeface="Arial"/>
              </a:defRPr>
            </a:pPr>
            <a:r>
              <a:rPr sz="4350" b="1">
                <a:solidFill>
                  <a:srgbClr val="171717"/>
                </a:solidFill>
                <a:latin typeface="Arial"/>
                <a:ea typeface="Arial"/>
                <a:cs typeface="Arial"/>
              </a:rPr>
              <a:t>Impulse</a:t>
            </a:r>
          </a:p>
        </p:txBody>
      </p:sp>
      <p:sp>
        <p:nvSpPr>
          <p:cNvPr id="4" name="cover-tagline">
            <a:extLst xmlns:a="http://schemas.openxmlformats.org/drawingml/2006/main">
              <a:ext uri="{FF2B5EF4-FFF2-40B4-BE49-F238E27FC236}">
                <a16:creationId xmlns:a16="http://schemas.microsoft.com/office/drawing/2014/main" id="{18BCABF4-A195-45E6-A580-CA7E239DAF82}"/>
              </a:ext>
            </a:extLst>
          </p:cNvPr>
          <p:cNvSpPr>
            <a:spLocks xmlns:a="http://schemas.openxmlformats.org/drawingml/2006/main" noGrp="1"/>
          </p:cNvSpPr>
          <p:nvPr/>
        </p:nvSpPr>
        <p:spPr>
          <a:xfrm xmlns:a="http://schemas.openxmlformats.org/drawingml/2006/main">
            <a:off x="419100" y="22860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2"/>
          </a:bodyPr>
          <a:lstStyle xmlns:a="http://schemas.openxmlformats.org/drawingml/2006/main"/>
          <a:p xmlns:a="http://schemas.openxmlformats.org/drawingml/2006/main">
            <a:pPr algn="l">
              <a:defRPr sz="2700" b="1">
                <a:solidFill>
                  <a:srgbClr val="171717"/>
                </a:solidFill>
                <a:latin typeface="Arial"/>
                <a:ea typeface="Arial"/>
                <a:cs typeface="Arial"/>
              </a:defRPr>
            </a:pPr>
            <a:r>
              <a:rPr sz="2700" b="1">
                <a:solidFill>
                  <a:srgbClr val="171717"/>
                </a:solidFill>
                <a:latin typeface="Arial"/>
                <a:ea typeface="Arial"/>
                <a:cs typeface="Arial"/>
              </a:rPr>
              <a:t>Save once. Understand once.</a:t>
            </a:r>
          </a:p>
          <a:p xmlns:a="http://schemas.openxmlformats.org/drawingml/2006/main">
            <a:pPr algn="l">
              <a:defRPr sz="2700" b="1">
                <a:solidFill>
                  <a:srgbClr val="171717"/>
                </a:solidFill>
                <a:latin typeface="Arial"/>
                <a:ea typeface="Arial"/>
                <a:cs typeface="Arial"/>
              </a:defRPr>
            </a:pPr>
            <a:r>
              <a:rPr sz="2700" b="1">
                <a:solidFill>
                  <a:srgbClr val="171717"/>
                </a:solidFill>
                <a:latin typeface="Arial"/>
                <a:ea typeface="Arial"/>
                <a:cs typeface="Arial"/>
              </a:rPr>
              <a:t>Use it when it matters.</a:t>
            </a:r>
          </a:p>
        </p:txBody>
      </p:sp>
      <p:sp>
        <p:nvSpPr>
          <p:cNvPr id="5" name="cover-subtitle">
            <a:extLst xmlns:a="http://schemas.openxmlformats.org/drawingml/2006/main">
              <a:ext uri="{FF2B5EF4-FFF2-40B4-BE49-F238E27FC236}">
                <a16:creationId xmlns:a16="http://schemas.microsoft.com/office/drawing/2014/main" id="{BE70F670-8B89-42EF-8C41-E115B471A1BF}"/>
              </a:ext>
            </a:extLst>
          </p:cNvPr>
          <p:cNvSpPr>
            <a:spLocks xmlns:a="http://schemas.openxmlformats.org/drawingml/2006/main" noGrp="1"/>
          </p:cNvSpPr>
          <p:nvPr/>
        </p:nvSpPr>
        <p:spPr>
          <a:xfrm xmlns:a="http://schemas.openxmlformats.org/drawingml/2006/main">
            <a:off x="419100" y="3638550"/>
            <a:ext cx="466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646464"/>
                </a:solidFill>
                <a:latin typeface="Arial"/>
                <a:ea typeface="Arial"/>
                <a:cs typeface="Arial"/>
              </a:defRPr>
            </a:pPr>
            <a:r>
              <a:rPr sz="1650" b="0">
                <a:solidFill>
                  <a:srgbClr val="646464"/>
                </a:solidFill>
                <a:latin typeface="Arial"/>
                <a:ea typeface="Arial"/>
                <a:cs typeface="Arial"/>
              </a:rPr>
              <a:t>Saved videos, posts and web pages become searchable memories, grounded answers and practical plans.</a:t>
            </a:r>
          </a:p>
        </p:txBody>
      </p:sp>
      <p:sp>
        <p:nvSpPr>
          <p:cNvPr id="6" name="cover-team-label">
            <a:extLst xmlns:a="http://schemas.openxmlformats.org/drawingml/2006/main">
              <a:ext uri="{FF2B5EF4-FFF2-40B4-BE49-F238E27FC236}">
                <a16:creationId xmlns:a16="http://schemas.microsoft.com/office/drawing/2014/main" id="{73EDB59C-5387-4B93-8DC4-D2F907299186}"/>
              </a:ext>
            </a:extLst>
          </p:cNvPr>
          <p:cNvSpPr>
            <a:spLocks xmlns:a="http://schemas.openxmlformats.org/drawingml/2006/main" noGrp="1"/>
          </p:cNvSpPr>
          <p:nvPr/>
        </p:nvSpPr>
        <p:spPr>
          <a:xfrm xmlns:a="http://schemas.openxmlformats.org/drawingml/2006/main">
            <a:off x="419100" y="52197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3478F6"/>
                </a:solidFill>
                <a:latin typeface="Arial"/>
                <a:ea typeface="Arial"/>
                <a:cs typeface="Arial"/>
              </a:defRPr>
            </a:pPr>
            <a:r>
              <a:rPr sz="1200" b="1">
                <a:solidFill>
                  <a:srgbClr val="3478F6"/>
                </a:solidFill>
                <a:latin typeface="Arial"/>
                <a:ea typeface="Arial"/>
                <a:cs typeface="Arial"/>
              </a:rPr>
              <a:t>TEAM</a:t>
            </a:r>
          </a:p>
        </p:txBody>
      </p:sp>
      <p:sp>
        <p:nvSpPr>
          <p:cNvPr id="7" name="cover-team">
            <a:extLst xmlns:a="http://schemas.openxmlformats.org/drawingml/2006/main">
              <a:ext uri="{FF2B5EF4-FFF2-40B4-BE49-F238E27FC236}">
                <a16:creationId xmlns:a16="http://schemas.microsoft.com/office/drawing/2014/main" id="{05FB4AE3-E209-4E56-A6B6-A45BDA8493E4}"/>
              </a:ext>
            </a:extLst>
          </p:cNvPr>
          <p:cNvSpPr>
            <a:spLocks xmlns:a="http://schemas.openxmlformats.org/drawingml/2006/main" noGrp="1"/>
          </p:cNvSpPr>
          <p:nvPr/>
        </p:nvSpPr>
        <p:spPr>
          <a:xfrm xmlns:a="http://schemas.openxmlformats.org/drawingml/2006/main">
            <a:off x="419100" y="5486400"/>
            <a:ext cx="466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171717"/>
                </a:solidFill>
                <a:latin typeface="Arial"/>
                <a:ea typeface="Arial"/>
                <a:cs typeface="Arial"/>
              </a:defRPr>
            </a:pPr>
            <a:r>
              <a:rPr sz="1275" b="1">
                <a:solidFill>
                  <a:srgbClr val="171717"/>
                </a:solidFill>
                <a:latin typeface="Arial"/>
                <a:ea typeface="Arial"/>
                <a:cs typeface="Arial"/>
              </a:rPr>
              <a:t>Kiran Kumar Sahoo  •  Apurvaa Avinandita  •  Jagadheshvar B P</a:t>
            </a:r>
          </a:p>
        </p:txBody>
      </p:sp>
    </p:spTree>
    <p:extLst>
      <p:ext uri="{BB962C8B-B14F-4D97-AF65-F5344CB8AC3E}">
        <p14:creationId xmlns:p14="http://schemas.microsoft.com/office/powerpoint/2010/main" val="1403203049"/>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1" name="slide-2-title">
            <a:extLst xmlns:a="http://schemas.openxmlformats.org/drawingml/2006/main">
              <a:ext uri="{FF2B5EF4-FFF2-40B4-BE49-F238E27FC236}">
                <a16:creationId xmlns:a16="http://schemas.microsoft.com/office/drawing/2014/main" id="{5CC1D70B-5091-4008-9AEF-B65DEFE2C71E}"/>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71717"/>
                </a:solidFill>
                <a:latin typeface="Arial"/>
                <a:ea typeface="Arial"/>
                <a:cs typeface="Arial"/>
              </a:defRPr>
            </a:pPr>
            <a:r>
              <a:rPr sz="2850" b="1">
                <a:solidFill>
                  <a:srgbClr val="171717"/>
                </a:solidFill>
                <a:latin typeface="Arial"/>
                <a:ea typeface="Arial"/>
                <a:cs typeface="Arial"/>
              </a:rPr>
              <a:t>A saved link is not yet useful knowledge</a:t>
            </a:r>
          </a:p>
        </p:txBody>
      </p:sp>
      <p:sp>
        <p:nvSpPr>
          <p:cNvPr id="2" name="slide-2-number">
            <a:extLst xmlns:a="http://schemas.openxmlformats.org/drawingml/2006/main">
              <a:ext uri="{FF2B5EF4-FFF2-40B4-BE49-F238E27FC236}">
                <a16:creationId xmlns:a16="http://schemas.microsoft.com/office/drawing/2014/main" id="{EE9BED51-B864-4451-A06C-7C185BB21C10}"/>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46464"/>
                </a:solidFill>
                <a:latin typeface="Arial"/>
                <a:ea typeface="Arial"/>
                <a:cs typeface="Arial"/>
              </a:defRPr>
            </a:pPr>
            <a:r>
              <a:rPr sz="975" b="0">
                <a:solidFill>
                  <a:srgbClr val="646464"/>
                </a:solidFill>
                <a:latin typeface="Arial"/>
                <a:ea typeface="Arial"/>
                <a:cs typeface="Arial"/>
              </a:rPr>
              <a:t>02</a:t>
            </a:r>
          </a:p>
        </p:txBody>
      </p:sp>
      <p:sp>
        <p:nvSpPr>
          <p:cNvPr id="3" name="problem-lead">
            <a:extLst xmlns:a="http://schemas.openxmlformats.org/drawingml/2006/main">
              <a:ext uri="{FF2B5EF4-FFF2-40B4-BE49-F238E27FC236}">
                <a16:creationId xmlns:a16="http://schemas.microsoft.com/office/drawing/2014/main" id="{1CEA80BF-F136-4F2C-A452-978361B5483E}"/>
              </a:ext>
            </a:extLst>
          </p:cNvPr>
          <p:cNvSpPr>
            <a:spLocks xmlns:a="http://schemas.openxmlformats.org/drawingml/2006/main" noGrp="1"/>
          </p:cNvSpPr>
          <p:nvPr/>
        </p:nvSpPr>
        <p:spPr>
          <a:xfrm xmlns:a="http://schemas.openxmlformats.org/drawingml/2006/main">
            <a:off x="419100" y="11620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646464"/>
                </a:solidFill>
                <a:latin typeface="Arial"/>
                <a:ea typeface="Arial"/>
                <a:cs typeface="Arial"/>
              </a:defRPr>
            </a:pPr>
            <a:r>
              <a:rPr sz="1650" b="1">
                <a:solidFill>
                  <a:srgbClr val="646464"/>
                </a:solidFill>
                <a:latin typeface="Arial"/>
                <a:ea typeface="Arial"/>
                <a:cs typeface="Arial"/>
              </a:rPr>
              <a:t>Customer problem</a:t>
            </a:r>
          </a:p>
        </p:txBody>
      </p:sp>
      <p:sp>
        <p:nvSpPr>
          <p:cNvPr id="4" name="problem-big">
            <a:extLst xmlns:a="http://schemas.openxmlformats.org/drawingml/2006/main">
              <a:ext uri="{FF2B5EF4-FFF2-40B4-BE49-F238E27FC236}">
                <a16:creationId xmlns:a16="http://schemas.microsoft.com/office/drawing/2014/main" id="{9074B0FF-4543-44F7-8DF3-3EE8C5D3F0E5}"/>
              </a:ext>
            </a:extLst>
          </p:cNvPr>
          <p:cNvSpPr>
            <a:spLocks xmlns:a="http://schemas.openxmlformats.org/drawingml/2006/main" noGrp="1"/>
          </p:cNvSpPr>
          <p:nvPr/>
        </p:nvSpPr>
        <p:spPr>
          <a:xfrm xmlns:a="http://schemas.openxmlformats.org/drawingml/2006/main">
            <a:off x="419100" y="1600200"/>
            <a:ext cx="457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625" b="1">
                <a:solidFill>
                  <a:srgbClr val="171717"/>
                </a:solidFill>
                <a:latin typeface="Arial"/>
                <a:ea typeface="Arial"/>
                <a:cs typeface="Arial"/>
              </a:defRPr>
            </a:pPr>
            <a:r>
              <a:rPr sz="2625" b="1">
                <a:solidFill>
                  <a:srgbClr val="171717"/>
                </a:solidFill>
                <a:latin typeface="Arial"/>
                <a:ea typeface="Arial"/>
                <a:cs typeface="Arial"/>
              </a:rPr>
              <a:t>Links are fragmented.</a:t>
            </a:r>
          </a:p>
          <a:p xmlns:a="http://schemas.openxmlformats.org/drawingml/2006/main">
            <a:pPr algn="l">
              <a:defRPr sz="2625" b="1">
                <a:solidFill>
                  <a:srgbClr val="171717"/>
                </a:solidFill>
                <a:latin typeface="Arial"/>
                <a:ea typeface="Arial"/>
                <a:cs typeface="Arial"/>
              </a:defRPr>
            </a:pPr>
            <a:r>
              <a:rPr sz="2625" b="1">
                <a:solidFill>
                  <a:srgbClr val="171717"/>
                </a:solidFill>
                <a:latin typeface="Arial"/>
                <a:ea typeface="Arial"/>
                <a:cs typeface="Arial"/>
              </a:rPr>
              <a:t>Details are forgotten.</a:t>
            </a:r>
          </a:p>
          <a:p xmlns:a="http://schemas.openxmlformats.org/drawingml/2006/main">
            <a:pPr algn="l">
              <a:defRPr sz="2625" b="1">
                <a:solidFill>
                  <a:srgbClr val="171717"/>
                </a:solidFill>
                <a:latin typeface="Arial"/>
                <a:ea typeface="Arial"/>
                <a:cs typeface="Arial"/>
              </a:defRPr>
            </a:pPr>
            <a:r>
              <a:rPr sz="2625" b="1">
                <a:solidFill>
                  <a:srgbClr val="171717"/>
                </a:solidFill>
                <a:latin typeface="Arial"/>
                <a:ea typeface="Arial"/>
                <a:cs typeface="Arial"/>
              </a:rPr>
              <a:t>Generic AI lacks context.</a:t>
            </a:r>
          </a:p>
        </p:txBody>
      </p:sp>
      <p:sp>
        <p:nvSpPr>
          <p:cNvPr id="5" name="problem-arrow">
            <a:extLst xmlns:a="http://schemas.openxmlformats.org/drawingml/2006/main">
              <a:ext uri="{FF2B5EF4-FFF2-40B4-BE49-F238E27FC236}">
                <a16:creationId xmlns:a16="http://schemas.microsoft.com/office/drawing/2014/main" id="{611D4A0E-B125-4786-B4B4-68B20E332B3C}"/>
              </a:ext>
            </a:extLst>
          </p:cNvPr>
          <p:cNvSpPr>
            <a:spLocks xmlns:a="http://schemas.openxmlformats.org/drawingml/2006/main" noGrp="1"/>
          </p:cNvSpPr>
          <p:nvPr/>
        </p:nvSpPr>
        <p:spPr>
          <a:xfrm xmlns:a="http://schemas.openxmlformats.org/drawingml/2006/main">
            <a:off x="5286375" y="2381250"/>
            <a:ext cx="1143000" cy="4191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6" name="solution-lead">
            <a:extLst xmlns:a="http://schemas.openxmlformats.org/drawingml/2006/main">
              <a:ext uri="{FF2B5EF4-FFF2-40B4-BE49-F238E27FC236}">
                <a16:creationId xmlns:a16="http://schemas.microsoft.com/office/drawing/2014/main" id="{C9263AD1-889D-48D8-9826-A03B1CBE831C}"/>
              </a:ext>
            </a:extLst>
          </p:cNvPr>
          <p:cNvSpPr>
            <a:spLocks xmlns:a="http://schemas.openxmlformats.org/drawingml/2006/main" noGrp="1"/>
          </p:cNvSpPr>
          <p:nvPr/>
        </p:nvSpPr>
        <p:spPr>
          <a:xfrm xmlns:a="http://schemas.openxmlformats.org/drawingml/2006/main">
            <a:off x="6762750" y="11620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3478F6"/>
                </a:solidFill>
                <a:latin typeface="Arial"/>
                <a:ea typeface="Arial"/>
                <a:cs typeface="Arial"/>
              </a:defRPr>
            </a:pPr>
            <a:r>
              <a:rPr sz="1650" b="1">
                <a:solidFill>
                  <a:srgbClr val="3478F6"/>
                </a:solidFill>
                <a:latin typeface="Arial"/>
                <a:ea typeface="Arial"/>
                <a:cs typeface="Arial"/>
              </a:rPr>
              <a:t>How Impulse solves it</a:t>
            </a:r>
          </a:p>
        </p:txBody>
      </p:sp>
      <p:sp>
        <p:nvSpPr>
          <p:cNvPr id="7" name="solution-1-box">
            <a:extLst xmlns:a="http://schemas.openxmlformats.org/drawingml/2006/main">
              <a:ext uri="{FF2B5EF4-FFF2-40B4-BE49-F238E27FC236}">
                <a16:creationId xmlns:a16="http://schemas.microsoft.com/office/drawing/2014/main" id="{306D34C0-ED5E-4A42-9C1F-B51B9A42861F}"/>
              </a:ext>
            </a:extLst>
          </p:cNvPr>
          <p:cNvSpPr>
            <a:spLocks xmlns:a="http://schemas.openxmlformats.org/drawingml/2006/main" noGrp="1"/>
          </p:cNvSpPr>
          <p:nvPr/>
        </p:nvSpPr>
        <p:spPr>
          <a:xfrm xmlns:a="http://schemas.openxmlformats.org/drawingml/2006/main">
            <a:off x="6762750" y="1619250"/>
            <a:ext cx="4667250" cy="876300"/>
          </a:xfrm>
          <a:prstGeom xmlns:a="http://schemas.openxmlformats.org/drawingml/2006/main" prst="roundRect">
            <a:avLst>
              <a:gd name="adj" fmla="val 8696"/>
            </a:avLst>
          </a:prstGeom>
          <a:solidFill xmlns:a="http://schemas.openxmlformats.org/drawingml/2006/main">
            <a:srgbClr val="F2F7FF"/>
          </a:solidFill>
          <a:ln xmlns:a="http://schemas.openxmlformats.org/drawingml/2006/main" w="14288">
            <a:solidFill>
              <a:srgbClr val="292929"/>
            </a:solidFill>
            <a:prstDash val="solid"/>
          </a:ln>
        </p:spPr>
      </p:sp>
      <p:sp>
        <p:nvSpPr>
          <p:cNvPr id="8" name="solution-1-accent">
            <a:extLst xmlns:a="http://schemas.openxmlformats.org/drawingml/2006/main">
              <a:ext uri="{FF2B5EF4-FFF2-40B4-BE49-F238E27FC236}">
                <a16:creationId xmlns:a16="http://schemas.microsoft.com/office/drawing/2014/main" id="{0D611208-8BDC-4457-A820-1115ED11B2F3}"/>
              </a:ext>
            </a:extLst>
          </p:cNvPr>
          <p:cNvSpPr>
            <a:spLocks xmlns:a="http://schemas.openxmlformats.org/drawingml/2006/main" noGrp="1"/>
          </p:cNvSpPr>
          <p:nvPr/>
        </p:nvSpPr>
        <p:spPr>
          <a:xfrm xmlns:a="http://schemas.openxmlformats.org/drawingml/2006/main">
            <a:off x="6762750" y="1619250"/>
            <a:ext cx="76200" cy="8763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9" name="solution-1-head">
            <a:extLst xmlns:a="http://schemas.openxmlformats.org/drawingml/2006/main">
              <a:ext uri="{FF2B5EF4-FFF2-40B4-BE49-F238E27FC236}">
                <a16:creationId xmlns:a16="http://schemas.microsoft.com/office/drawing/2014/main" id="{84A3BD1F-09AE-4712-9A5D-F08190582067}"/>
              </a:ext>
            </a:extLst>
          </p:cNvPr>
          <p:cNvSpPr>
            <a:spLocks xmlns:a="http://schemas.openxmlformats.org/drawingml/2006/main" noGrp="1"/>
          </p:cNvSpPr>
          <p:nvPr/>
        </p:nvSpPr>
        <p:spPr>
          <a:xfrm xmlns:a="http://schemas.openxmlformats.org/drawingml/2006/main">
            <a:off x="6972300" y="17430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Understand once</a:t>
            </a:r>
          </a:p>
        </p:txBody>
      </p:sp>
      <p:sp>
        <p:nvSpPr>
          <p:cNvPr id="10" name="solution-1-body">
            <a:extLst xmlns:a="http://schemas.openxmlformats.org/drawingml/2006/main">
              <a:ext uri="{FF2B5EF4-FFF2-40B4-BE49-F238E27FC236}">
                <a16:creationId xmlns:a16="http://schemas.microsoft.com/office/drawing/2014/main" id="{2AAE68A2-33C0-4461-BA17-B08FBFF85F4A}"/>
              </a:ext>
            </a:extLst>
          </p:cNvPr>
          <p:cNvSpPr>
            <a:spLocks xmlns:a="http://schemas.openxmlformats.org/drawingml/2006/main" noGrp="1"/>
          </p:cNvSpPr>
          <p:nvPr/>
        </p:nvSpPr>
        <p:spPr>
          <a:xfrm xmlns:a="http://schemas.openxmlformats.org/drawingml/2006/main">
            <a:off x="6972300" y="207645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Extract compact facts, topics and useful actions.</a:t>
            </a:r>
          </a:p>
        </p:txBody>
      </p:sp>
      <p:sp>
        <p:nvSpPr>
          <p:cNvPr id="11" name="solution-2-box">
            <a:extLst xmlns:a="http://schemas.openxmlformats.org/drawingml/2006/main">
              <a:ext uri="{FF2B5EF4-FFF2-40B4-BE49-F238E27FC236}">
                <a16:creationId xmlns:a16="http://schemas.microsoft.com/office/drawing/2014/main" id="{BA4DD679-E1AF-4976-B592-B51B8DF1BB73}"/>
              </a:ext>
            </a:extLst>
          </p:cNvPr>
          <p:cNvSpPr>
            <a:spLocks xmlns:a="http://schemas.openxmlformats.org/drawingml/2006/main" noGrp="1"/>
          </p:cNvSpPr>
          <p:nvPr/>
        </p:nvSpPr>
        <p:spPr>
          <a:xfrm xmlns:a="http://schemas.openxmlformats.org/drawingml/2006/main">
            <a:off x="6762750" y="2686050"/>
            <a:ext cx="4667250" cy="876300"/>
          </a:xfrm>
          <a:prstGeom xmlns:a="http://schemas.openxmlformats.org/drawingml/2006/main" prst="roundRect">
            <a:avLst>
              <a:gd name="adj" fmla="val 8696"/>
            </a:avLst>
          </a:prstGeom>
          <a:solidFill xmlns:a="http://schemas.openxmlformats.org/drawingml/2006/main">
            <a:srgbClr val="F2F7FF"/>
          </a:solidFill>
          <a:ln xmlns:a="http://schemas.openxmlformats.org/drawingml/2006/main" w="14288">
            <a:solidFill>
              <a:srgbClr val="292929"/>
            </a:solidFill>
            <a:prstDash val="solid"/>
          </a:ln>
        </p:spPr>
      </p:sp>
      <p:sp>
        <p:nvSpPr>
          <p:cNvPr id="12" name="solution-2-accent">
            <a:extLst xmlns:a="http://schemas.openxmlformats.org/drawingml/2006/main">
              <a:ext uri="{FF2B5EF4-FFF2-40B4-BE49-F238E27FC236}">
                <a16:creationId xmlns:a16="http://schemas.microsoft.com/office/drawing/2014/main" id="{91C06441-C7EC-4867-8629-574E147BA0CA}"/>
              </a:ext>
            </a:extLst>
          </p:cNvPr>
          <p:cNvSpPr>
            <a:spLocks xmlns:a="http://schemas.openxmlformats.org/drawingml/2006/main" noGrp="1"/>
          </p:cNvSpPr>
          <p:nvPr/>
        </p:nvSpPr>
        <p:spPr>
          <a:xfrm xmlns:a="http://schemas.openxmlformats.org/drawingml/2006/main">
            <a:off x="6762750" y="2686050"/>
            <a:ext cx="76200" cy="8763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13" name="solution-2-head">
            <a:extLst xmlns:a="http://schemas.openxmlformats.org/drawingml/2006/main">
              <a:ext uri="{FF2B5EF4-FFF2-40B4-BE49-F238E27FC236}">
                <a16:creationId xmlns:a16="http://schemas.microsoft.com/office/drawing/2014/main" id="{881316DD-7AE0-4C7E-A9D0-965830E74507}"/>
              </a:ext>
            </a:extLst>
          </p:cNvPr>
          <p:cNvSpPr>
            <a:spLocks xmlns:a="http://schemas.openxmlformats.org/drawingml/2006/main" noGrp="1"/>
          </p:cNvSpPr>
          <p:nvPr/>
        </p:nvSpPr>
        <p:spPr>
          <a:xfrm xmlns:a="http://schemas.openxmlformats.org/drawingml/2006/main">
            <a:off x="6972300" y="28098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Store for retrieval</a:t>
            </a:r>
          </a:p>
        </p:txBody>
      </p:sp>
      <p:sp>
        <p:nvSpPr>
          <p:cNvPr id="14" name="solution-2-body">
            <a:extLst xmlns:a="http://schemas.openxmlformats.org/drawingml/2006/main">
              <a:ext uri="{FF2B5EF4-FFF2-40B4-BE49-F238E27FC236}">
                <a16:creationId xmlns:a16="http://schemas.microsoft.com/office/drawing/2014/main" id="{FEE0E951-722A-4994-AAA9-80E538DC0866}"/>
              </a:ext>
            </a:extLst>
          </p:cNvPr>
          <p:cNvSpPr>
            <a:spLocks xmlns:a="http://schemas.openxmlformats.org/drawingml/2006/main" noGrp="1"/>
          </p:cNvSpPr>
          <p:nvPr/>
        </p:nvSpPr>
        <p:spPr>
          <a:xfrm xmlns:a="http://schemas.openxmlformats.org/drawingml/2006/main">
            <a:off x="6972300" y="314325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Keep human-readable data and its vector meaning.</a:t>
            </a:r>
          </a:p>
        </p:txBody>
      </p:sp>
      <p:sp>
        <p:nvSpPr>
          <p:cNvPr id="15" name="solution-3-box">
            <a:extLst xmlns:a="http://schemas.openxmlformats.org/drawingml/2006/main">
              <a:ext uri="{FF2B5EF4-FFF2-40B4-BE49-F238E27FC236}">
                <a16:creationId xmlns:a16="http://schemas.microsoft.com/office/drawing/2014/main" id="{68A12954-0CC4-4B40-A48C-30AECB5E6586}"/>
              </a:ext>
            </a:extLst>
          </p:cNvPr>
          <p:cNvSpPr>
            <a:spLocks xmlns:a="http://schemas.openxmlformats.org/drawingml/2006/main" noGrp="1"/>
          </p:cNvSpPr>
          <p:nvPr/>
        </p:nvSpPr>
        <p:spPr>
          <a:xfrm xmlns:a="http://schemas.openxmlformats.org/drawingml/2006/main">
            <a:off x="6762750" y="3752850"/>
            <a:ext cx="4667250" cy="876300"/>
          </a:xfrm>
          <a:prstGeom xmlns:a="http://schemas.openxmlformats.org/drawingml/2006/main" prst="roundRect">
            <a:avLst>
              <a:gd name="adj" fmla="val 8696"/>
            </a:avLst>
          </a:prstGeom>
          <a:solidFill xmlns:a="http://schemas.openxmlformats.org/drawingml/2006/main">
            <a:srgbClr val="F2F7FF"/>
          </a:solidFill>
          <a:ln xmlns:a="http://schemas.openxmlformats.org/drawingml/2006/main" w="14288">
            <a:solidFill>
              <a:srgbClr val="292929"/>
            </a:solidFill>
            <a:prstDash val="solid"/>
          </a:ln>
        </p:spPr>
      </p:sp>
      <p:sp>
        <p:nvSpPr>
          <p:cNvPr id="16" name="solution-3-accent">
            <a:extLst xmlns:a="http://schemas.openxmlformats.org/drawingml/2006/main">
              <a:ext uri="{FF2B5EF4-FFF2-40B4-BE49-F238E27FC236}">
                <a16:creationId xmlns:a16="http://schemas.microsoft.com/office/drawing/2014/main" id="{379F5F72-041D-4500-B179-E0AA38A820FA}"/>
              </a:ext>
            </a:extLst>
          </p:cNvPr>
          <p:cNvSpPr>
            <a:spLocks xmlns:a="http://schemas.openxmlformats.org/drawingml/2006/main" noGrp="1"/>
          </p:cNvSpPr>
          <p:nvPr/>
        </p:nvSpPr>
        <p:spPr>
          <a:xfrm xmlns:a="http://schemas.openxmlformats.org/drawingml/2006/main">
            <a:off x="6762750" y="3752850"/>
            <a:ext cx="76200" cy="8763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17" name="solution-3-head">
            <a:extLst xmlns:a="http://schemas.openxmlformats.org/drawingml/2006/main">
              <a:ext uri="{FF2B5EF4-FFF2-40B4-BE49-F238E27FC236}">
                <a16:creationId xmlns:a16="http://schemas.microsoft.com/office/drawing/2014/main" id="{353DD9AE-8AC9-4154-B256-7675D894B0ED}"/>
              </a:ext>
            </a:extLst>
          </p:cNvPr>
          <p:cNvSpPr>
            <a:spLocks xmlns:a="http://schemas.openxmlformats.org/drawingml/2006/main" noGrp="1"/>
          </p:cNvSpPr>
          <p:nvPr/>
        </p:nvSpPr>
        <p:spPr>
          <a:xfrm xmlns:a="http://schemas.openxmlformats.org/drawingml/2006/main">
            <a:off x="6972300" y="38766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Answer with evidence</a:t>
            </a:r>
          </a:p>
        </p:txBody>
      </p:sp>
      <p:sp>
        <p:nvSpPr>
          <p:cNvPr id="18" name="solution-3-body">
            <a:extLst xmlns:a="http://schemas.openxmlformats.org/drawingml/2006/main">
              <a:ext uri="{FF2B5EF4-FFF2-40B4-BE49-F238E27FC236}">
                <a16:creationId xmlns:a16="http://schemas.microsoft.com/office/drawing/2014/main" id="{7710576C-5F45-45EA-97D3-E4E356146DF2}"/>
              </a:ext>
            </a:extLst>
          </p:cNvPr>
          <p:cNvSpPr>
            <a:spLocks xmlns:a="http://schemas.openxmlformats.org/drawingml/2006/main" noGrp="1"/>
          </p:cNvSpPr>
          <p:nvPr/>
        </p:nvSpPr>
        <p:spPr>
          <a:xfrm xmlns:a="http://schemas.openxmlformats.org/drawingml/2006/main">
            <a:off x="6972300" y="4210050"/>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Retrieve relevant memories before the final LLM responds.</a:t>
            </a:r>
          </a:p>
        </p:txBody>
      </p:sp>
      <p:sp>
        <p:nvSpPr>
          <p:cNvPr id="19" name="boundary">
            <a:extLst xmlns:a="http://schemas.openxmlformats.org/drawingml/2006/main">
              <a:ext uri="{FF2B5EF4-FFF2-40B4-BE49-F238E27FC236}">
                <a16:creationId xmlns:a16="http://schemas.microsoft.com/office/drawing/2014/main" id="{CC285BC2-6908-41B3-B177-2316B1AB4DA5}"/>
              </a:ext>
            </a:extLst>
          </p:cNvPr>
          <p:cNvSpPr>
            <a:spLocks xmlns:a="http://schemas.openxmlformats.org/drawingml/2006/main" noGrp="1"/>
          </p:cNvSpPr>
          <p:nvPr/>
        </p:nvSpPr>
        <p:spPr>
          <a:xfrm xmlns:a="http://schemas.openxmlformats.org/drawingml/2006/main">
            <a:off x="419100" y="4953000"/>
            <a:ext cx="11010900" cy="876300"/>
          </a:xfrm>
          <a:prstGeom xmlns:a="http://schemas.openxmlformats.org/drawingml/2006/main" prst="rect">
            <a:avLst/>
          </a:prstGeom>
          <a:solidFill xmlns:a="http://schemas.openxmlformats.org/drawingml/2006/main">
            <a:srgbClr val="F0EEE8"/>
          </a:solidFill>
          <a:ln xmlns:a="http://schemas.openxmlformats.org/drawingml/2006/main" w="14288">
            <a:solidFill>
              <a:srgbClr val="F0EEE8"/>
            </a:solidFill>
            <a:prstDash val="solid"/>
          </a:ln>
        </p:spPr>
      </p:sp>
      <p:sp>
        <p:nvSpPr>
          <p:cNvPr id="20" name="boundary-text">
            <a:extLst xmlns:a="http://schemas.openxmlformats.org/drawingml/2006/main">
              <a:ext uri="{FF2B5EF4-FFF2-40B4-BE49-F238E27FC236}">
                <a16:creationId xmlns:a16="http://schemas.microsoft.com/office/drawing/2014/main" id="{5175711C-12DB-4537-8FD4-670F3BC4B91D}"/>
              </a:ext>
            </a:extLst>
          </p:cNvPr>
          <p:cNvSpPr>
            <a:spLocks xmlns:a="http://schemas.openxmlformats.org/drawingml/2006/main" noGrp="1"/>
          </p:cNvSpPr>
          <p:nvPr/>
        </p:nvSpPr>
        <p:spPr>
          <a:xfrm xmlns:a="http://schemas.openxmlformats.org/drawingml/2006/main">
            <a:off x="685800" y="5095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1717"/>
                </a:solidFill>
                <a:latin typeface="Arial"/>
                <a:ea typeface="Arial"/>
                <a:cs typeface="Arial"/>
              </a:defRPr>
            </a:pPr>
            <a:r>
              <a:rPr sz="1500" b="0">
                <a:solidFill>
                  <a:srgbClr val="171717"/>
                </a:solidFill>
                <a:latin typeface="Arial"/>
                <a:ea typeface="Arial"/>
                <a:cs typeface="Arial"/>
              </a:rPr>
              <a:t>Target customers: students, creators, travelers and professionals who save useful content but cannot find or reuse it when needed.</a:t>
            </a:r>
          </a:p>
        </p:txBody>
      </p:sp>
    </p:spTree>
    <p:extLst>
      <p:ext uri="{BB962C8B-B14F-4D97-AF65-F5344CB8AC3E}">
        <p14:creationId xmlns:p14="http://schemas.microsoft.com/office/powerpoint/2010/main" val="937372454"/>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1" name="slide-3-title">
            <a:extLst xmlns:a="http://schemas.openxmlformats.org/drawingml/2006/main">
              <a:ext uri="{FF2B5EF4-FFF2-40B4-BE49-F238E27FC236}">
                <a16:creationId xmlns:a16="http://schemas.microsoft.com/office/drawing/2014/main" id="{B6A1C389-32B1-4238-A707-88C5C99CCE60}"/>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71717"/>
                </a:solidFill>
                <a:latin typeface="Arial"/>
                <a:ea typeface="Arial"/>
                <a:cs typeface="Arial"/>
              </a:defRPr>
            </a:pPr>
            <a:r>
              <a:rPr sz="2850" b="1">
                <a:solidFill>
                  <a:srgbClr val="171717"/>
                </a:solidFill>
                <a:latin typeface="Arial"/>
                <a:ea typeface="Arial"/>
                <a:cs typeface="Arial"/>
              </a:rPr>
              <a:t>One end-to-end flow turns a URL into searchable memory</a:t>
            </a:r>
          </a:p>
        </p:txBody>
      </p:sp>
      <p:sp>
        <p:nvSpPr>
          <p:cNvPr id="2" name="slide-3-number">
            <a:extLst xmlns:a="http://schemas.openxmlformats.org/drawingml/2006/main">
              <a:ext uri="{FF2B5EF4-FFF2-40B4-BE49-F238E27FC236}">
                <a16:creationId xmlns:a16="http://schemas.microsoft.com/office/drawing/2014/main" id="{38F9D136-934B-42A7-BFAF-35C4C5FB8318}"/>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46464"/>
                </a:solidFill>
                <a:latin typeface="Arial"/>
                <a:ea typeface="Arial"/>
                <a:cs typeface="Arial"/>
              </a:defRPr>
            </a:pPr>
            <a:r>
              <a:rPr sz="975" b="0">
                <a:solidFill>
                  <a:srgbClr val="646464"/>
                </a:solidFill>
                <a:latin typeface="Arial"/>
                <a:ea typeface="Arial"/>
                <a:cs typeface="Arial"/>
              </a:rPr>
              <a:t>03</a:t>
            </a:r>
          </a:p>
        </p:txBody>
      </p:sp>
      <p:sp>
        <p:nvSpPr>
          <p:cNvPr id="3" name="ingest-caption">
            <a:extLst xmlns:a="http://schemas.openxmlformats.org/drawingml/2006/main">
              <a:ext uri="{FF2B5EF4-FFF2-40B4-BE49-F238E27FC236}">
                <a16:creationId xmlns:a16="http://schemas.microsoft.com/office/drawing/2014/main" id="{5355B1CD-04B9-481E-8CD5-748DFCED4F27}"/>
              </a:ext>
            </a:extLst>
          </p:cNvPr>
          <p:cNvSpPr>
            <a:spLocks xmlns:a="http://schemas.openxmlformats.org/drawingml/2006/main" noGrp="1"/>
          </p:cNvSpPr>
          <p:nvPr/>
        </p:nvSpPr>
        <p:spPr>
          <a:xfrm xmlns:a="http://schemas.openxmlformats.org/drawingml/2006/main">
            <a:off x="419100" y="9525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333"/>
          </a:bodyPr>
          <a:lstStyle xmlns:a="http://schemas.openxmlformats.org/drawingml/2006/main"/>
          <a:p xmlns:a="http://schemas.openxmlformats.org/drawingml/2006/main">
            <a:pPr algn="l">
              <a:defRPr sz="1500" b="0">
                <a:solidFill>
                  <a:srgbClr val="646464"/>
                </a:solidFill>
                <a:latin typeface="Arial"/>
                <a:ea typeface="Arial"/>
                <a:cs typeface="Arial"/>
              </a:defRPr>
            </a:pPr>
            <a:r>
              <a:rPr sz="1500" b="0">
                <a:solidFill>
                  <a:srgbClr val="646464"/>
                </a:solidFill>
                <a:latin typeface="Arial"/>
                <a:ea typeface="Arial"/>
                <a:cs typeface="Arial"/>
              </a:rPr>
              <a:t>Capture → trusted backend → AI understanding → searchable memory</a:t>
            </a:r>
          </a:p>
        </p:txBody>
      </p:sp>
      <p:sp>
        <p:nvSpPr>
          <p:cNvPr id="4" name="a1">
            <a:extLst xmlns:a="http://schemas.openxmlformats.org/drawingml/2006/main">
              <a:ext uri="{FF2B5EF4-FFF2-40B4-BE49-F238E27FC236}">
                <a16:creationId xmlns:a16="http://schemas.microsoft.com/office/drawing/2014/main" id="{2B9D3DDC-54D6-4735-94FD-F771E9BE986C}"/>
              </a:ext>
            </a:extLst>
          </p:cNvPr>
          <p:cNvSpPr>
            <a:spLocks xmlns:a="http://schemas.openxmlformats.org/drawingml/2006/main" noGrp="1"/>
          </p:cNvSpPr>
          <p:nvPr/>
        </p:nvSpPr>
        <p:spPr>
          <a:xfrm xmlns:a="http://schemas.openxmlformats.org/drawingml/2006/main">
            <a:off x="2143125" y="2686050"/>
            <a:ext cx="523875" cy="3429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5" name="a2">
            <a:extLst xmlns:a="http://schemas.openxmlformats.org/drawingml/2006/main">
              <a:ext uri="{FF2B5EF4-FFF2-40B4-BE49-F238E27FC236}">
                <a16:creationId xmlns:a16="http://schemas.microsoft.com/office/drawing/2014/main" id="{0677FAE9-25FB-44AF-8793-C650DC2103AC}"/>
              </a:ext>
            </a:extLst>
          </p:cNvPr>
          <p:cNvSpPr>
            <a:spLocks xmlns:a="http://schemas.openxmlformats.org/drawingml/2006/main" noGrp="1"/>
          </p:cNvSpPr>
          <p:nvPr/>
        </p:nvSpPr>
        <p:spPr>
          <a:xfrm xmlns:a="http://schemas.openxmlformats.org/drawingml/2006/main">
            <a:off x="4514850" y="2686050"/>
            <a:ext cx="523875" cy="3429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6" name="a3">
            <a:extLst xmlns:a="http://schemas.openxmlformats.org/drawingml/2006/main">
              <a:ext uri="{FF2B5EF4-FFF2-40B4-BE49-F238E27FC236}">
                <a16:creationId xmlns:a16="http://schemas.microsoft.com/office/drawing/2014/main" id="{830A41CF-4B06-4CC3-AC30-062FA0807CAA}"/>
              </a:ext>
            </a:extLst>
          </p:cNvPr>
          <p:cNvSpPr>
            <a:spLocks xmlns:a="http://schemas.openxmlformats.org/drawingml/2006/main" noGrp="1"/>
          </p:cNvSpPr>
          <p:nvPr/>
        </p:nvSpPr>
        <p:spPr>
          <a:xfrm xmlns:a="http://schemas.openxmlformats.org/drawingml/2006/main">
            <a:off x="6886575" y="2686050"/>
            <a:ext cx="523875" cy="3429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7" name="a4">
            <a:extLst xmlns:a="http://schemas.openxmlformats.org/drawingml/2006/main">
              <a:ext uri="{FF2B5EF4-FFF2-40B4-BE49-F238E27FC236}">
                <a16:creationId xmlns:a16="http://schemas.microsoft.com/office/drawing/2014/main" id="{D78E356A-9899-42FA-AFAB-9C7159F240D1}"/>
              </a:ext>
            </a:extLst>
          </p:cNvPr>
          <p:cNvSpPr>
            <a:spLocks xmlns:a="http://schemas.openxmlformats.org/drawingml/2006/main" noGrp="1"/>
          </p:cNvSpPr>
          <p:nvPr/>
        </p:nvSpPr>
        <p:spPr>
          <a:xfrm xmlns:a="http://schemas.openxmlformats.org/drawingml/2006/main">
            <a:off x="9258300" y="2686050"/>
            <a:ext cx="523875" cy="3429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8" name="capture-box">
            <a:extLst xmlns:a="http://schemas.openxmlformats.org/drawingml/2006/main">
              <a:ext uri="{FF2B5EF4-FFF2-40B4-BE49-F238E27FC236}">
                <a16:creationId xmlns:a16="http://schemas.microsoft.com/office/drawing/2014/main" id="{C539FF1D-0F6C-4AE4-B8E1-96C247CAD0CC}"/>
              </a:ext>
            </a:extLst>
          </p:cNvPr>
          <p:cNvSpPr>
            <a:spLocks xmlns:a="http://schemas.openxmlformats.org/drawingml/2006/main" noGrp="1"/>
          </p:cNvSpPr>
          <p:nvPr/>
        </p:nvSpPr>
        <p:spPr>
          <a:xfrm xmlns:a="http://schemas.openxmlformats.org/drawingml/2006/main">
            <a:off x="419100" y="1981200"/>
            <a:ext cx="1724025" cy="1752600"/>
          </a:xfrm>
          <a:prstGeom xmlns:a="http://schemas.openxmlformats.org/drawingml/2006/main" prst="roundRect">
            <a:avLst>
              <a:gd name="adj" fmla="val 4420"/>
            </a:avLst>
          </a:prstGeom>
          <a:solidFill xmlns:a="http://schemas.openxmlformats.org/drawingml/2006/main">
            <a:srgbClr val="FFFDF8"/>
          </a:solidFill>
          <a:ln xmlns:a="http://schemas.openxmlformats.org/drawingml/2006/main" w="14288">
            <a:solidFill>
              <a:srgbClr val="292929"/>
            </a:solidFill>
            <a:prstDash val="solid"/>
          </a:ln>
        </p:spPr>
      </p:sp>
      <p:sp>
        <p:nvSpPr>
          <p:cNvPr id="9" name="capture-accent">
            <a:extLst xmlns:a="http://schemas.openxmlformats.org/drawingml/2006/main">
              <a:ext uri="{FF2B5EF4-FFF2-40B4-BE49-F238E27FC236}">
                <a16:creationId xmlns:a16="http://schemas.microsoft.com/office/drawing/2014/main" id="{C37912D3-7ADD-4763-87E9-53EAC28D0AA2}"/>
              </a:ext>
            </a:extLst>
          </p:cNvPr>
          <p:cNvSpPr>
            <a:spLocks xmlns:a="http://schemas.openxmlformats.org/drawingml/2006/main" noGrp="1"/>
          </p:cNvSpPr>
          <p:nvPr/>
        </p:nvSpPr>
        <p:spPr>
          <a:xfrm xmlns:a="http://schemas.openxmlformats.org/drawingml/2006/main">
            <a:off x="419100" y="1981200"/>
            <a:ext cx="76200" cy="17526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10" name="capture-head">
            <a:extLst xmlns:a="http://schemas.openxmlformats.org/drawingml/2006/main">
              <a:ext uri="{FF2B5EF4-FFF2-40B4-BE49-F238E27FC236}">
                <a16:creationId xmlns:a16="http://schemas.microsoft.com/office/drawing/2014/main" id="{952FAA66-77BD-4386-B436-093DD5A7872D}"/>
              </a:ext>
            </a:extLst>
          </p:cNvPr>
          <p:cNvSpPr>
            <a:spLocks xmlns:a="http://schemas.openxmlformats.org/drawingml/2006/main" noGrp="1"/>
          </p:cNvSpPr>
          <p:nvPr/>
        </p:nvSpPr>
        <p:spPr>
          <a:xfrm xmlns:a="http://schemas.openxmlformats.org/drawingml/2006/main">
            <a:off x="628650" y="2105025"/>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1  Capture</a:t>
            </a:r>
          </a:p>
        </p:txBody>
      </p:sp>
      <p:sp>
        <p:nvSpPr>
          <p:cNvPr id="11" name="capture-body">
            <a:extLst xmlns:a="http://schemas.openxmlformats.org/drawingml/2006/main">
              <a:ext uri="{FF2B5EF4-FFF2-40B4-BE49-F238E27FC236}">
                <a16:creationId xmlns:a16="http://schemas.microsoft.com/office/drawing/2014/main" id="{7D2BCC8F-9D7C-4EF6-97D0-D220EC49C13D}"/>
              </a:ext>
            </a:extLst>
          </p:cNvPr>
          <p:cNvSpPr>
            <a:spLocks xmlns:a="http://schemas.openxmlformats.org/drawingml/2006/main" noGrp="1"/>
          </p:cNvSpPr>
          <p:nvPr/>
        </p:nvSpPr>
        <p:spPr>
          <a:xfrm xmlns:a="http://schemas.openxmlformats.org/drawingml/2006/main">
            <a:off x="628650" y="2438400"/>
            <a:ext cx="14001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Chrome or Android sends URL, visible content and user note.</a:t>
            </a:r>
          </a:p>
        </p:txBody>
      </p:sp>
      <p:sp>
        <p:nvSpPr>
          <p:cNvPr id="12" name="backend-box">
            <a:extLst xmlns:a="http://schemas.openxmlformats.org/drawingml/2006/main">
              <a:ext uri="{FF2B5EF4-FFF2-40B4-BE49-F238E27FC236}">
                <a16:creationId xmlns:a16="http://schemas.microsoft.com/office/drawing/2014/main" id="{7F44EFAF-4DE1-4979-829B-AF13DDA6633C}"/>
              </a:ext>
            </a:extLst>
          </p:cNvPr>
          <p:cNvSpPr>
            <a:spLocks xmlns:a="http://schemas.openxmlformats.org/drawingml/2006/main" noGrp="1"/>
          </p:cNvSpPr>
          <p:nvPr/>
        </p:nvSpPr>
        <p:spPr>
          <a:xfrm xmlns:a="http://schemas.openxmlformats.org/drawingml/2006/main">
            <a:off x="2667000" y="1981200"/>
            <a:ext cx="1847850" cy="1752600"/>
          </a:xfrm>
          <a:prstGeom xmlns:a="http://schemas.openxmlformats.org/drawingml/2006/main" prst="roundRect">
            <a:avLst>
              <a:gd name="adj" fmla="val 4348"/>
            </a:avLst>
          </a:prstGeom>
          <a:solidFill xmlns:a="http://schemas.openxmlformats.org/drawingml/2006/main">
            <a:srgbClr val="FFFDF8"/>
          </a:solidFill>
          <a:ln xmlns:a="http://schemas.openxmlformats.org/drawingml/2006/main" w="14288">
            <a:solidFill>
              <a:srgbClr val="292929"/>
            </a:solidFill>
            <a:prstDash val="solid"/>
          </a:ln>
        </p:spPr>
      </p:sp>
      <p:sp>
        <p:nvSpPr>
          <p:cNvPr id="13" name="backend-accent">
            <a:extLst xmlns:a="http://schemas.openxmlformats.org/drawingml/2006/main">
              <a:ext uri="{FF2B5EF4-FFF2-40B4-BE49-F238E27FC236}">
                <a16:creationId xmlns:a16="http://schemas.microsoft.com/office/drawing/2014/main" id="{01D65F28-CD14-4BFC-90A8-5456B26F09AF}"/>
              </a:ext>
            </a:extLst>
          </p:cNvPr>
          <p:cNvSpPr>
            <a:spLocks xmlns:a="http://schemas.openxmlformats.org/drawingml/2006/main" noGrp="1"/>
          </p:cNvSpPr>
          <p:nvPr/>
        </p:nvSpPr>
        <p:spPr>
          <a:xfrm xmlns:a="http://schemas.openxmlformats.org/drawingml/2006/main">
            <a:off x="2667000" y="1981200"/>
            <a:ext cx="76200" cy="1752600"/>
          </a:xfrm>
          <a:prstGeom xmlns:a="http://schemas.openxmlformats.org/drawingml/2006/main" prst="rect">
            <a:avLst/>
          </a:prstGeom>
          <a:solidFill xmlns:a="http://schemas.openxmlformats.org/drawingml/2006/main">
            <a:srgbClr val="171717"/>
          </a:solidFill>
          <a:ln xmlns:a="http://schemas.openxmlformats.org/drawingml/2006/main" w="0">
            <a:solidFill>
              <a:srgbClr val="171717"/>
            </a:solidFill>
            <a:prstDash val="solid"/>
          </a:ln>
        </p:spPr>
      </p:sp>
      <p:sp>
        <p:nvSpPr>
          <p:cNvPr id="14" name="backend-head">
            <a:extLst xmlns:a="http://schemas.openxmlformats.org/drawingml/2006/main">
              <a:ext uri="{FF2B5EF4-FFF2-40B4-BE49-F238E27FC236}">
                <a16:creationId xmlns:a16="http://schemas.microsoft.com/office/drawing/2014/main" id="{1B54C617-A14C-4433-A877-6E9601FD9C86}"/>
              </a:ext>
            </a:extLst>
          </p:cNvPr>
          <p:cNvSpPr>
            <a:spLocks xmlns:a="http://schemas.openxmlformats.org/drawingml/2006/main" noGrp="1"/>
          </p:cNvSpPr>
          <p:nvPr/>
        </p:nvSpPr>
        <p:spPr>
          <a:xfrm xmlns:a="http://schemas.openxmlformats.org/drawingml/2006/main">
            <a:off x="2876550" y="21050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2  Backend</a:t>
            </a:r>
          </a:p>
        </p:txBody>
      </p:sp>
      <p:sp>
        <p:nvSpPr>
          <p:cNvPr id="15" name="backend-body">
            <a:extLst xmlns:a="http://schemas.openxmlformats.org/drawingml/2006/main">
              <a:ext uri="{FF2B5EF4-FFF2-40B4-BE49-F238E27FC236}">
                <a16:creationId xmlns:a16="http://schemas.microsoft.com/office/drawing/2014/main" id="{6A3DCC2C-067D-48F5-9F6C-93E176F253D0}"/>
              </a:ext>
            </a:extLst>
          </p:cNvPr>
          <p:cNvSpPr>
            <a:spLocks xmlns:a="http://schemas.openxmlformats.org/drawingml/2006/main" noGrp="1"/>
          </p:cNvSpPr>
          <p:nvPr/>
        </p:nvSpPr>
        <p:spPr>
          <a:xfrm xmlns:a="http://schemas.openxmlformats.org/drawingml/2006/main">
            <a:off x="2876550" y="2438400"/>
            <a:ext cx="1524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Validates source, user and payload. Calls the AI service.</a:t>
            </a:r>
          </a:p>
        </p:txBody>
      </p:sp>
      <p:sp>
        <p:nvSpPr>
          <p:cNvPr id="16" name="extract-box">
            <a:extLst xmlns:a="http://schemas.openxmlformats.org/drawingml/2006/main">
              <a:ext uri="{FF2B5EF4-FFF2-40B4-BE49-F238E27FC236}">
                <a16:creationId xmlns:a16="http://schemas.microsoft.com/office/drawing/2014/main" id="{3E07A8EB-DCFD-4039-BF04-87D1B1F0FD55}"/>
              </a:ext>
            </a:extLst>
          </p:cNvPr>
          <p:cNvSpPr>
            <a:spLocks xmlns:a="http://schemas.openxmlformats.org/drawingml/2006/main" noGrp="1"/>
          </p:cNvSpPr>
          <p:nvPr/>
        </p:nvSpPr>
        <p:spPr>
          <a:xfrm xmlns:a="http://schemas.openxmlformats.org/drawingml/2006/main">
            <a:off x="5038725" y="1981200"/>
            <a:ext cx="1847850" cy="1752600"/>
          </a:xfrm>
          <a:prstGeom xmlns:a="http://schemas.openxmlformats.org/drawingml/2006/main" prst="roundRect">
            <a:avLst>
              <a:gd name="adj" fmla="val 4348"/>
            </a:avLst>
          </a:prstGeom>
          <a:solidFill xmlns:a="http://schemas.openxmlformats.org/drawingml/2006/main">
            <a:srgbClr val="FFFDF8"/>
          </a:solidFill>
          <a:ln xmlns:a="http://schemas.openxmlformats.org/drawingml/2006/main" w="14288">
            <a:solidFill>
              <a:srgbClr val="292929"/>
            </a:solidFill>
            <a:prstDash val="solid"/>
          </a:ln>
        </p:spPr>
      </p:sp>
      <p:sp>
        <p:nvSpPr>
          <p:cNvPr id="17" name="extract-accent">
            <a:extLst xmlns:a="http://schemas.openxmlformats.org/drawingml/2006/main">
              <a:ext uri="{FF2B5EF4-FFF2-40B4-BE49-F238E27FC236}">
                <a16:creationId xmlns:a16="http://schemas.microsoft.com/office/drawing/2014/main" id="{64757CCD-4E75-4056-B3C0-2633971EB5A2}"/>
              </a:ext>
            </a:extLst>
          </p:cNvPr>
          <p:cNvSpPr>
            <a:spLocks xmlns:a="http://schemas.openxmlformats.org/drawingml/2006/main" noGrp="1"/>
          </p:cNvSpPr>
          <p:nvPr/>
        </p:nvSpPr>
        <p:spPr>
          <a:xfrm xmlns:a="http://schemas.openxmlformats.org/drawingml/2006/main">
            <a:off x="5038725" y="1981200"/>
            <a:ext cx="76200" cy="1752600"/>
          </a:xfrm>
          <a:prstGeom xmlns:a="http://schemas.openxmlformats.org/drawingml/2006/main" prst="rect">
            <a:avLst/>
          </a:prstGeom>
          <a:solidFill xmlns:a="http://schemas.openxmlformats.org/drawingml/2006/main">
            <a:srgbClr val="E4A11B"/>
          </a:solidFill>
          <a:ln xmlns:a="http://schemas.openxmlformats.org/drawingml/2006/main" w="0">
            <a:solidFill>
              <a:srgbClr val="E4A11B"/>
            </a:solidFill>
            <a:prstDash val="solid"/>
          </a:ln>
        </p:spPr>
      </p:sp>
      <p:sp>
        <p:nvSpPr>
          <p:cNvPr id="18" name="extract-head">
            <a:extLst xmlns:a="http://schemas.openxmlformats.org/drawingml/2006/main">
              <a:ext uri="{FF2B5EF4-FFF2-40B4-BE49-F238E27FC236}">
                <a16:creationId xmlns:a16="http://schemas.microsoft.com/office/drawing/2014/main" id="{568BB18A-3918-4E8A-AD0D-12B73B267C7B}"/>
              </a:ext>
            </a:extLst>
          </p:cNvPr>
          <p:cNvSpPr>
            <a:spLocks xmlns:a="http://schemas.openxmlformats.org/drawingml/2006/main" noGrp="1"/>
          </p:cNvSpPr>
          <p:nvPr/>
        </p:nvSpPr>
        <p:spPr>
          <a:xfrm xmlns:a="http://schemas.openxmlformats.org/drawingml/2006/main">
            <a:off x="5248275" y="21050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3  AI service</a:t>
            </a:r>
          </a:p>
        </p:txBody>
      </p:sp>
      <p:sp>
        <p:nvSpPr>
          <p:cNvPr id="19" name="extract-body">
            <a:extLst xmlns:a="http://schemas.openxmlformats.org/drawingml/2006/main">
              <a:ext uri="{FF2B5EF4-FFF2-40B4-BE49-F238E27FC236}">
                <a16:creationId xmlns:a16="http://schemas.microsoft.com/office/drawing/2014/main" id="{17770E02-1D7B-4A26-9C83-74B515844D87}"/>
              </a:ext>
            </a:extLst>
          </p:cNvPr>
          <p:cNvSpPr>
            <a:spLocks xmlns:a="http://schemas.openxmlformats.org/drawingml/2006/main" noGrp="1"/>
          </p:cNvSpPr>
          <p:nvPr/>
        </p:nvSpPr>
        <p:spPr>
          <a:xfrm xmlns:a="http://schemas.openxmlformats.org/drawingml/2006/main">
            <a:off x="5248275" y="2438400"/>
            <a:ext cx="1524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FastAPI extracts supplied text, oEmbed, Open Graph or playlist items.</a:t>
            </a:r>
          </a:p>
        </p:txBody>
      </p:sp>
      <p:sp>
        <p:nvSpPr>
          <p:cNvPr id="20" name="llm1-box">
            <a:extLst xmlns:a="http://schemas.openxmlformats.org/drawingml/2006/main">
              <a:ext uri="{FF2B5EF4-FFF2-40B4-BE49-F238E27FC236}">
                <a16:creationId xmlns:a16="http://schemas.microsoft.com/office/drawing/2014/main" id="{F62647C2-BAE1-4821-9F4D-08F08B6D5BCB}"/>
              </a:ext>
            </a:extLst>
          </p:cNvPr>
          <p:cNvSpPr>
            <a:spLocks xmlns:a="http://schemas.openxmlformats.org/drawingml/2006/main" noGrp="1"/>
          </p:cNvSpPr>
          <p:nvPr/>
        </p:nvSpPr>
        <p:spPr>
          <a:xfrm xmlns:a="http://schemas.openxmlformats.org/drawingml/2006/main">
            <a:off x="7410450" y="1981200"/>
            <a:ext cx="1847850" cy="1752600"/>
          </a:xfrm>
          <a:prstGeom xmlns:a="http://schemas.openxmlformats.org/drawingml/2006/main" prst="roundRect">
            <a:avLst>
              <a:gd name="adj" fmla="val 4348"/>
            </a:avLst>
          </a:prstGeom>
          <a:solidFill xmlns:a="http://schemas.openxmlformats.org/drawingml/2006/main">
            <a:srgbClr val="F2F7FF"/>
          </a:solidFill>
          <a:ln xmlns:a="http://schemas.openxmlformats.org/drawingml/2006/main" w="14288">
            <a:solidFill>
              <a:srgbClr val="292929"/>
            </a:solidFill>
            <a:prstDash val="solid"/>
          </a:ln>
        </p:spPr>
      </p:sp>
      <p:sp>
        <p:nvSpPr>
          <p:cNvPr id="21" name="llm1-accent">
            <a:extLst xmlns:a="http://schemas.openxmlformats.org/drawingml/2006/main">
              <a:ext uri="{FF2B5EF4-FFF2-40B4-BE49-F238E27FC236}">
                <a16:creationId xmlns:a16="http://schemas.microsoft.com/office/drawing/2014/main" id="{F787E9AF-6C3A-4B59-9AE1-84CF8097C280}"/>
              </a:ext>
            </a:extLst>
          </p:cNvPr>
          <p:cNvSpPr>
            <a:spLocks xmlns:a="http://schemas.openxmlformats.org/drawingml/2006/main" noGrp="1"/>
          </p:cNvSpPr>
          <p:nvPr/>
        </p:nvSpPr>
        <p:spPr>
          <a:xfrm xmlns:a="http://schemas.openxmlformats.org/drawingml/2006/main">
            <a:off x="7410450" y="1981200"/>
            <a:ext cx="76200" cy="17526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22" name="llm1-head">
            <a:extLst xmlns:a="http://schemas.openxmlformats.org/drawingml/2006/main">
              <a:ext uri="{FF2B5EF4-FFF2-40B4-BE49-F238E27FC236}">
                <a16:creationId xmlns:a16="http://schemas.microsoft.com/office/drawing/2014/main" id="{7E2894CC-4B08-4040-B27C-1CEFF196B317}"/>
              </a:ext>
            </a:extLst>
          </p:cNvPr>
          <p:cNvSpPr>
            <a:spLocks xmlns:a="http://schemas.openxmlformats.org/drawingml/2006/main" noGrp="1"/>
          </p:cNvSpPr>
          <p:nvPr/>
        </p:nvSpPr>
        <p:spPr>
          <a:xfrm xmlns:a="http://schemas.openxmlformats.org/drawingml/2006/main">
            <a:off x="7620000" y="2105025"/>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4  First LLM</a:t>
            </a:r>
          </a:p>
        </p:txBody>
      </p:sp>
      <p:sp>
        <p:nvSpPr>
          <p:cNvPr id="23" name="llm1-body">
            <a:extLst xmlns:a="http://schemas.openxmlformats.org/drawingml/2006/main">
              <a:ext uri="{FF2B5EF4-FFF2-40B4-BE49-F238E27FC236}">
                <a16:creationId xmlns:a16="http://schemas.microsoft.com/office/drawing/2014/main" id="{08E2A0BC-DB0E-473A-B12F-04EEF5177373}"/>
              </a:ext>
            </a:extLst>
          </p:cNvPr>
          <p:cNvSpPr>
            <a:spLocks xmlns:a="http://schemas.openxmlformats.org/drawingml/2006/main" noGrp="1"/>
          </p:cNvSpPr>
          <p:nvPr/>
        </p:nvSpPr>
        <p:spPr>
          <a:xfrm xmlns:a="http://schemas.openxmlformats.org/drawingml/2006/main">
            <a:off x="7620000" y="2438400"/>
            <a:ext cx="1524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Creates summary, category, tags, topics and actions.</a:t>
            </a:r>
          </a:p>
        </p:txBody>
      </p:sp>
      <p:sp>
        <p:nvSpPr>
          <p:cNvPr id="24" name="persist-box">
            <a:extLst xmlns:a="http://schemas.openxmlformats.org/drawingml/2006/main">
              <a:ext uri="{FF2B5EF4-FFF2-40B4-BE49-F238E27FC236}">
                <a16:creationId xmlns:a16="http://schemas.microsoft.com/office/drawing/2014/main" id="{46EF11C4-BE2C-488C-B844-08D5F7837F88}"/>
              </a:ext>
            </a:extLst>
          </p:cNvPr>
          <p:cNvSpPr>
            <a:spLocks xmlns:a="http://schemas.openxmlformats.org/drawingml/2006/main" noGrp="1"/>
          </p:cNvSpPr>
          <p:nvPr/>
        </p:nvSpPr>
        <p:spPr>
          <a:xfrm xmlns:a="http://schemas.openxmlformats.org/drawingml/2006/main">
            <a:off x="9782175" y="1981200"/>
            <a:ext cx="1724025" cy="1752600"/>
          </a:xfrm>
          <a:prstGeom xmlns:a="http://schemas.openxmlformats.org/drawingml/2006/main" prst="roundRect">
            <a:avLst>
              <a:gd name="adj" fmla="val 4420"/>
            </a:avLst>
          </a:prstGeom>
          <a:solidFill xmlns:a="http://schemas.openxmlformats.org/drawingml/2006/main">
            <a:srgbClr val="FFFDF8"/>
          </a:solidFill>
          <a:ln xmlns:a="http://schemas.openxmlformats.org/drawingml/2006/main" w="14288">
            <a:solidFill>
              <a:srgbClr val="292929"/>
            </a:solidFill>
            <a:prstDash val="solid"/>
          </a:ln>
        </p:spPr>
      </p:sp>
      <p:sp>
        <p:nvSpPr>
          <p:cNvPr id="25" name="persist-accent">
            <a:extLst xmlns:a="http://schemas.openxmlformats.org/drawingml/2006/main">
              <a:ext uri="{FF2B5EF4-FFF2-40B4-BE49-F238E27FC236}">
                <a16:creationId xmlns:a16="http://schemas.microsoft.com/office/drawing/2014/main" id="{43B6A1A8-F8C6-4D42-9A5E-A07509E39FF1}"/>
              </a:ext>
            </a:extLst>
          </p:cNvPr>
          <p:cNvSpPr>
            <a:spLocks xmlns:a="http://schemas.openxmlformats.org/drawingml/2006/main" noGrp="1"/>
          </p:cNvSpPr>
          <p:nvPr/>
        </p:nvSpPr>
        <p:spPr>
          <a:xfrm xmlns:a="http://schemas.openxmlformats.org/drawingml/2006/main">
            <a:off x="9782175" y="1981200"/>
            <a:ext cx="76200" cy="1752600"/>
          </a:xfrm>
          <a:prstGeom xmlns:a="http://schemas.openxmlformats.org/drawingml/2006/main" prst="rect">
            <a:avLst/>
          </a:prstGeom>
          <a:solidFill xmlns:a="http://schemas.openxmlformats.org/drawingml/2006/main">
            <a:srgbClr val="2C8A62"/>
          </a:solidFill>
          <a:ln xmlns:a="http://schemas.openxmlformats.org/drawingml/2006/main" w="0">
            <a:solidFill>
              <a:srgbClr val="2C8A62"/>
            </a:solidFill>
            <a:prstDash val="solid"/>
          </a:ln>
        </p:spPr>
      </p:sp>
      <p:sp>
        <p:nvSpPr>
          <p:cNvPr id="26" name="persist-head">
            <a:extLst xmlns:a="http://schemas.openxmlformats.org/drawingml/2006/main">
              <a:ext uri="{FF2B5EF4-FFF2-40B4-BE49-F238E27FC236}">
                <a16:creationId xmlns:a16="http://schemas.microsoft.com/office/drawing/2014/main" id="{3E238845-B60D-40B2-AF9D-C4B0B8EE12D4}"/>
              </a:ext>
            </a:extLst>
          </p:cNvPr>
          <p:cNvSpPr>
            <a:spLocks xmlns:a="http://schemas.openxmlformats.org/drawingml/2006/main" noGrp="1"/>
          </p:cNvSpPr>
          <p:nvPr/>
        </p:nvSpPr>
        <p:spPr>
          <a:xfrm xmlns:a="http://schemas.openxmlformats.org/drawingml/2006/main">
            <a:off x="9991725" y="2105025"/>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5  Persist</a:t>
            </a:r>
          </a:p>
        </p:txBody>
      </p:sp>
      <p:sp>
        <p:nvSpPr>
          <p:cNvPr id="27" name="persist-body">
            <a:extLst xmlns:a="http://schemas.openxmlformats.org/drawingml/2006/main">
              <a:ext uri="{FF2B5EF4-FFF2-40B4-BE49-F238E27FC236}">
                <a16:creationId xmlns:a16="http://schemas.microsoft.com/office/drawing/2014/main" id="{2144532E-3D10-4CAF-A621-51E6DC10E1BC}"/>
              </a:ext>
            </a:extLst>
          </p:cNvPr>
          <p:cNvSpPr>
            <a:spLocks xmlns:a="http://schemas.openxmlformats.org/drawingml/2006/main" noGrp="1"/>
          </p:cNvSpPr>
          <p:nvPr/>
        </p:nvSpPr>
        <p:spPr>
          <a:xfrm xmlns:a="http://schemas.openxmlformats.org/drawingml/2006/main">
            <a:off x="9991725" y="2438400"/>
            <a:ext cx="14001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Stores structured memory plus a 768-value embedding.</a:t>
            </a:r>
          </a:p>
        </p:txBody>
      </p:sp>
      <p:sp>
        <p:nvSpPr>
          <p:cNvPr id="28" name="backend-duty">
            <a:extLst xmlns:a="http://schemas.openxmlformats.org/drawingml/2006/main">
              <a:ext uri="{FF2B5EF4-FFF2-40B4-BE49-F238E27FC236}">
                <a16:creationId xmlns:a16="http://schemas.microsoft.com/office/drawing/2014/main" id="{76A9C8C0-D0F5-407D-9698-F2E9E4098D8D}"/>
              </a:ext>
            </a:extLst>
          </p:cNvPr>
          <p:cNvSpPr>
            <a:spLocks xmlns:a="http://schemas.openxmlformats.org/drawingml/2006/main" noGrp="1"/>
          </p:cNvSpPr>
          <p:nvPr/>
        </p:nvSpPr>
        <p:spPr>
          <a:xfrm xmlns:a="http://schemas.openxmlformats.org/drawingml/2006/main">
            <a:off x="419100" y="4286250"/>
            <a:ext cx="11087100" cy="1162050"/>
          </a:xfrm>
          <a:prstGeom xmlns:a="http://schemas.openxmlformats.org/drawingml/2006/main" prst="rect">
            <a:avLst/>
          </a:prstGeom>
          <a:solidFill xmlns:a="http://schemas.openxmlformats.org/drawingml/2006/main">
            <a:srgbClr val="F0EEE8"/>
          </a:solidFill>
          <a:ln xmlns:a="http://schemas.openxmlformats.org/drawingml/2006/main" w="14288">
            <a:solidFill>
              <a:srgbClr val="F0EEE8"/>
            </a:solidFill>
            <a:prstDash val="solid"/>
          </a:ln>
        </p:spPr>
      </p:sp>
      <p:sp>
        <p:nvSpPr>
          <p:cNvPr id="29" name="backend-duty-head">
            <a:extLst xmlns:a="http://schemas.openxmlformats.org/drawingml/2006/main">
              <a:ext uri="{FF2B5EF4-FFF2-40B4-BE49-F238E27FC236}">
                <a16:creationId xmlns:a16="http://schemas.microsoft.com/office/drawing/2014/main" id="{212DBE89-BF2D-4A2D-91EF-14021BB61348}"/>
              </a:ext>
            </a:extLst>
          </p:cNvPr>
          <p:cNvSpPr>
            <a:spLocks xmlns:a="http://schemas.openxmlformats.org/drawingml/2006/main" noGrp="1"/>
          </p:cNvSpPr>
          <p:nvPr/>
        </p:nvSpPr>
        <p:spPr>
          <a:xfrm xmlns:a="http://schemas.openxmlformats.org/drawingml/2006/main">
            <a:off x="647700" y="4438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71717"/>
                </a:solidFill>
                <a:latin typeface="Arial"/>
                <a:ea typeface="Arial"/>
                <a:cs typeface="Arial"/>
              </a:defRPr>
            </a:pPr>
            <a:r>
              <a:rPr sz="1500" b="1">
                <a:solidFill>
                  <a:srgbClr val="171717"/>
                </a:solidFill>
                <a:latin typeface="Arial"/>
                <a:ea typeface="Arial"/>
                <a:cs typeface="Arial"/>
              </a:rPr>
              <a:t>What is saved</a:t>
            </a:r>
          </a:p>
        </p:txBody>
      </p:sp>
      <p:sp>
        <p:nvSpPr>
          <p:cNvPr id="30" name="backend-duty-body">
            <a:extLst xmlns:a="http://schemas.openxmlformats.org/drawingml/2006/main">
              <a:ext uri="{FF2B5EF4-FFF2-40B4-BE49-F238E27FC236}">
                <a16:creationId xmlns:a16="http://schemas.microsoft.com/office/drawing/2014/main" id="{A653C56A-B718-4BD1-BA9F-F9E7B795F7AE}"/>
              </a:ext>
            </a:extLst>
          </p:cNvPr>
          <p:cNvSpPr>
            <a:spLocks xmlns:a="http://schemas.openxmlformats.org/drawingml/2006/main" noGrp="1"/>
          </p:cNvSpPr>
          <p:nvPr/>
        </p:nvSpPr>
        <p:spPr>
          <a:xfrm xmlns:a="http://schemas.openxmlformats.org/drawingml/2006/main">
            <a:off x="647700" y="4819650"/>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955"/>
          </a:bodyPr>
          <a:lstStyle xmlns:a="http://schemas.openxmlformats.org/drawingml/2006/main"/>
          <a:p xmlns:a="http://schemas.openxmlformats.org/drawingml/2006/main">
            <a:pPr algn="l">
              <a:defRPr sz="1575" b="0">
                <a:solidFill>
                  <a:srgbClr val="171717"/>
                </a:solidFill>
                <a:latin typeface="Arial"/>
                <a:ea typeface="Arial"/>
                <a:cs typeface="Arial"/>
              </a:defRPr>
            </a:pPr>
            <a:r>
              <a:rPr sz="1575" b="0">
                <a:solidFill>
                  <a:srgbClr val="171717"/>
                </a:solidFill>
                <a:latin typeface="Arial"/>
                <a:ea typeface="Arial"/>
                <a:cs typeface="Arial"/>
              </a:rPr>
              <a:t>PostgreSQL: URL, title, summary, category, tags, topics and actions   •   pgvector: 768 numbers representing semantic meaning</a:t>
            </a:r>
          </a:p>
        </p:txBody>
      </p:sp>
    </p:spTree>
    <p:extLst>
      <p:ext uri="{BB962C8B-B14F-4D97-AF65-F5344CB8AC3E}">
        <p14:creationId xmlns:p14="http://schemas.microsoft.com/office/powerpoint/2010/main" val="2133609269"/>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56" name="slide-4-title">
            <a:extLst xmlns:a="http://schemas.openxmlformats.org/drawingml/2006/main">
              <a:ext uri="{FF2B5EF4-FFF2-40B4-BE49-F238E27FC236}">
                <a16:creationId xmlns:a16="http://schemas.microsoft.com/office/drawing/2014/main" id="{B3B80A4A-F1E8-4623-B160-AE875E74F67E}"/>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959"/>
          </a:bodyPr>
          <a:lstStyle xmlns:a="http://schemas.openxmlformats.org/drawingml/2006/main"/>
          <a:p xmlns:a="http://schemas.openxmlformats.org/drawingml/2006/main">
            <a:pPr algn="l">
              <a:defRPr sz="2850" b="1">
                <a:solidFill>
                  <a:srgbClr val="171717"/>
                </a:solidFill>
                <a:latin typeface="Arial"/>
                <a:ea typeface="Arial"/>
                <a:cs typeface="Arial"/>
              </a:defRPr>
            </a:pPr>
            <a:r>
              <a:rPr sz="2850" b="1">
                <a:solidFill>
                  <a:srgbClr val="171717"/>
                </a:solidFill>
                <a:latin typeface="Arial"/>
                <a:ea typeface="Arial"/>
                <a:cs typeface="Arial"/>
              </a:rPr>
              <a:t>LLM and RAG: understand once, find the right memory, answer</a:t>
            </a:r>
          </a:p>
        </p:txBody>
      </p:sp>
      <p:sp>
        <p:nvSpPr>
          <p:cNvPr id="2" name="slide-4-number">
            <a:extLst xmlns:a="http://schemas.openxmlformats.org/drawingml/2006/main">
              <a:ext uri="{FF2B5EF4-FFF2-40B4-BE49-F238E27FC236}">
                <a16:creationId xmlns:a16="http://schemas.microsoft.com/office/drawing/2014/main" id="{1C463396-1025-471D-A203-1B6DBE8ED1A0}"/>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46464"/>
                </a:solidFill>
                <a:latin typeface="Arial"/>
                <a:ea typeface="Arial"/>
                <a:cs typeface="Arial"/>
              </a:defRPr>
            </a:pPr>
            <a:r>
              <a:rPr sz="975" b="0">
                <a:solidFill>
                  <a:srgbClr val="646464"/>
                </a:solidFill>
                <a:latin typeface="Arial"/>
                <a:ea typeface="Arial"/>
                <a:cs typeface="Arial"/>
              </a:rPr>
              <a:t>04</a:t>
            </a:r>
          </a:p>
        </p:txBody>
      </p:sp>
      <p:sp>
        <p:nvSpPr>
          <p:cNvPr id="3" name="rag-ingest-label">
            <a:extLst xmlns:a="http://schemas.openxmlformats.org/drawingml/2006/main">
              <a:ext uri="{FF2B5EF4-FFF2-40B4-BE49-F238E27FC236}">
                <a16:creationId xmlns:a16="http://schemas.microsoft.com/office/drawing/2014/main" id="{A83CC255-BC11-40D2-88F2-8C22556A3291}"/>
              </a:ext>
            </a:extLst>
          </p:cNvPr>
          <p:cNvSpPr>
            <a:spLocks xmlns:a="http://schemas.openxmlformats.org/drawingml/2006/main" noGrp="1"/>
          </p:cNvSpPr>
          <p:nvPr/>
        </p:nvSpPr>
        <p:spPr>
          <a:xfrm xmlns:a="http://schemas.openxmlformats.org/drawingml/2006/main">
            <a:off x="419100" y="10287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3478F6"/>
                </a:solidFill>
                <a:latin typeface="Arial"/>
                <a:ea typeface="Arial"/>
                <a:cs typeface="Arial"/>
              </a:defRPr>
            </a:pPr>
            <a:r>
              <a:rPr sz="1275" b="1">
                <a:solidFill>
                  <a:srgbClr val="3478F6"/>
                </a:solidFill>
                <a:latin typeface="Arial"/>
                <a:ea typeface="Arial"/>
                <a:cs typeface="Arial"/>
              </a:rPr>
              <a:t>INGEST • happens once per new source</a:t>
            </a:r>
          </a:p>
        </p:txBody>
      </p:sp>
      <p:sp>
        <p:nvSpPr>
          <p:cNvPr id="4" name="r1">
            <a:extLst xmlns:a="http://schemas.openxmlformats.org/drawingml/2006/main">
              <a:ext uri="{FF2B5EF4-FFF2-40B4-BE49-F238E27FC236}">
                <a16:creationId xmlns:a16="http://schemas.microsoft.com/office/drawing/2014/main" id="{A844F0D4-AB4F-4F5D-8DFB-6E39F2FF0BEC}"/>
              </a:ext>
            </a:extLst>
          </p:cNvPr>
          <p:cNvSpPr>
            <a:spLocks xmlns:a="http://schemas.openxmlformats.org/drawingml/2006/main" noGrp="1"/>
          </p:cNvSpPr>
          <p:nvPr/>
        </p:nvSpPr>
        <p:spPr>
          <a:xfrm xmlns:a="http://schemas.openxmlformats.org/drawingml/2006/main">
            <a:off x="2333625" y="1809750"/>
            <a:ext cx="476250" cy="3048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5" name="r2">
            <a:extLst xmlns:a="http://schemas.openxmlformats.org/drawingml/2006/main">
              <a:ext uri="{FF2B5EF4-FFF2-40B4-BE49-F238E27FC236}">
                <a16:creationId xmlns:a16="http://schemas.microsoft.com/office/drawing/2014/main" id="{4823C621-DA4D-4CBA-8DBB-5F0E76662860}"/>
              </a:ext>
            </a:extLst>
          </p:cNvPr>
          <p:cNvSpPr>
            <a:spLocks xmlns:a="http://schemas.openxmlformats.org/drawingml/2006/main" noGrp="1"/>
          </p:cNvSpPr>
          <p:nvPr/>
        </p:nvSpPr>
        <p:spPr>
          <a:xfrm xmlns:a="http://schemas.openxmlformats.org/drawingml/2006/main">
            <a:off x="4762500" y="1809750"/>
            <a:ext cx="476250" cy="3048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6" name="r3">
            <a:extLst xmlns:a="http://schemas.openxmlformats.org/drawingml/2006/main">
              <a:ext uri="{FF2B5EF4-FFF2-40B4-BE49-F238E27FC236}">
                <a16:creationId xmlns:a16="http://schemas.microsoft.com/office/drawing/2014/main" id="{B1B6C468-CE5F-4519-9586-18C85D5B0D1A}"/>
              </a:ext>
            </a:extLst>
          </p:cNvPr>
          <p:cNvSpPr>
            <a:spLocks xmlns:a="http://schemas.openxmlformats.org/drawingml/2006/main" noGrp="1"/>
          </p:cNvSpPr>
          <p:nvPr/>
        </p:nvSpPr>
        <p:spPr>
          <a:xfrm xmlns:a="http://schemas.openxmlformats.org/drawingml/2006/main">
            <a:off x="7191375" y="1809750"/>
            <a:ext cx="476250" cy="3048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7" name="r4">
            <a:extLst xmlns:a="http://schemas.openxmlformats.org/drawingml/2006/main">
              <a:ext uri="{FF2B5EF4-FFF2-40B4-BE49-F238E27FC236}">
                <a16:creationId xmlns:a16="http://schemas.microsoft.com/office/drawing/2014/main" id="{B3E3A7C5-5FA3-46A0-9B60-187D2E4830C3}"/>
              </a:ext>
            </a:extLst>
          </p:cNvPr>
          <p:cNvSpPr>
            <a:spLocks xmlns:a="http://schemas.openxmlformats.org/drawingml/2006/main" noGrp="1"/>
          </p:cNvSpPr>
          <p:nvPr/>
        </p:nvSpPr>
        <p:spPr>
          <a:xfrm xmlns:a="http://schemas.openxmlformats.org/drawingml/2006/main">
            <a:off x="9620250" y="1809750"/>
            <a:ext cx="476250" cy="3048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8" name="rag-source-box">
            <a:extLst xmlns:a="http://schemas.openxmlformats.org/drawingml/2006/main">
              <a:ext uri="{FF2B5EF4-FFF2-40B4-BE49-F238E27FC236}">
                <a16:creationId xmlns:a16="http://schemas.microsoft.com/office/drawing/2014/main" id="{E629F8DD-73DA-4549-8931-9D931EC7DB55}"/>
              </a:ext>
            </a:extLst>
          </p:cNvPr>
          <p:cNvSpPr>
            <a:spLocks xmlns:a="http://schemas.openxmlformats.org/drawingml/2006/main" noGrp="1"/>
          </p:cNvSpPr>
          <p:nvPr/>
        </p:nvSpPr>
        <p:spPr>
          <a:xfrm xmlns:a="http://schemas.openxmlformats.org/drawingml/2006/main">
            <a:off x="419100" y="1428750"/>
            <a:ext cx="19145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4288">
            <a:solidFill>
              <a:srgbClr val="292929"/>
            </a:solidFill>
            <a:prstDash val="solid"/>
          </a:ln>
        </p:spPr>
      </p:sp>
      <p:sp>
        <p:nvSpPr>
          <p:cNvPr id="9" name="rag-source-accent">
            <a:extLst xmlns:a="http://schemas.openxmlformats.org/drawingml/2006/main">
              <a:ext uri="{FF2B5EF4-FFF2-40B4-BE49-F238E27FC236}">
                <a16:creationId xmlns:a16="http://schemas.microsoft.com/office/drawing/2014/main" id="{E6B9A022-B431-43BB-A70A-A295C1E61044}"/>
              </a:ext>
            </a:extLst>
          </p:cNvPr>
          <p:cNvSpPr>
            <a:spLocks xmlns:a="http://schemas.openxmlformats.org/drawingml/2006/main" noGrp="1"/>
          </p:cNvSpPr>
          <p:nvPr/>
        </p:nvSpPr>
        <p:spPr>
          <a:xfrm xmlns:a="http://schemas.openxmlformats.org/drawingml/2006/main">
            <a:off x="419100" y="1428750"/>
            <a:ext cx="76200" cy="1066800"/>
          </a:xfrm>
          <a:prstGeom xmlns:a="http://schemas.openxmlformats.org/drawingml/2006/main" prst="rect">
            <a:avLst/>
          </a:prstGeom>
          <a:solidFill xmlns:a="http://schemas.openxmlformats.org/drawingml/2006/main">
            <a:srgbClr val="171717"/>
          </a:solidFill>
          <a:ln xmlns:a="http://schemas.openxmlformats.org/drawingml/2006/main" w="0">
            <a:solidFill>
              <a:srgbClr val="171717"/>
            </a:solidFill>
            <a:prstDash val="solid"/>
          </a:ln>
        </p:spPr>
      </p:sp>
      <p:sp>
        <p:nvSpPr>
          <p:cNvPr id="10" name="rag-source-head">
            <a:extLst xmlns:a="http://schemas.openxmlformats.org/drawingml/2006/main">
              <a:ext uri="{FF2B5EF4-FFF2-40B4-BE49-F238E27FC236}">
                <a16:creationId xmlns:a16="http://schemas.microsoft.com/office/drawing/2014/main" id="{8942D173-BDE0-44C5-879E-2353580BAE4B}"/>
              </a:ext>
            </a:extLst>
          </p:cNvPr>
          <p:cNvSpPr>
            <a:spLocks xmlns:a="http://schemas.openxmlformats.org/drawingml/2006/main" noGrp="1"/>
          </p:cNvSpPr>
          <p:nvPr/>
        </p:nvSpPr>
        <p:spPr>
          <a:xfrm xmlns:a="http://schemas.openxmlformats.org/drawingml/2006/main">
            <a:off x="628650" y="1552575"/>
            <a:ext cx="159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Source content</a:t>
            </a:r>
          </a:p>
        </p:txBody>
      </p:sp>
      <p:sp>
        <p:nvSpPr>
          <p:cNvPr id="11" name="rag-source-body">
            <a:extLst xmlns:a="http://schemas.openxmlformats.org/drawingml/2006/main">
              <a:ext uri="{FF2B5EF4-FFF2-40B4-BE49-F238E27FC236}">
                <a16:creationId xmlns:a16="http://schemas.microsoft.com/office/drawing/2014/main" id="{C366B431-64C0-4091-AB1E-2B0E77E1F3BC}"/>
              </a:ext>
            </a:extLst>
          </p:cNvPr>
          <p:cNvSpPr>
            <a:spLocks xmlns:a="http://schemas.openxmlformats.org/drawingml/2006/main" noGrp="1"/>
          </p:cNvSpPr>
          <p:nvPr/>
        </p:nvSpPr>
        <p:spPr>
          <a:xfrm xmlns:a="http://schemas.openxmlformats.org/drawingml/2006/main">
            <a:off x="628650" y="1885950"/>
            <a:ext cx="1590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Caption, metadata, visible text</a:t>
            </a:r>
          </a:p>
        </p:txBody>
      </p:sp>
      <p:sp>
        <p:nvSpPr>
          <p:cNvPr id="12" name="rag-llm1-box">
            <a:extLst xmlns:a="http://schemas.openxmlformats.org/drawingml/2006/main">
              <a:ext uri="{FF2B5EF4-FFF2-40B4-BE49-F238E27FC236}">
                <a16:creationId xmlns:a16="http://schemas.microsoft.com/office/drawing/2014/main" id="{452385DB-2646-4DC7-BA91-2AC50CCDAABA}"/>
              </a:ext>
            </a:extLst>
          </p:cNvPr>
          <p:cNvSpPr>
            <a:spLocks xmlns:a="http://schemas.openxmlformats.org/drawingml/2006/main" noGrp="1"/>
          </p:cNvSpPr>
          <p:nvPr/>
        </p:nvSpPr>
        <p:spPr>
          <a:xfrm xmlns:a="http://schemas.openxmlformats.org/drawingml/2006/main">
            <a:off x="2809875" y="1428750"/>
            <a:ext cx="1952625" cy="1066800"/>
          </a:xfrm>
          <a:prstGeom xmlns:a="http://schemas.openxmlformats.org/drawingml/2006/main" prst="roundRect">
            <a:avLst>
              <a:gd name="adj" fmla="val 7143"/>
            </a:avLst>
          </a:prstGeom>
          <a:solidFill xmlns:a="http://schemas.openxmlformats.org/drawingml/2006/main">
            <a:srgbClr val="F2F7FF"/>
          </a:solidFill>
          <a:ln xmlns:a="http://schemas.openxmlformats.org/drawingml/2006/main" w="14288">
            <a:solidFill>
              <a:srgbClr val="292929"/>
            </a:solidFill>
            <a:prstDash val="solid"/>
          </a:ln>
        </p:spPr>
      </p:sp>
      <p:sp>
        <p:nvSpPr>
          <p:cNvPr id="13" name="rag-llm1-accent">
            <a:extLst xmlns:a="http://schemas.openxmlformats.org/drawingml/2006/main">
              <a:ext uri="{FF2B5EF4-FFF2-40B4-BE49-F238E27FC236}">
                <a16:creationId xmlns:a16="http://schemas.microsoft.com/office/drawing/2014/main" id="{D9B566D0-E992-4D02-B5A7-50DD602D6591}"/>
              </a:ext>
            </a:extLst>
          </p:cNvPr>
          <p:cNvSpPr>
            <a:spLocks xmlns:a="http://schemas.openxmlformats.org/drawingml/2006/main" noGrp="1"/>
          </p:cNvSpPr>
          <p:nvPr/>
        </p:nvSpPr>
        <p:spPr>
          <a:xfrm xmlns:a="http://schemas.openxmlformats.org/drawingml/2006/main">
            <a:off x="2809875" y="1428750"/>
            <a:ext cx="76200" cy="10668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14" name="rag-llm1-head">
            <a:extLst xmlns:a="http://schemas.openxmlformats.org/drawingml/2006/main">
              <a:ext uri="{FF2B5EF4-FFF2-40B4-BE49-F238E27FC236}">
                <a16:creationId xmlns:a16="http://schemas.microsoft.com/office/drawing/2014/main" id="{928C39F0-46BF-4EA3-B122-097B570C8691}"/>
              </a:ext>
            </a:extLst>
          </p:cNvPr>
          <p:cNvSpPr>
            <a:spLocks xmlns:a="http://schemas.openxmlformats.org/drawingml/2006/main" noGrp="1"/>
          </p:cNvSpPr>
          <p:nvPr/>
        </p:nvSpPr>
        <p:spPr>
          <a:xfrm xmlns:a="http://schemas.openxmlformats.org/drawingml/2006/main">
            <a:off x="3019425" y="155257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First LLM</a:t>
            </a:r>
          </a:p>
        </p:txBody>
      </p:sp>
      <p:sp>
        <p:nvSpPr>
          <p:cNvPr id="15" name="rag-llm1-body">
            <a:extLst xmlns:a="http://schemas.openxmlformats.org/drawingml/2006/main">
              <a:ext uri="{FF2B5EF4-FFF2-40B4-BE49-F238E27FC236}">
                <a16:creationId xmlns:a16="http://schemas.microsoft.com/office/drawing/2014/main" id="{58E55124-21D2-47D9-8568-5884F7782DD5}"/>
              </a:ext>
            </a:extLst>
          </p:cNvPr>
          <p:cNvSpPr>
            <a:spLocks xmlns:a="http://schemas.openxmlformats.org/drawingml/2006/main" noGrp="1"/>
          </p:cNvSpPr>
          <p:nvPr/>
        </p:nvSpPr>
        <p:spPr>
          <a:xfrm xmlns:a="http://schemas.openxmlformats.org/drawingml/2006/main">
            <a:off x="3019425" y="188595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Turns content into clean notes and tags</a:t>
            </a:r>
          </a:p>
        </p:txBody>
      </p:sp>
      <p:sp>
        <p:nvSpPr>
          <p:cNvPr id="16" name="rag-embed1-box">
            <a:extLst xmlns:a="http://schemas.openxmlformats.org/drawingml/2006/main">
              <a:ext uri="{FF2B5EF4-FFF2-40B4-BE49-F238E27FC236}">
                <a16:creationId xmlns:a16="http://schemas.microsoft.com/office/drawing/2014/main" id="{8BB106A0-4BAF-4B1A-9B65-9F2D94ED15B9}"/>
              </a:ext>
            </a:extLst>
          </p:cNvPr>
          <p:cNvSpPr>
            <a:spLocks xmlns:a="http://schemas.openxmlformats.org/drawingml/2006/main" noGrp="1"/>
          </p:cNvSpPr>
          <p:nvPr/>
        </p:nvSpPr>
        <p:spPr>
          <a:xfrm xmlns:a="http://schemas.openxmlformats.org/drawingml/2006/main">
            <a:off x="5238750" y="1428750"/>
            <a:ext cx="19526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4288">
            <a:solidFill>
              <a:srgbClr val="292929"/>
            </a:solidFill>
            <a:prstDash val="solid"/>
          </a:ln>
        </p:spPr>
      </p:sp>
      <p:sp>
        <p:nvSpPr>
          <p:cNvPr id="17" name="rag-embed1-accent">
            <a:extLst xmlns:a="http://schemas.openxmlformats.org/drawingml/2006/main">
              <a:ext uri="{FF2B5EF4-FFF2-40B4-BE49-F238E27FC236}">
                <a16:creationId xmlns:a16="http://schemas.microsoft.com/office/drawing/2014/main" id="{4699FD7A-8823-4B02-ABB2-D82AB140519D}"/>
              </a:ext>
            </a:extLst>
          </p:cNvPr>
          <p:cNvSpPr>
            <a:spLocks xmlns:a="http://schemas.openxmlformats.org/drawingml/2006/main" noGrp="1"/>
          </p:cNvSpPr>
          <p:nvPr/>
        </p:nvSpPr>
        <p:spPr>
          <a:xfrm xmlns:a="http://schemas.openxmlformats.org/drawingml/2006/main">
            <a:off x="5238750" y="1428750"/>
            <a:ext cx="76200" cy="10668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18" name="rag-embed1-head">
            <a:extLst xmlns:a="http://schemas.openxmlformats.org/drawingml/2006/main">
              <a:ext uri="{FF2B5EF4-FFF2-40B4-BE49-F238E27FC236}">
                <a16:creationId xmlns:a16="http://schemas.microsoft.com/office/drawing/2014/main" id="{BBC861BF-D0B5-4084-A9C5-BEC8AABD13ED}"/>
              </a:ext>
            </a:extLst>
          </p:cNvPr>
          <p:cNvSpPr>
            <a:spLocks xmlns:a="http://schemas.openxmlformats.org/drawingml/2006/main" noGrp="1"/>
          </p:cNvSpPr>
          <p:nvPr/>
        </p:nvSpPr>
        <p:spPr>
          <a:xfrm xmlns:a="http://schemas.openxmlformats.org/drawingml/2006/main">
            <a:off x="5448300" y="155257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Embedding</a:t>
            </a:r>
          </a:p>
        </p:txBody>
      </p:sp>
      <p:sp>
        <p:nvSpPr>
          <p:cNvPr id="19" name="rag-embed1-body">
            <a:extLst xmlns:a="http://schemas.openxmlformats.org/drawingml/2006/main">
              <a:ext uri="{FF2B5EF4-FFF2-40B4-BE49-F238E27FC236}">
                <a16:creationId xmlns:a16="http://schemas.microsoft.com/office/drawing/2014/main" id="{F0429432-9FAC-4CAD-86F6-988C238E9D04}"/>
              </a:ext>
            </a:extLst>
          </p:cNvPr>
          <p:cNvSpPr>
            <a:spLocks xmlns:a="http://schemas.openxmlformats.org/drawingml/2006/main" noGrp="1"/>
          </p:cNvSpPr>
          <p:nvPr/>
        </p:nvSpPr>
        <p:spPr>
          <a:xfrm xmlns:a="http://schemas.openxmlformats.org/drawingml/2006/main">
            <a:off x="5448300" y="188595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Meaning becomes 768 numbers</a:t>
            </a:r>
          </a:p>
        </p:txBody>
      </p:sp>
      <p:sp>
        <p:nvSpPr>
          <p:cNvPr id="20" name="rag-store-box">
            <a:extLst xmlns:a="http://schemas.openxmlformats.org/drawingml/2006/main">
              <a:ext uri="{FF2B5EF4-FFF2-40B4-BE49-F238E27FC236}">
                <a16:creationId xmlns:a16="http://schemas.microsoft.com/office/drawing/2014/main" id="{49014932-DADF-4944-865C-E361B6DFB452}"/>
              </a:ext>
            </a:extLst>
          </p:cNvPr>
          <p:cNvSpPr>
            <a:spLocks xmlns:a="http://schemas.openxmlformats.org/drawingml/2006/main" noGrp="1"/>
          </p:cNvSpPr>
          <p:nvPr/>
        </p:nvSpPr>
        <p:spPr>
          <a:xfrm xmlns:a="http://schemas.openxmlformats.org/drawingml/2006/main">
            <a:off x="7667625" y="1428750"/>
            <a:ext cx="19526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4288">
            <a:solidFill>
              <a:srgbClr val="292929"/>
            </a:solidFill>
            <a:prstDash val="solid"/>
          </a:ln>
        </p:spPr>
      </p:sp>
      <p:sp>
        <p:nvSpPr>
          <p:cNvPr id="21" name="rag-store-accent">
            <a:extLst xmlns:a="http://schemas.openxmlformats.org/drawingml/2006/main">
              <a:ext uri="{FF2B5EF4-FFF2-40B4-BE49-F238E27FC236}">
                <a16:creationId xmlns:a16="http://schemas.microsoft.com/office/drawing/2014/main" id="{8A97C21B-69AB-4913-B1F3-E559BFD60670}"/>
              </a:ext>
            </a:extLst>
          </p:cNvPr>
          <p:cNvSpPr>
            <a:spLocks xmlns:a="http://schemas.openxmlformats.org/drawingml/2006/main" noGrp="1"/>
          </p:cNvSpPr>
          <p:nvPr/>
        </p:nvSpPr>
        <p:spPr>
          <a:xfrm xmlns:a="http://schemas.openxmlformats.org/drawingml/2006/main">
            <a:off x="7667625" y="1428750"/>
            <a:ext cx="76200" cy="1066800"/>
          </a:xfrm>
          <a:prstGeom xmlns:a="http://schemas.openxmlformats.org/drawingml/2006/main" prst="rect">
            <a:avLst/>
          </a:prstGeom>
          <a:solidFill xmlns:a="http://schemas.openxmlformats.org/drawingml/2006/main">
            <a:srgbClr val="2C8A62"/>
          </a:solidFill>
          <a:ln xmlns:a="http://schemas.openxmlformats.org/drawingml/2006/main" w="0">
            <a:solidFill>
              <a:srgbClr val="2C8A62"/>
            </a:solidFill>
            <a:prstDash val="solid"/>
          </a:ln>
        </p:spPr>
      </p:sp>
      <p:sp>
        <p:nvSpPr>
          <p:cNvPr id="22" name="rag-store-head">
            <a:extLst xmlns:a="http://schemas.openxmlformats.org/drawingml/2006/main">
              <a:ext uri="{FF2B5EF4-FFF2-40B4-BE49-F238E27FC236}">
                <a16:creationId xmlns:a16="http://schemas.microsoft.com/office/drawing/2014/main" id="{312CD7FF-C923-4EA7-BBF2-E85E556E3953}"/>
              </a:ext>
            </a:extLst>
          </p:cNvPr>
          <p:cNvSpPr>
            <a:spLocks xmlns:a="http://schemas.openxmlformats.org/drawingml/2006/main" noGrp="1"/>
          </p:cNvSpPr>
          <p:nvPr/>
        </p:nvSpPr>
        <p:spPr>
          <a:xfrm xmlns:a="http://schemas.openxmlformats.org/drawingml/2006/main">
            <a:off x="7877175" y="155257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Memory store</a:t>
            </a:r>
          </a:p>
        </p:txBody>
      </p:sp>
      <p:sp>
        <p:nvSpPr>
          <p:cNvPr id="23" name="rag-store-body">
            <a:extLst xmlns:a="http://schemas.openxmlformats.org/drawingml/2006/main">
              <a:ext uri="{FF2B5EF4-FFF2-40B4-BE49-F238E27FC236}">
                <a16:creationId xmlns:a16="http://schemas.microsoft.com/office/drawing/2014/main" id="{47DC464F-D4A7-42A6-968C-59BC55EB33EA}"/>
              </a:ext>
            </a:extLst>
          </p:cNvPr>
          <p:cNvSpPr>
            <a:spLocks xmlns:a="http://schemas.openxmlformats.org/drawingml/2006/main" noGrp="1"/>
          </p:cNvSpPr>
          <p:nvPr/>
        </p:nvSpPr>
        <p:spPr>
          <a:xfrm xmlns:a="http://schemas.openxmlformats.org/drawingml/2006/main">
            <a:off x="7877175" y="188595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PostgreSQL + pgvector</a:t>
            </a:r>
          </a:p>
        </p:txBody>
      </p:sp>
      <p:sp>
        <p:nvSpPr>
          <p:cNvPr id="24" name="rag-ready-box">
            <a:extLst xmlns:a="http://schemas.openxmlformats.org/drawingml/2006/main">
              <a:ext uri="{FF2B5EF4-FFF2-40B4-BE49-F238E27FC236}">
                <a16:creationId xmlns:a16="http://schemas.microsoft.com/office/drawing/2014/main" id="{170E77F2-E90C-4BC9-89E9-81445F7052A5}"/>
              </a:ext>
            </a:extLst>
          </p:cNvPr>
          <p:cNvSpPr>
            <a:spLocks xmlns:a="http://schemas.openxmlformats.org/drawingml/2006/main" noGrp="1"/>
          </p:cNvSpPr>
          <p:nvPr/>
        </p:nvSpPr>
        <p:spPr>
          <a:xfrm xmlns:a="http://schemas.openxmlformats.org/drawingml/2006/main">
            <a:off x="10096500" y="1428750"/>
            <a:ext cx="1409700" cy="1066800"/>
          </a:xfrm>
          <a:prstGeom xmlns:a="http://schemas.openxmlformats.org/drawingml/2006/main" prst="roundRect">
            <a:avLst>
              <a:gd name="adj" fmla="val 7143"/>
            </a:avLst>
          </a:prstGeom>
          <a:solidFill xmlns:a="http://schemas.openxmlformats.org/drawingml/2006/main">
            <a:srgbClr val="F2F7FF"/>
          </a:solidFill>
          <a:ln xmlns:a="http://schemas.openxmlformats.org/drawingml/2006/main" w="14288">
            <a:solidFill>
              <a:srgbClr val="292929"/>
            </a:solidFill>
            <a:prstDash val="solid"/>
          </a:ln>
        </p:spPr>
      </p:sp>
      <p:sp>
        <p:nvSpPr>
          <p:cNvPr id="25" name="rag-ready-accent">
            <a:extLst xmlns:a="http://schemas.openxmlformats.org/drawingml/2006/main">
              <a:ext uri="{FF2B5EF4-FFF2-40B4-BE49-F238E27FC236}">
                <a16:creationId xmlns:a16="http://schemas.microsoft.com/office/drawing/2014/main" id="{54995223-EDE4-47B4-A2F1-6ACC29D47679}"/>
              </a:ext>
            </a:extLst>
          </p:cNvPr>
          <p:cNvSpPr>
            <a:spLocks xmlns:a="http://schemas.openxmlformats.org/drawingml/2006/main" noGrp="1"/>
          </p:cNvSpPr>
          <p:nvPr/>
        </p:nvSpPr>
        <p:spPr>
          <a:xfrm xmlns:a="http://schemas.openxmlformats.org/drawingml/2006/main">
            <a:off x="10096500" y="1428750"/>
            <a:ext cx="76200" cy="1066800"/>
          </a:xfrm>
          <a:prstGeom xmlns:a="http://schemas.openxmlformats.org/drawingml/2006/main" prst="rect">
            <a:avLst/>
          </a:prstGeom>
          <a:solidFill xmlns:a="http://schemas.openxmlformats.org/drawingml/2006/main">
            <a:srgbClr val="2C8A62"/>
          </a:solidFill>
          <a:ln xmlns:a="http://schemas.openxmlformats.org/drawingml/2006/main" w="0">
            <a:solidFill>
              <a:srgbClr val="2C8A62"/>
            </a:solidFill>
            <a:prstDash val="solid"/>
          </a:ln>
        </p:spPr>
      </p:sp>
      <p:sp>
        <p:nvSpPr>
          <p:cNvPr id="26" name="rag-ready-head">
            <a:extLst xmlns:a="http://schemas.openxmlformats.org/drawingml/2006/main">
              <a:ext uri="{FF2B5EF4-FFF2-40B4-BE49-F238E27FC236}">
                <a16:creationId xmlns:a16="http://schemas.microsoft.com/office/drawing/2014/main" id="{BB371A21-79BF-4ACC-BCE6-D8CB702FBF07}"/>
              </a:ext>
            </a:extLst>
          </p:cNvPr>
          <p:cNvSpPr>
            <a:spLocks xmlns:a="http://schemas.openxmlformats.org/drawingml/2006/main" noGrp="1"/>
          </p:cNvSpPr>
          <p:nvPr/>
        </p:nvSpPr>
        <p:spPr>
          <a:xfrm xmlns:a="http://schemas.openxmlformats.org/drawingml/2006/main">
            <a:off x="10306050" y="1552575"/>
            <a:ext cx="1085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Reusable</a:t>
            </a:r>
          </a:p>
        </p:txBody>
      </p:sp>
      <p:sp>
        <p:nvSpPr>
          <p:cNvPr id="27" name="rag-ready-body">
            <a:extLst xmlns:a="http://schemas.openxmlformats.org/drawingml/2006/main">
              <a:ext uri="{FF2B5EF4-FFF2-40B4-BE49-F238E27FC236}">
                <a16:creationId xmlns:a16="http://schemas.microsoft.com/office/drawing/2014/main" id="{97613E5C-A1D5-4669-BABC-6D61BAF9BD6C}"/>
              </a:ext>
            </a:extLst>
          </p:cNvPr>
          <p:cNvSpPr>
            <a:spLocks xmlns:a="http://schemas.openxmlformats.org/drawingml/2006/main" noGrp="1"/>
          </p:cNvSpPr>
          <p:nvPr/>
        </p:nvSpPr>
        <p:spPr>
          <a:xfrm xmlns:a="http://schemas.openxmlformats.org/drawingml/2006/main">
            <a:off x="10306050" y="1885950"/>
            <a:ext cx="1085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Analyze once</a:t>
            </a:r>
          </a:p>
        </p:txBody>
      </p:sp>
      <p:sp>
        <p:nvSpPr>
          <p:cNvPr id="28" name="rag-query-label">
            <a:extLst xmlns:a="http://schemas.openxmlformats.org/drawingml/2006/main">
              <a:ext uri="{FF2B5EF4-FFF2-40B4-BE49-F238E27FC236}">
                <a16:creationId xmlns:a16="http://schemas.microsoft.com/office/drawing/2014/main" id="{C0DBD49D-A5DF-4C80-84F6-E5115AA33221}"/>
              </a:ext>
            </a:extLst>
          </p:cNvPr>
          <p:cNvSpPr>
            <a:spLocks xmlns:a="http://schemas.openxmlformats.org/drawingml/2006/main" noGrp="1"/>
          </p:cNvSpPr>
          <p:nvPr/>
        </p:nvSpPr>
        <p:spPr>
          <a:xfrm xmlns:a="http://schemas.openxmlformats.org/drawingml/2006/main">
            <a:off x="419100" y="29908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p xmlns:a="http://schemas.openxmlformats.org/drawingml/2006/main">
            <a:pPr algn="l">
              <a:defRPr sz="1275" b="1">
                <a:solidFill>
                  <a:srgbClr val="3478F6"/>
                </a:solidFill>
                <a:latin typeface="Arial"/>
                <a:ea typeface="Arial"/>
                <a:cs typeface="Arial"/>
              </a:defRPr>
            </a:pPr>
            <a:r>
              <a:rPr sz="1275" b="1">
                <a:solidFill>
                  <a:srgbClr val="3478F6"/>
                </a:solidFill>
                <a:latin typeface="Arial"/>
                <a:ea typeface="Arial"/>
                <a:cs typeface="Arial"/>
              </a:rPr>
              <a:t>ASK • happens for every question</a:t>
            </a:r>
          </a:p>
        </p:txBody>
      </p:sp>
      <p:sp>
        <p:nvSpPr>
          <p:cNvPr id="29" name="q1">
            <a:extLst xmlns:a="http://schemas.openxmlformats.org/drawingml/2006/main">
              <a:ext uri="{FF2B5EF4-FFF2-40B4-BE49-F238E27FC236}">
                <a16:creationId xmlns:a16="http://schemas.microsoft.com/office/drawing/2014/main" id="{1F2B2579-8BE9-47EC-BF8A-C8B263E04E9C}"/>
              </a:ext>
            </a:extLst>
          </p:cNvPr>
          <p:cNvSpPr>
            <a:spLocks xmlns:a="http://schemas.openxmlformats.org/drawingml/2006/main" noGrp="1"/>
          </p:cNvSpPr>
          <p:nvPr/>
        </p:nvSpPr>
        <p:spPr>
          <a:xfrm xmlns:a="http://schemas.openxmlformats.org/drawingml/2006/main">
            <a:off x="2333625" y="3810000"/>
            <a:ext cx="476250" cy="3048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30" name="q2">
            <a:extLst xmlns:a="http://schemas.openxmlformats.org/drawingml/2006/main">
              <a:ext uri="{FF2B5EF4-FFF2-40B4-BE49-F238E27FC236}">
                <a16:creationId xmlns:a16="http://schemas.microsoft.com/office/drawing/2014/main" id="{56DD780A-B341-4300-9425-C62E3D18031A}"/>
              </a:ext>
            </a:extLst>
          </p:cNvPr>
          <p:cNvSpPr>
            <a:spLocks xmlns:a="http://schemas.openxmlformats.org/drawingml/2006/main" noGrp="1"/>
          </p:cNvSpPr>
          <p:nvPr/>
        </p:nvSpPr>
        <p:spPr>
          <a:xfrm xmlns:a="http://schemas.openxmlformats.org/drawingml/2006/main">
            <a:off x="4762500" y="3810000"/>
            <a:ext cx="476250" cy="3048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31" name="q3">
            <a:extLst xmlns:a="http://schemas.openxmlformats.org/drawingml/2006/main">
              <a:ext uri="{FF2B5EF4-FFF2-40B4-BE49-F238E27FC236}">
                <a16:creationId xmlns:a16="http://schemas.microsoft.com/office/drawing/2014/main" id="{431AD1F1-98F5-4FB2-86A2-5629E0C148EE}"/>
              </a:ext>
            </a:extLst>
          </p:cNvPr>
          <p:cNvSpPr>
            <a:spLocks xmlns:a="http://schemas.openxmlformats.org/drawingml/2006/main" noGrp="1"/>
          </p:cNvSpPr>
          <p:nvPr/>
        </p:nvSpPr>
        <p:spPr>
          <a:xfrm xmlns:a="http://schemas.openxmlformats.org/drawingml/2006/main">
            <a:off x="7191375" y="3810000"/>
            <a:ext cx="476250" cy="3048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32" name="q4">
            <a:extLst xmlns:a="http://schemas.openxmlformats.org/drawingml/2006/main">
              <a:ext uri="{FF2B5EF4-FFF2-40B4-BE49-F238E27FC236}">
                <a16:creationId xmlns:a16="http://schemas.microsoft.com/office/drawing/2014/main" id="{B9EE111B-E796-4AF8-9481-5EF6EDB5CE70}"/>
              </a:ext>
            </a:extLst>
          </p:cNvPr>
          <p:cNvSpPr>
            <a:spLocks xmlns:a="http://schemas.openxmlformats.org/drawingml/2006/main" noGrp="1"/>
          </p:cNvSpPr>
          <p:nvPr/>
        </p:nvSpPr>
        <p:spPr>
          <a:xfrm xmlns:a="http://schemas.openxmlformats.org/drawingml/2006/main">
            <a:off x="9620250" y="3810000"/>
            <a:ext cx="476250" cy="304800"/>
          </a:xfrm>
          <a:prstGeom xmlns:a="http://schemas.openxmlformats.org/drawingml/2006/main" prst="rightArrow">
            <a:avLst/>
          </a:prstGeom>
          <a:solidFill xmlns:a="http://schemas.openxmlformats.org/drawingml/2006/main">
            <a:srgbClr val="3478F6"/>
          </a:solidFill>
          <a:ln xmlns:a="http://schemas.openxmlformats.org/drawingml/2006/main" w="0">
            <a:solidFill>
              <a:srgbClr val="3478F6"/>
            </a:solidFill>
            <a:prstDash val="solid"/>
          </a:ln>
        </p:spPr>
      </p:sp>
      <p:sp>
        <p:nvSpPr>
          <p:cNvPr id="33" name="rag-question-box">
            <a:extLst xmlns:a="http://schemas.openxmlformats.org/drawingml/2006/main">
              <a:ext uri="{FF2B5EF4-FFF2-40B4-BE49-F238E27FC236}">
                <a16:creationId xmlns:a16="http://schemas.microsoft.com/office/drawing/2014/main" id="{46B5A6AD-831F-4380-95F5-1B28CF68AEF8}"/>
              </a:ext>
            </a:extLst>
          </p:cNvPr>
          <p:cNvSpPr>
            <a:spLocks xmlns:a="http://schemas.openxmlformats.org/drawingml/2006/main" noGrp="1"/>
          </p:cNvSpPr>
          <p:nvPr/>
        </p:nvSpPr>
        <p:spPr>
          <a:xfrm xmlns:a="http://schemas.openxmlformats.org/drawingml/2006/main">
            <a:off x="419100" y="3429000"/>
            <a:ext cx="19145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4288">
            <a:solidFill>
              <a:srgbClr val="292929"/>
            </a:solidFill>
            <a:prstDash val="solid"/>
          </a:ln>
        </p:spPr>
      </p:sp>
      <p:sp>
        <p:nvSpPr>
          <p:cNvPr id="34" name="rag-question-accent">
            <a:extLst xmlns:a="http://schemas.openxmlformats.org/drawingml/2006/main">
              <a:ext uri="{FF2B5EF4-FFF2-40B4-BE49-F238E27FC236}">
                <a16:creationId xmlns:a16="http://schemas.microsoft.com/office/drawing/2014/main" id="{55F4914D-2E67-402C-8FB7-890084B32BC6}"/>
              </a:ext>
            </a:extLst>
          </p:cNvPr>
          <p:cNvSpPr>
            <a:spLocks xmlns:a="http://schemas.openxmlformats.org/drawingml/2006/main" noGrp="1"/>
          </p:cNvSpPr>
          <p:nvPr/>
        </p:nvSpPr>
        <p:spPr>
          <a:xfrm xmlns:a="http://schemas.openxmlformats.org/drawingml/2006/main">
            <a:off x="419100" y="3429000"/>
            <a:ext cx="76200" cy="1066800"/>
          </a:xfrm>
          <a:prstGeom xmlns:a="http://schemas.openxmlformats.org/drawingml/2006/main" prst="rect">
            <a:avLst/>
          </a:prstGeom>
          <a:solidFill xmlns:a="http://schemas.openxmlformats.org/drawingml/2006/main">
            <a:srgbClr val="171717"/>
          </a:solidFill>
          <a:ln xmlns:a="http://schemas.openxmlformats.org/drawingml/2006/main" w="0">
            <a:solidFill>
              <a:srgbClr val="171717"/>
            </a:solidFill>
            <a:prstDash val="solid"/>
          </a:ln>
        </p:spPr>
      </p:sp>
      <p:sp>
        <p:nvSpPr>
          <p:cNvPr id="35" name="rag-question-head">
            <a:extLst xmlns:a="http://schemas.openxmlformats.org/drawingml/2006/main">
              <a:ext uri="{FF2B5EF4-FFF2-40B4-BE49-F238E27FC236}">
                <a16:creationId xmlns:a16="http://schemas.microsoft.com/office/drawing/2014/main" id="{453D9AC6-AD3D-42C1-8396-D362F4D9680E}"/>
              </a:ext>
            </a:extLst>
          </p:cNvPr>
          <p:cNvSpPr>
            <a:spLocks xmlns:a="http://schemas.openxmlformats.org/drawingml/2006/main" noGrp="1"/>
          </p:cNvSpPr>
          <p:nvPr/>
        </p:nvSpPr>
        <p:spPr>
          <a:xfrm xmlns:a="http://schemas.openxmlformats.org/drawingml/2006/main">
            <a:off x="628650" y="3552825"/>
            <a:ext cx="159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User question</a:t>
            </a:r>
          </a:p>
        </p:txBody>
      </p:sp>
      <p:sp>
        <p:nvSpPr>
          <p:cNvPr id="36" name="rag-question-body">
            <a:extLst xmlns:a="http://schemas.openxmlformats.org/drawingml/2006/main">
              <a:ext uri="{FF2B5EF4-FFF2-40B4-BE49-F238E27FC236}">
                <a16:creationId xmlns:a16="http://schemas.microsoft.com/office/drawing/2014/main" id="{38B47EE2-ECAC-4367-B145-FE8B5E51CDC5}"/>
              </a:ext>
            </a:extLst>
          </p:cNvPr>
          <p:cNvSpPr>
            <a:spLocks xmlns:a="http://schemas.openxmlformats.org/drawingml/2006/main" noGrp="1"/>
          </p:cNvSpPr>
          <p:nvPr/>
        </p:nvSpPr>
        <p:spPr>
          <a:xfrm xmlns:a="http://schemas.openxmlformats.org/drawingml/2006/main">
            <a:off x="628650" y="3886200"/>
            <a:ext cx="1590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Goal and constraints</a:t>
            </a:r>
          </a:p>
        </p:txBody>
      </p:sp>
      <p:sp>
        <p:nvSpPr>
          <p:cNvPr id="37" name="rag-qembed-box">
            <a:extLst xmlns:a="http://schemas.openxmlformats.org/drawingml/2006/main">
              <a:ext uri="{FF2B5EF4-FFF2-40B4-BE49-F238E27FC236}">
                <a16:creationId xmlns:a16="http://schemas.microsoft.com/office/drawing/2014/main" id="{D4C7BB93-AFB7-4F07-AE40-B5C57E1873F5}"/>
              </a:ext>
            </a:extLst>
          </p:cNvPr>
          <p:cNvSpPr>
            <a:spLocks xmlns:a="http://schemas.openxmlformats.org/drawingml/2006/main" noGrp="1"/>
          </p:cNvSpPr>
          <p:nvPr/>
        </p:nvSpPr>
        <p:spPr>
          <a:xfrm xmlns:a="http://schemas.openxmlformats.org/drawingml/2006/main">
            <a:off x="2809875" y="3429000"/>
            <a:ext cx="19526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4288">
            <a:solidFill>
              <a:srgbClr val="292929"/>
            </a:solidFill>
            <a:prstDash val="solid"/>
          </a:ln>
        </p:spPr>
      </p:sp>
      <p:sp>
        <p:nvSpPr>
          <p:cNvPr id="38" name="rag-qembed-accent">
            <a:extLst xmlns:a="http://schemas.openxmlformats.org/drawingml/2006/main">
              <a:ext uri="{FF2B5EF4-FFF2-40B4-BE49-F238E27FC236}">
                <a16:creationId xmlns:a16="http://schemas.microsoft.com/office/drawing/2014/main" id="{A7519836-B4A6-4039-8E08-ADC044E430F8}"/>
              </a:ext>
            </a:extLst>
          </p:cNvPr>
          <p:cNvSpPr>
            <a:spLocks xmlns:a="http://schemas.openxmlformats.org/drawingml/2006/main" noGrp="1"/>
          </p:cNvSpPr>
          <p:nvPr/>
        </p:nvSpPr>
        <p:spPr>
          <a:xfrm xmlns:a="http://schemas.openxmlformats.org/drawingml/2006/main">
            <a:off x="2809875" y="3429000"/>
            <a:ext cx="76200" cy="10668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39" name="rag-qembed-head">
            <a:extLst xmlns:a="http://schemas.openxmlformats.org/drawingml/2006/main">
              <a:ext uri="{FF2B5EF4-FFF2-40B4-BE49-F238E27FC236}">
                <a16:creationId xmlns:a16="http://schemas.microsoft.com/office/drawing/2014/main" id="{1222EACD-62F6-46E7-9EAD-BBB6E96C1627}"/>
              </a:ext>
            </a:extLst>
          </p:cNvPr>
          <p:cNvSpPr>
            <a:spLocks xmlns:a="http://schemas.openxmlformats.org/drawingml/2006/main" noGrp="1"/>
          </p:cNvSpPr>
          <p:nvPr/>
        </p:nvSpPr>
        <p:spPr>
          <a:xfrm xmlns:a="http://schemas.openxmlformats.org/drawingml/2006/main">
            <a:off x="3019425" y="355282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545"/>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Question meaning</a:t>
            </a:r>
          </a:p>
        </p:txBody>
      </p:sp>
      <p:sp>
        <p:nvSpPr>
          <p:cNvPr id="40" name="rag-qembed-body">
            <a:extLst xmlns:a="http://schemas.openxmlformats.org/drawingml/2006/main">
              <a:ext uri="{FF2B5EF4-FFF2-40B4-BE49-F238E27FC236}">
                <a16:creationId xmlns:a16="http://schemas.microsoft.com/office/drawing/2014/main" id="{2B9A069F-C32D-4190-B4D3-A580F1F8C537}"/>
              </a:ext>
            </a:extLst>
          </p:cNvPr>
          <p:cNvSpPr>
            <a:spLocks xmlns:a="http://schemas.openxmlformats.org/drawingml/2006/main" noGrp="1"/>
          </p:cNvSpPr>
          <p:nvPr/>
        </p:nvSpPr>
        <p:spPr>
          <a:xfrm xmlns:a="http://schemas.openxmlformats.org/drawingml/2006/main">
            <a:off x="3019425" y="388620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Question becomes 768 numbers</a:t>
            </a:r>
          </a:p>
        </p:txBody>
      </p:sp>
      <p:sp>
        <p:nvSpPr>
          <p:cNvPr id="41" name="rag-retrieve-box">
            <a:extLst xmlns:a="http://schemas.openxmlformats.org/drawingml/2006/main">
              <a:ext uri="{FF2B5EF4-FFF2-40B4-BE49-F238E27FC236}">
                <a16:creationId xmlns:a16="http://schemas.microsoft.com/office/drawing/2014/main" id="{07B7DB7F-B727-48BB-BC80-F5C3EF94E952}"/>
              </a:ext>
            </a:extLst>
          </p:cNvPr>
          <p:cNvSpPr>
            <a:spLocks xmlns:a="http://schemas.openxmlformats.org/drawingml/2006/main" noGrp="1"/>
          </p:cNvSpPr>
          <p:nvPr/>
        </p:nvSpPr>
        <p:spPr>
          <a:xfrm xmlns:a="http://schemas.openxmlformats.org/drawingml/2006/main">
            <a:off x="5238750" y="3429000"/>
            <a:ext cx="1952625" cy="1066800"/>
          </a:xfrm>
          <a:prstGeom xmlns:a="http://schemas.openxmlformats.org/drawingml/2006/main" prst="roundRect">
            <a:avLst>
              <a:gd name="adj" fmla="val 7143"/>
            </a:avLst>
          </a:prstGeom>
          <a:solidFill xmlns:a="http://schemas.openxmlformats.org/drawingml/2006/main">
            <a:srgbClr val="F2F7FF"/>
          </a:solidFill>
          <a:ln xmlns:a="http://schemas.openxmlformats.org/drawingml/2006/main" w="14288">
            <a:solidFill>
              <a:srgbClr val="292929"/>
            </a:solidFill>
            <a:prstDash val="solid"/>
          </a:ln>
        </p:spPr>
      </p:sp>
      <p:sp>
        <p:nvSpPr>
          <p:cNvPr id="42" name="rag-retrieve-accent">
            <a:extLst xmlns:a="http://schemas.openxmlformats.org/drawingml/2006/main">
              <a:ext uri="{FF2B5EF4-FFF2-40B4-BE49-F238E27FC236}">
                <a16:creationId xmlns:a16="http://schemas.microsoft.com/office/drawing/2014/main" id="{C01111A3-7E38-47B2-9599-2AFE75830086}"/>
              </a:ext>
            </a:extLst>
          </p:cNvPr>
          <p:cNvSpPr>
            <a:spLocks xmlns:a="http://schemas.openxmlformats.org/drawingml/2006/main" noGrp="1"/>
          </p:cNvSpPr>
          <p:nvPr/>
        </p:nvSpPr>
        <p:spPr>
          <a:xfrm xmlns:a="http://schemas.openxmlformats.org/drawingml/2006/main">
            <a:off x="5238750" y="3429000"/>
            <a:ext cx="76200" cy="1066800"/>
          </a:xfrm>
          <a:prstGeom xmlns:a="http://schemas.openxmlformats.org/drawingml/2006/main" prst="rect">
            <a:avLst/>
          </a:prstGeom>
          <a:solidFill xmlns:a="http://schemas.openxmlformats.org/drawingml/2006/main">
            <a:srgbClr val="E4A11B"/>
          </a:solidFill>
          <a:ln xmlns:a="http://schemas.openxmlformats.org/drawingml/2006/main" w="0">
            <a:solidFill>
              <a:srgbClr val="E4A11B"/>
            </a:solidFill>
            <a:prstDash val="solid"/>
          </a:ln>
        </p:spPr>
      </p:sp>
      <p:sp>
        <p:nvSpPr>
          <p:cNvPr id="43" name="rag-retrieve-head">
            <a:extLst xmlns:a="http://schemas.openxmlformats.org/drawingml/2006/main">
              <a:ext uri="{FF2B5EF4-FFF2-40B4-BE49-F238E27FC236}">
                <a16:creationId xmlns:a16="http://schemas.microsoft.com/office/drawing/2014/main" id="{69355006-8623-4074-9657-CBD39872C9F9}"/>
              </a:ext>
            </a:extLst>
          </p:cNvPr>
          <p:cNvSpPr>
            <a:spLocks xmlns:a="http://schemas.openxmlformats.org/drawingml/2006/main" noGrp="1"/>
          </p:cNvSpPr>
          <p:nvPr/>
        </p:nvSpPr>
        <p:spPr>
          <a:xfrm xmlns:a="http://schemas.openxmlformats.org/drawingml/2006/main">
            <a:off x="5448300" y="355282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RAG search</a:t>
            </a:r>
          </a:p>
        </p:txBody>
      </p:sp>
      <p:sp>
        <p:nvSpPr>
          <p:cNvPr id="44" name="rag-retrieve-body">
            <a:extLst xmlns:a="http://schemas.openxmlformats.org/drawingml/2006/main">
              <a:ext uri="{FF2B5EF4-FFF2-40B4-BE49-F238E27FC236}">
                <a16:creationId xmlns:a16="http://schemas.microsoft.com/office/drawing/2014/main" id="{F24FEE46-4FAB-4377-87DA-F56FD31FBEC8}"/>
              </a:ext>
            </a:extLst>
          </p:cNvPr>
          <p:cNvSpPr>
            <a:spLocks xmlns:a="http://schemas.openxmlformats.org/drawingml/2006/main" noGrp="1"/>
          </p:cNvSpPr>
          <p:nvPr/>
        </p:nvSpPr>
        <p:spPr>
          <a:xfrm xmlns:a="http://schemas.openxmlformats.org/drawingml/2006/main">
            <a:off x="5448300" y="388620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Finds close meaning and matching words</a:t>
            </a:r>
          </a:p>
        </p:txBody>
      </p:sp>
      <p:sp>
        <p:nvSpPr>
          <p:cNvPr id="45" name="rag-context-box">
            <a:extLst xmlns:a="http://schemas.openxmlformats.org/drawingml/2006/main">
              <a:ext uri="{FF2B5EF4-FFF2-40B4-BE49-F238E27FC236}">
                <a16:creationId xmlns:a16="http://schemas.microsoft.com/office/drawing/2014/main" id="{1AFC3ECD-F325-4D4E-B07B-4B0761A916D3}"/>
              </a:ext>
            </a:extLst>
          </p:cNvPr>
          <p:cNvSpPr>
            <a:spLocks xmlns:a="http://schemas.openxmlformats.org/drawingml/2006/main" noGrp="1"/>
          </p:cNvSpPr>
          <p:nvPr/>
        </p:nvSpPr>
        <p:spPr>
          <a:xfrm xmlns:a="http://schemas.openxmlformats.org/drawingml/2006/main">
            <a:off x="7667625" y="3429000"/>
            <a:ext cx="19526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14288">
            <a:solidFill>
              <a:srgbClr val="292929"/>
            </a:solidFill>
            <a:prstDash val="solid"/>
          </a:ln>
        </p:spPr>
      </p:sp>
      <p:sp>
        <p:nvSpPr>
          <p:cNvPr id="46" name="rag-context-accent">
            <a:extLst xmlns:a="http://schemas.openxmlformats.org/drawingml/2006/main">
              <a:ext uri="{FF2B5EF4-FFF2-40B4-BE49-F238E27FC236}">
                <a16:creationId xmlns:a16="http://schemas.microsoft.com/office/drawing/2014/main" id="{B85019CA-B96E-496B-B8CA-1CAD98D33010}"/>
              </a:ext>
            </a:extLst>
          </p:cNvPr>
          <p:cNvSpPr>
            <a:spLocks xmlns:a="http://schemas.openxmlformats.org/drawingml/2006/main" noGrp="1"/>
          </p:cNvSpPr>
          <p:nvPr/>
        </p:nvSpPr>
        <p:spPr>
          <a:xfrm xmlns:a="http://schemas.openxmlformats.org/drawingml/2006/main">
            <a:off x="7667625" y="3429000"/>
            <a:ext cx="76200" cy="1066800"/>
          </a:xfrm>
          <a:prstGeom xmlns:a="http://schemas.openxmlformats.org/drawingml/2006/main" prst="rect">
            <a:avLst/>
          </a:prstGeom>
          <a:solidFill xmlns:a="http://schemas.openxmlformats.org/drawingml/2006/main">
            <a:srgbClr val="2C8A62"/>
          </a:solidFill>
          <a:ln xmlns:a="http://schemas.openxmlformats.org/drawingml/2006/main" w="0">
            <a:solidFill>
              <a:srgbClr val="2C8A62"/>
            </a:solidFill>
            <a:prstDash val="solid"/>
          </a:ln>
        </p:spPr>
      </p:sp>
      <p:sp>
        <p:nvSpPr>
          <p:cNvPr id="47" name="rag-context-head">
            <a:extLst xmlns:a="http://schemas.openxmlformats.org/drawingml/2006/main">
              <a:ext uri="{FF2B5EF4-FFF2-40B4-BE49-F238E27FC236}">
                <a16:creationId xmlns:a16="http://schemas.microsoft.com/office/drawing/2014/main" id="{C06A9073-BEB7-4968-AD43-40131426CEC3}"/>
              </a:ext>
            </a:extLst>
          </p:cNvPr>
          <p:cNvSpPr>
            <a:spLocks xmlns:a="http://schemas.openxmlformats.org/drawingml/2006/main" noGrp="1"/>
          </p:cNvSpPr>
          <p:nvPr/>
        </p:nvSpPr>
        <p:spPr>
          <a:xfrm xmlns:a="http://schemas.openxmlformats.org/drawingml/2006/main">
            <a:off x="7877175" y="3552825"/>
            <a:ext cx="16287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Top memories</a:t>
            </a:r>
          </a:p>
        </p:txBody>
      </p:sp>
      <p:sp>
        <p:nvSpPr>
          <p:cNvPr id="48" name="rag-context-body">
            <a:extLst xmlns:a="http://schemas.openxmlformats.org/drawingml/2006/main">
              <a:ext uri="{FF2B5EF4-FFF2-40B4-BE49-F238E27FC236}">
                <a16:creationId xmlns:a16="http://schemas.microsoft.com/office/drawing/2014/main" id="{A075BE9E-B87A-4F63-8DBA-9822BAD2DB67}"/>
              </a:ext>
            </a:extLst>
          </p:cNvPr>
          <p:cNvSpPr>
            <a:spLocks xmlns:a="http://schemas.openxmlformats.org/drawingml/2006/main" noGrp="1"/>
          </p:cNvSpPr>
          <p:nvPr/>
        </p:nvSpPr>
        <p:spPr>
          <a:xfrm xmlns:a="http://schemas.openxmlformats.org/drawingml/2006/main">
            <a:off x="7877175" y="3886200"/>
            <a:ext cx="16287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At most 6; weak matches removed</a:t>
            </a:r>
          </a:p>
        </p:txBody>
      </p:sp>
      <p:sp>
        <p:nvSpPr>
          <p:cNvPr id="49" name="rag-llm2-box">
            <a:extLst xmlns:a="http://schemas.openxmlformats.org/drawingml/2006/main">
              <a:ext uri="{FF2B5EF4-FFF2-40B4-BE49-F238E27FC236}">
                <a16:creationId xmlns:a16="http://schemas.microsoft.com/office/drawing/2014/main" id="{CB786921-6E31-4E95-B088-E81698E3AEA4}"/>
              </a:ext>
            </a:extLst>
          </p:cNvPr>
          <p:cNvSpPr>
            <a:spLocks xmlns:a="http://schemas.openxmlformats.org/drawingml/2006/main" noGrp="1"/>
          </p:cNvSpPr>
          <p:nvPr/>
        </p:nvSpPr>
        <p:spPr>
          <a:xfrm xmlns:a="http://schemas.openxmlformats.org/drawingml/2006/main">
            <a:off x="10096500" y="3429000"/>
            <a:ext cx="1409700" cy="1066800"/>
          </a:xfrm>
          <a:prstGeom xmlns:a="http://schemas.openxmlformats.org/drawingml/2006/main" prst="roundRect">
            <a:avLst>
              <a:gd name="adj" fmla="val 7143"/>
            </a:avLst>
          </a:prstGeom>
          <a:solidFill xmlns:a="http://schemas.openxmlformats.org/drawingml/2006/main">
            <a:srgbClr val="F2F7FF"/>
          </a:solidFill>
          <a:ln xmlns:a="http://schemas.openxmlformats.org/drawingml/2006/main" w="14288">
            <a:solidFill>
              <a:srgbClr val="292929"/>
            </a:solidFill>
            <a:prstDash val="solid"/>
          </a:ln>
        </p:spPr>
      </p:sp>
      <p:sp>
        <p:nvSpPr>
          <p:cNvPr id="50" name="rag-llm2-accent">
            <a:extLst xmlns:a="http://schemas.openxmlformats.org/drawingml/2006/main">
              <a:ext uri="{FF2B5EF4-FFF2-40B4-BE49-F238E27FC236}">
                <a16:creationId xmlns:a16="http://schemas.microsoft.com/office/drawing/2014/main" id="{FA151F47-A6A7-4BB4-9DBE-9C0B65AC332D}"/>
              </a:ext>
            </a:extLst>
          </p:cNvPr>
          <p:cNvSpPr>
            <a:spLocks xmlns:a="http://schemas.openxmlformats.org/drawingml/2006/main" noGrp="1"/>
          </p:cNvSpPr>
          <p:nvPr/>
        </p:nvSpPr>
        <p:spPr>
          <a:xfrm xmlns:a="http://schemas.openxmlformats.org/drawingml/2006/main">
            <a:off x="10096500" y="3429000"/>
            <a:ext cx="76200" cy="106680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51" name="rag-llm2-head">
            <a:extLst xmlns:a="http://schemas.openxmlformats.org/drawingml/2006/main">
              <a:ext uri="{FF2B5EF4-FFF2-40B4-BE49-F238E27FC236}">
                <a16:creationId xmlns:a16="http://schemas.microsoft.com/office/drawing/2014/main" id="{00061960-E5E2-4169-B28B-975D0F9E4B6D}"/>
              </a:ext>
            </a:extLst>
          </p:cNvPr>
          <p:cNvSpPr>
            <a:spLocks xmlns:a="http://schemas.openxmlformats.org/drawingml/2006/main" noGrp="1"/>
          </p:cNvSpPr>
          <p:nvPr/>
        </p:nvSpPr>
        <p:spPr>
          <a:xfrm xmlns:a="http://schemas.openxmlformats.org/drawingml/2006/main">
            <a:off x="10306050" y="3552825"/>
            <a:ext cx="1085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Final LLM</a:t>
            </a:r>
          </a:p>
        </p:txBody>
      </p:sp>
      <p:sp>
        <p:nvSpPr>
          <p:cNvPr id="52" name="rag-llm2-body">
            <a:extLst xmlns:a="http://schemas.openxmlformats.org/drawingml/2006/main">
              <a:ext uri="{FF2B5EF4-FFF2-40B4-BE49-F238E27FC236}">
                <a16:creationId xmlns:a16="http://schemas.microsoft.com/office/drawing/2014/main" id="{77F5598F-FCFD-48F8-BF24-B876DFEE958C}"/>
              </a:ext>
            </a:extLst>
          </p:cNvPr>
          <p:cNvSpPr>
            <a:spLocks xmlns:a="http://schemas.openxmlformats.org/drawingml/2006/main" noGrp="1"/>
          </p:cNvSpPr>
          <p:nvPr/>
        </p:nvSpPr>
        <p:spPr>
          <a:xfrm xmlns:a="http://schemas.openxmlformats.org/drawingml/2006/main">
            <a:off x="10306050" y="3886200"/>
            <a:ext cx="1085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Grounded answer</a:t>
            </a:r>
          </a:p>
        </p:txBody>
      </p:sp>
      <p:sp>
        <p:nvSpPr>
          <p:cNvPr id="53" name="rag-formula">
            <a:extLst xmlns:a="http://schemas.openxmlformats.org/drawingml/2006/main">
              <a:ext uri="{FF2B5EF4-FFF2-40B4-BE49-F238E27FC236}">
                <a16:creationId xmlns:a16="http://schemas.microsoft.com/office/drawing/2014/main" id="{0A1117EE-F1B3-41B6-9DAB-83E17EE622BC}"/>
              </a:ext>
            </a:extLst>
          </p:cNvPr>
          <p:cNvSpPr>
            <a:spLocks xmlns:a="http://schemas.openxmlformats.org/drawingml/2006/main" noGrp="1"/>
          </p:cNvSpPr>
          <p:nvPr/>
        </p:nvSpPr>
        <p:spPr>
          <a:xfrm xmlns:a="http://schemas.openxmlformats.org/drawingml/2006/main">
            <a:off x="419100" y="4953000"/>
            <a:ext cx="11087100" cy="1066800"/>
          </a:xfrm>
          <a:prstGeom xmlns:a="http://schemas.openxmlformats.org/drawingml/2006/main" prst="rect">
            <a:avLst/>
          </a:prstGeom>
          <a:solidFill xmlns:a="http://schemas.openxmlformats.org/drawingml/2006/main">
            <a:srgbClr val="F0EEE8"/>
          </a:solidFill>
          <a:ln xmlns:a="http://schemas.openxmlformats.org/drawingml/2006/main" w="14288">
            <a:solidFill>
              <a:srgbClr val="F0EEE8"/>
            </a:solidFill>
            <a:prstDash val="solid"/>
          </a:ln>
        </p:spPr>
      </p:sp>
      <p:sp>
        <p:nvSpPr>
          <p:cNvPr id="54" name="rag-formula-head">
            <a:extLst xmlns:a="http://schemas.openxmlformats.org/drawingml/2006/main">
              <a:ext uri="{FF2B5EF4-FFF2-40B4-BE49-F238E27FC236}">
                <a16:creationId xmlns:a16="http://schemas.microsoft.com/office/drawing/2014/main" id="{39A561BA-56E3-4C62-B522-856A76312D45}"/>
              </a:ext>
            </a:extLst>
          </p:cNvPr>
          <p:cNvSpPr>
            <a:spLocks xmlns:a="http://schemas.openxmlformats.org/drawingml/2006/main" noGrp="1"/>
          </p:cNvSpPr>
          <p:nvPr/>
        </p:nvSpPr>
        <p:spPr>
          <a:xfrm xmlns:a="http://schemas.openxmlformats.org/drawingml/2006/main">
            <a:off x="685800" y="50673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3478F6"/>
                </a:solidFill>
                <a:latin typeface="Arial"/>
                <a:ea typeface="Arial"/>
                <a:cs typeface="Arial"/>
              </a:defRPr>
            </a:pPr>
            <a:r>
              <a:rPr sz="1500" b="1">
                <a:solidFill>
                  <a:srgbClr val="3478F6"/>
                </a:solidFill>
                <a:latin typeface="Arial"/>
                <a:ea typeface="Arial"/>
                <a:cs typeface="Arial"/>
              </a:rPr>
              <a:t>The backend is the safety boundary</a:t>
            </a:r>
          </a:p>
        </p:txBody>
      </p:sp>
      <p:sp>
        <p:nvSpPr>
          <p:cNvPr id="55" name="rag-formula-text">
            <a:extLst xmlns:a="http://schemas.openxmlformats.org/drawingml/2006/main">
              <a:ext uri="{FF2B5EF4-FFF2-40B4-BE49-F238E27FC236}">
                <a16:creationId xmlns:a16="http://schemas.microsoft.com/office/drawing/2014/main" id="{5E7FB373-35D2-44DF-BF9E-EF6FA903FDE6}"/>
              </a:ext>
            </a:extLst>
          </p:cNvPr>
          <p:cNvSpPr>
            <a:spLocks xmlns:a="http://schemas.openxmlformats.org/drawingml/2006/main" noGrp="1"/>
          </p:cNvSpPr>
          <p:nvPr/>
        </p:nvSpPr>
        <p:spPr>
          <a:xfrm xmlns:a="http://schemas.openxmlformats.org/drawingml/2006/main">
            <a:off x="685800" y="5381625"/>
            <a:ext cx="1055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211"/>
          </a:bodyPr>
          <a:lstStyle xmlns:a="http://schemas.openxmlformats.org/drawingml/2006/main"/>
          <a:p xmlns:a="http://schemas.openxmlformats.org/drawingml/2006/main">
            <a:pPr algn="l">
              <a:defRPr sz="1425" b="0">
                <a:solidFill>
                  <a:srgbClr val="171717"/>
                </a:solidFill>
                <a:latin typeface="Arial"/>
                <a:ea typeface="Arial"/>
                <a:cs typeface="Arial"/>
              </a:defRPr>
            </a:pPr>
            <a:r>
              <a:rPr sz="1425" b="0">
                <a:solidFill>
                  <a:srgbClr val="171717"/>
                </a:solidFill>
                <a:latin typeface="Arial"/>
                <a:ea typeface="Arial"/>
                <a:cs typeface="Arial"/>
              </a:rPr>
              <a:t>Before saving: required fields + exactly 768 embedding values. Before answering: correct user only, weak matches removed, duplicates removed, maximum 6 memories.</a:t>
            </a:r>
          </a:p>
        </p:txBody>
      </p:sp>
    </p:spTree>
    <p:extLst>
      <p:ext uri="{BB962C8B-B14F-4D97-AF65-F5344CB8AC3E}">
        <p14:creationId xmlns:p14="http://schemas.microsoft.com/office/powerpoint/2010/main" val="1670118230"/>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3" name="slide-5-title">
            <a:extLst xmlns:a="http://schemas.openxmlformats.org/drawingml/2006/main">
              <a:ext uri="{FF2B5EF4-FFF2-40B4-BE49-F238E27FC236}">
                <a16:creationId xmlns:a16="http://schemas.microsoft.com/office/drawing/2014/main" id="{41124C77-7B92-47BA-A746-83D2E6855F80}"/>
              </a:ext>
            </a:extLst>
          </p:cNvPr>
          <p:cNvSpPr>
            <a:spLocks xmlns:a="http://schemas.openxmlformats.org/drawingml/2006/main" noGrp="1"/>
          </p:cNvSpPr>
          <p:nvPr/>
        </p:nvSpPr>
        <p:spPr>
          <a:xfrm xmlns:a="http://schemas.openxmlformats.org/drawingml/2006/main">
            <a:off x="400050" y="26670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71717"/>
                </a:solidFill>
                <a:latin typeface="Arial"/>
                <a:ea typeface="Arial"/>
                <a:cs typeface="Arial"/>
              </a:defRPr>
            </a:pPr>
            <a:r>
              <a:rPr sz="2850" b="1">
                <a:solidFill>
                  <a:srgbClr val="171717"/>
                </a:solidFill>
                <a:latin typeface="Arial"/>
                <a:ea typeface="Arial"/>
                <a:cs typeface="Arial"/>
              </a:rPr>
              <a:t>Future scope: richer inputs, faster retrieval, more control</a:t>
            </a:r>
          </a:p>
        </p:txBody>
      </p:sp>
      <p:sp>
        <p:nvSpPr>
          <p:cNvPr id="2" name="slide-5-number">
            <a:extLst xmlns:a="http://schemas.openxmlformats.org/drawingml/2006/main">
              <a:ext uri="{FF2B5EF4-FFF2-40B4-BE49-F238E27FC236}">
                <a16:creationId xmlns:a16="http://schemas.microsoft.com/office/drawing/2014/main" id="{8415A595-5036-4C86-A2FB-1A871E7337BF}"/>
              </a:ext>
            </a:extLst>
          </p:cNvPr>
          <p:cNvSpPr>
            <a:spLocks xmlns:a="http://schemas.openxmlformats.org/drawingml/2006/main" noGrp="1"/>
          </p:cNvSpPr>
          <p:nvPr/>
        </p:nvSpPr>
        <p:spPr>
          <a:xfrm xmlns:a="http://schemas.openxmlformats.org/drawingml/2006/main">
            <a:off x="11315700" y="628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46464"/>
                </a:solidFill>
                <a:latin typeface="Arial"/>
                <a:ea typeface="Arial"/>
                <a:cs typeface="Arial"/>
              </a:defRPr>
            </a:pPr>
            <a:r>
              <a:rPr sz="975" b="0">
                <a:solidFill>
                  <a:srgbClr val="646464"/>
                </a:solidFill>
                <a:latin typeface="Arial"/>
                <a:ea typeface="Arial"/>
                <a:cs typeface="Arial"/>
              </a:rPr>
              <a:t>05</a:t>
            </a:r>
          </a:p>
        </p:txBody>
      </p:sp>
      <p:sp>
        <p:nvSpPr>
          <p:cNvPr id="3" name="future-intro">
            <a:extLst xmlns:a="http://schemas.openxmlformats.org/drawingml/2006/main">
              <a:ext uri="{FF2B5EF4-FFF2-40B4-BE49-F238E27FC236}">
                <a16:creationId xmlns:a16="http://schemas.microsoft.com/office/drawing/2014/main" id="{8DC7A027-C4D3-41BA-B2D4-C10AF96CDE9F}"/>
              </a:ext>
            </a:extLst>
          </p:cNvPr>
          <p:cNvSpPr>
            <a:spLocks xmlns:a="http://schemas.openxmlformats.org/drawingml/2006/main" noGrp="1"/>
          </p:cNvSpPr>
          <p:nvPr/>
        </p:nvSpPr>
        <p:spPr>
          <a:xfrm xmlns:a="http://schemas.openxmlformats.org/drawingml/2006/main">
            <a:off x="419100" y="971550"/>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p xmlns:a="http://schemas.openxmlformats.org/drawingml/2006/main">
            <a:pPr algn="l">
              <a:defRPr sz="1500" b="0">
                <a:solidFill>
                  <a:srgbClr val="646464"/>
                </a:solidFill>
                <a:latin typeface="Arial"/>
                <a:ea typeface="Arial"/>
                <a:cs typeface="Arial"/>
              </a:defRPr>
            </a:pPr>
            <a:r>
              <a:rPr sz="1500" b="0">
                <a:solidFill>
                  <a:srgbClr val="646464"/>
                </a:solidFill>
                <a:latin typeface="Arial"/>
                <a:ea typeface="Arial"/>
                <a:cs typeface="Arial"/>
              </a:rPr>
              <a:t>Add capability in stages without changing the core architecture</a:t>
            </a:r>
          </a:p>
        </p:txBody>
      </p:sp>
      <p:sp>
        <p:nvSpPr>
          <p:cNvPr id="4" name="future-1-box">
            <a:extLst xmlns:a="http://schemas.openxmlformats.org/drawingml/2006/main">
              <a:ext uri="{FF2B5EF4-FFF2-40B4-BE49-F238E27FC236}">
                <a16:creationId xmlns:a16="http://schemas.microsoft.com/office/drawing/2014/main" id="{082D42A6-D825-47A3-BC13-D8E14E86E622}"/>
              </a:ext>
            </a:extLst>
          </p:cNvPr>
          <p:cNvSpPr>
            <a:spLocks xmlns:a="http://schemas.openxmlformats.org/drawingml/2006/main" noGrp="1"/>
          </p:cNvSpPr>
          <p:nvPr/>
        </p:nvSpPr>
        <p:spPr>
          <a:xfrm xmlns:a="http://schemas.openxmlformats.org/drawingml/2006/main">
            <a:off x="419100" y="1638300"/>
            <a:ext cx="2571750" cy="2381250"/>
          </a:xfrm>
          <a:prstGeom xmlns:a="http://schemas.openxmlformats.org/drawingml/2006/main" prst="roundRect">
            <a:avLst>
              <a:gd name="adj" fmla="val 3200"/>
            </a:avLst>
          </a:prstGeom>
          <a:solidFill xmlns:a="http://schemas.openxmlformats.org/drawingml/2006/main">
            <a:srgbClr val="F2F7FF"/>
          </a:solidFill>
          <a:ln xmlns:a="http://schemas.openxmlformats.org/drawingml/2006/main" w="14288">
            <a:solidFill>
              <a:srgbClr val="292929"/>
            </a:solidFill>
            <a:prstDash val="solid"/>
          </a:ln>
        </p:spPr>
      </p:sp>
      <p:sp>
        <p:nvSpPr>
          <p:cNvPr id="5" name="future-1-accent">
            <a:extLst xmlns:a="http://schemas.openxmlformats.org/drawingml/2006/main">
              <a:ext uri="{FF2B5EF4-FFF2-40B4-BE49-F238E27FC236}">
                <a16:creationId xmlns:a16="http://schemas.microsoft.com/office/drawing/2014/main" id="{DFB55DB8-68C6-40F4-9927-3F4C2FE54E80}"/>
              </a:ext>
            </a:extLst>
          </p:cNvPr>
          <p:cNvSpPr>
            <a:spLocks xmlns:a="http://schemas.openxmlformats.org/drawingml/2006/main" noGrp="1"/>
          </p:cNvSpPr>
          <p:nvPr/>
        </p:nvSpPr>
        <p:spPr>
          <a:xfrm xmlns:a="http://schemas.openxmlformats.org/drawingml/2006/main">
            <a:off x="419100" y="1638300"/>
            <a:ext cx="76200" cy="2381250"/>
          </a:xfrm>
          <a:prstGeom xmlns:a="http://schemas.openxmlformats.org/drawingml/2006/main" prst="rect">
            <a:avLst/>
          </a:prstGeom>
          <a:solidFill xmlns:a="http://schemas.openxmlformats.org/drawingml/2006/main">
            <a:srgbClr val="3478F6"/>
          </a:solidFill>
          <a:ln xmlns:a="http://schemas.openxmlformats.org/drawingml/2006/main" w="0">
            <a:solidFill>
              <a:srgbClr val="3478F6"/>
            </a:solidFill>
            <a:prstDash val="solid"/>
          </a:ln>
        </p:spPr>
      </p:sp>
      <p:sp>
        <p:nvSpPr>
          <p:cNvPr id="6" name="future-1-head">
            <a:extLst xmlns:a="http://schemas.openxmlformats.org/drawingml/2006/main">
              <a:ext uri="{FF2B5EF4-FFF2-40B4-BE49-F238E27FC236}">
                <a16:creationId xmlns:a16="http://schemas.microsoft.com/office/drawing/2014/main" id="{ACC0253E-2832-4768-985C-2B75F8D811F9}"/>
              </a:ext>
            </a:extLst>
          </p:cNvPr>
          <p:cNvSpPr>
            <a:spLocks xmlns:a="http://schemas.openxmlformats.org/drawingml/2006/main" noGrp="1"/>
          </p:cNvSpPr>
          <p:nvPr/>
        </p:nvSpPr>
        <p:spPr>
          <a:xfrm xmlns:a="http://schemas.openxmlformats.org/drawingml/2006/main">
            <a:off x="628650" y="1762125"/>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1  Multimodal analysis</a:t>
            </a:r>
          </a:p>
        </p:txBody>
      </p:sp>
      <p:sp>
        <p:nvSpPr>
          <p:cNvPr id="7" name="future-1-body">
            <a:extLst xmlns:a="http://schemas.openxmlformats.org/drawingml/2006/main">
              <a:ext uri="{FF2B5EF4-FFF2-40B4-BE49-F238E27FC236}">
                <a16:creationId xmlns:a16="http://schemas.microsoft.com/office/drawing/2014/main" id="{BD5C10F3-2AC5-44F6-B653-3C85205281DB}"/>
              </a:ext>
            </a:extLst>
          </p:cNvPr>
          <p:cNvSpPr>
            <a:spLocks xmlns:a="http://schemas.openxmlformats.org/drawingml/2006/main" noGrp="1"/>
          </p:cNvSpPr>
          <p:nvPr/>
        </p:nvSpPr>
        <p:spPr>
          <a:xfrm xmlns:a="http://schemas.openxmlformats.org/drawingml/2006/main">
            <a:off x="628650" y="2095500"/>
            <a:ext cx="22479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Transcribe audio</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Analyze selected video frames</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Read on-screen text</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Combine speech, image and caption</a:t>
            </a:r>
          </a:p>
        </p:txBody>
      </p:sp>
      <p:sp>
        <p:nvSpPr>
          <p:cNvPr id="8" name="future-2-box">
            <a:extLst xmlns:a="http://schemas.openxmlformats.org/drawingml/2006/main">
              <a:ext uri="{FF2B5EF4-FFF2-40B4-BE49-F238E27FC236}">
                <a16:creationId xmlns:a16="http://schemas.microsoft.com/office/drawing/2014/main" id="{46D8E882-ED00-4664-9E53-C1F63C33D182}"/>
              </a:ext>
            </a:extLst>
          </p:cNvPr>
          <p:cNvSpPr>
            <a:spLocks xmlns:a="http://schemas.openxmlformats.org/drawingml/2006/main" noGrp="1"/>
          </p:cNvSpPr>
          <p:nvPr/>
        </p:nvSpPr>
        <p:spPr>
          <a:xfrm xmlns:a="http://schemas.openxmlformats.org/drawingml/2006/main">
            <a:off x="3219450" y="1638300"/>
            <a:ext cx="2571750" cy="2381250"/>
          </a:xfrm>
          <a:prstGeom xmlns:a="http://schemas.openxmlformats.org/drawingml/2006/main" prst="roundRect">
            <a:avLst>
              <a:gd name="adj" fmla="val 3200"/>
            </a:avLst>
          </a:prstGeom>
          <a:solidFill xmlns:a="http://schemas.openxmlformats.org/drawingml/2006/main">
            <a:srgbClr val="FFFDF8"/>
          </a:solidFill>
          <a:ln xmlns:a="http://schemas.openxmlformats.org/drawingml/2006/main" w="14288">
            <a:solidFill>
              <a:srgbClr val="292929"/>
            </a:solidFill>
            <a:prstDash val="solid"/>
          </a:ln>
        </p:spPr>
      </p:sp>
      <p:sp>
        <p:nvSpPr>
          <p:cNvPr id="9" name="future-2-accent">
            <a:extLst xmlns:a="http://schemas.openxmlformats.org/drawingml/2006/main">
              <a:ext uri="{FF2B5EF4-FFF2-40B4-BE49-F238E27FC236}">
                <a16:creationId xmlns:a16="http://schemas.microsoft.com/office/drawing/2014/main" id="{ED935ED2-2C41-4653-9EBF-9459F077D728}"/>
              </a:ext>
            </a:extLst>
          </p:cNvPr>
          <p:cNvSpPr>
            <a:spLocks xmlns:a="http://schemas.openxmlformats.org/drawingml/2006/main" noGrp="1"/>
          </p:cNvSpPr>
          <p:nvPr/>
        </p:nvSpPr>
        <p:spPr>
          <a:xfrm xmlns:a="http://schemas.openxmlformats.org/drawingml/2006/main">
            <a:off x="3219450" y="1638300"/>
            <a:ext cx="76200" cy="2381250"/>
          </a:xfrm>
          <a:prstGeom xmlns:a="http://schemas.openxmlformats.org/drawingml/2006/main" prst="rect">
            <a:avLst/>
          </a:prstGeom>
          <a:solidFill xmlns:a="http://schemas.openxmlformats.org/drawingml/2006/main">
            <a:srgbClr val="E4A11B"/>
          </a:solidFill>
          <a:ln xmlns:a="http://schemas.openxmlformats.org/drawingml/2006/main" w="0">
            <a:solidFill>
              <a:srgbClr val="E4A11B"/>
            </a:solidFill>
            <a:prstDash val="solid"/>
          </a:ln>
        </p:spPr>
      </p:sp>
      <p:sp>
        <p:nvSpPr>
          <p:cNvPr id="10" name="future-2-head">
            <a:extLst xmlns:a="http://schemas.openxmlformats.org/drawingml/2006/main">
              <a:ext uri="{FF2B5EF4-FFF2-40B4-BE49-F238E27FC236}">
                <a16:creationId xmlns:a16="http://schemas.microsoft.com/office/drawing/2014/main" id="{E6FFD4BB-E11B-4161-A0E0-263D1952A971}"/>
              </a:ext>
            </a:extLst>
          </p:cNvPr>
          <p:cNvSpPr>
            <a:spLocks xmlns:a="http://schemas.openxmlformats.org/drawingml/2006/main" noGrp="1"/>
          </p:cNvSpPr>
          <p:nvPr/>
        </p:nvSpPr>
        <p:spPr>
          <a:xfrm xmlns:a="http://schemas.openxmlformats.org/drawingml/2006/main">
            <a:off x="3429000" y="1762125"/>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2  More sources</a:t>
            </a:r>
          </a:p>
        </p:txBody>
      </p:sp>
      <p:sp>
        <p:nvSpPr>
          <p:cNvPr id="11" name="future-2-body">
            <a:extLst xmlns:a="http://schemas.openxmlformats.org/drawingml/2006/main">
              <a:ext uri="{FF2B5EF4-FFF2-40B4-BE49-F238E27FC236}">
                <a16:creationId xmlns:a16="http://schemas.microsoft.com/office/drawing/2014/main" id="{8ABD370A-487C-4489-AF72-6E1351D98BC7}"/>
              </a:ext>
            </a:extLst>
          </p:cNvPr>
          <p:cNvSpPr>
            <a:spLocks xmlns:a="http://schemas.openxmlformats.org/drawingml/2006/main" noGrp="1"/>
          </p:cNvSpPr>
          <p:nvPr/>
        </p:nvSpPr>
        <p:spPr>
          <a:xfrm xmlns:a="http://schemas.openxmlformats.org/drawingml/2006/main">
            <a:off x="3429000" y="2095500"/>
            <a:ext cx="22479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Approved social integrations</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Documents and podcasts</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Private sources with consent</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Duplicate and source-quality checks</a:t>
            </a:r>
          </a:p>
        </p:txBody>
      </p:sp>
      <p:sp>
        <p:nvSpPr>
          <p:cNvPr id="12" name="future-3-box">
            <a:extLst xmlns:a="http://schemas.openxmlformats.org/drawingml/2006/main">
              <a:ext uri="{FF2B5EF4-FFF2-40B4-BE49-F238E27FC236}">
                <a16:creationId xmlns:a16="http://schemas.microsoft.com/office/drawing/2014/main" id="{D85B0150-1A42-4E96-AE88-B037C4855DBC}"/>
              </a:ext>
            </a:extLst>
          </p:cNvPr>
          <p:cNvSpPr>
            <a:spLocks xmlns:a="http://schemas.openxmlformats.org/drawingml/2006/main" noGrp="1"/>
          </p:cNvSpPr>
          <p:nvPr/>
        </p:nvSpPr>
        <p:spPr>
          <a:xfrm xmlns:a="http://schemas.openxmlformats.org/drawingml/2006/main">
            <a:off x="6019800" y="1638300"/>
            <a:ext cx="2571750" cy="2381250"/>
          </a:xfrm>
          <a:prstGeom xmlns:a="http://schemas.openxmlformats.org/drawingml/2006/main" prst="roundRect">
            <a:avLst>
              <a:gd name="adj" fmla="val 3200"/>
            </a:avLst>
          </a:prstGeom>
          <a:solidFill xmlns:a="http://schemas.openxmlformats.org/drawingml/2006/main">
            <a:srgbClr val="F2F7FF"/>
          </a:solidFill>
          <a:ln xmlns:a="http://schemas.openxmlformats.org/drawingml/2006/main" w="14288">
            <a:solidFill>
              <a:srgbClr val="292929"/>
            </a:solidFill>
            <a:prstDash val="solid"/>
          </a:ln>
        </p:spPr>
      </p:sp>
      <p:sp>
        <p:nvSpPr>
          <p:cNvPr id="13" name="future-3-accent">
            <a:extLst xmlns:a="http://schemas.openxmlformats.org/drawingml/2006/main">
              <a:ext uri="{FF2B5EF4-FFF2-40B4-BE49-F238E27FC236}">
                <a16:creationId xmlns:a16="http://schemas.microsoft.com/office/drawing/2014/main" id="{918F8B8A-02EB-4CFE-AA76-56DE57F07CDD}"/>
              </a:ext>
            </a:extLst>
          </p:cNvPr>
          <p:cNvSpPr>
            <a:spLocks xmlns:a="http://schemas.openxmlformats.org/drawingml/2006/main" noGrp="1"/>
          </p:cNvSpPr>
          <p:nvPr/>
        </p:nvSpPr>
        <p:spPr>
          <a:xfrm xmlns:a="http://schemas.openxmlformats.org/drawingml/2006/main">
            <a:off x="6019800" y="1638300"/>
            <a:ext cx="76200" cy="2381250"/>
          </a:xfrm>
          <a:prstGeom xmlns:a="http://schemas.openxmlformats.org/drawingml/2006/main" prst="rect">
            <a:avLst/>
          </a:prstGeom>
          <a:solidFill xmlns:a="http://schemas.openxmlformats.org/drawingml/2006/main">
            <a:srgbClr val="2C8A62"/>
          </a:solidFill>
          <a:ln xmlns:a="http://schemas.openxmlformats.org/drawingml/2006/main" w="0">
            <a:solidFill>
              <a:srgbClr val="2C8A62"/>
            </a:solidFill>
            <a:prstDash val="solid"/>
          </a:ln>
        </p:spPr>
      </p:sp>
      <p:sp>
        <p:nvSpPr>
          <p:cNvPr id="14" name="future-3-head">
            <a:extLst xmlns:a="http://schemas.openxmlformats.org/drawingml/2006/main">
              <a:ext uri="{FF2B5EF4-FFF2-40B4-BE49-F238E27FC236}">
                <a16:creationId xmlns:a16="http://schemas.microsoft.com/office/drawing/2014/main" id="{09EF555D-460A-45E2-8195-9796825D1360}"/>
              </a:ext>
            </a:extLst>
          </p:cNvPr>
          <p:cNvSpPr>
            <a:spLocks xmlns:a="http://schemas.openxmlformats.org/drawingml/2006/main" noGrp="1"/>
          </p:cNvSpPr>
          <p:nvPr/>
        </p:nvSpPr>
        <p:spPr>
          <a:xfrm xmlns:a="http://schemas.openxmlformats.org/drawingml/2006/main">
            <a:off x="6229350" y="1762125"/>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3  Scale retrieval</a:t>
            </a:r>
          </a:p>
        </p:txBody>
      </p:sp>
      <p:sp>
        <p:nvSpPr>
          <p:cNvPr id="15" name="future-3-body">
            <a:extLst xmlns:a="http://schemas.openxmlformats.org/drawingml/2006/main">
              <a:ext uri="{FF2B5EF4-FFF2-40B4-BE49-F238E27FC236}">
                <a16:creationId xmlns:a16="http://schemas.microsoft.com/office/drawing/2014/main" id="{F23EA4BE-5D72-4409-94FC-26799EB1223D}"/>
              </a:ext>
            </a:extLst>
          </p:cNvPr>
          <p:cNvSpPr>
            <a:spLocks xmlns:a="http://schemas.openxmlformats.org/drawingml/2006/main" noGrp="1"/>
          </p:cNvSpPr>
          <p:nvPr/>
        </p:nvSpPr>
        <p:spPr>
          <a:xfrm xmlns:a="http://schemas.openxmlformats.org/drawingml/2006/main">
            <a:off x="6229350" y="2095500"/>
            <a:ext cx="22479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Async processing and retries</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pgvector ANN search</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Reranking and caching</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Re-embed when models improve</a:t>
            </a:r>
          </a:p>
        </p:txBody>
      </p:sp>
      <p:sp>
        <p:nvSpPr>
          <p:cNvPr id="16" name="future-4-box">
            <a:extLst xmlns:a="http://schemas.openxmlformats.org/drawingml/2006/main">
              <a:ext uri="{FF2B5EF4-FFF2-40B4-BE49-F238E27FC236}">
                <a16:creationId xmlns:a16="http://schemas.microsoft.com/office/drawing/2014/main" id="{3138197F-AC4D-4D3D-8D70-5C25DC3DA762}"/>
              </a:ext>
            </a:extLst>
          </p:cNvPr>
          <p:cNvSpPr>
            <a:spLocks xmlns:a="http://schemas.openxmlformats.org/drawingml/2006/main" noGrp="1"/>
          </p:cNvSpPr>
          <p:nvPr/>
        </p:nvSpPr>
        <p:spPr>
          <a:xfrm xmlns:a="http://schemas.openxmlformats.org/drawingml/2006/main">
            <a:off x="8820150" y="1638300"/>
            <a:ext cx="2686050" cy="2381250"/>
          </a:xfrm>
          <a:prstGeom xmlns:a="http://schemas.openxmlformats.org/drawingml/2006/main" prst="roundRect">
            <a:avLst>
              <a:gd name="adj" fmla="val 3200"/>
            </a:avLst>
          </a:prstGeom>
          <a:solidFill xmlns:a="http://schemas.openxmlformats.org/drawingml/2006/main">
            <a:srgbClr val="FFFDF8"/>
          </a:solidFill>
          <a:ln xmlns:a="http://schemas.openxmlformats.org/drawingml/2006/main" w="14288">
            <a:solidFill>
              <a:srgbClr val="292929"/>
            </a:solidFill>
            <a:prstDash val="solid"/>
          </a:ln>
        </p:spPr>
      </p:sp>
      <p:sp>
        <p:nvSpPr>
          <p:cNvPr id="17" name="future-4-accent">
            <a:extLst xmlns:a="http://schemas.openxmlformats.org/drawingml/2006/main">
              <a:ext uri="{FF2B5EF4-FFF2-40B4-BE49-F238E27FC236}">
                <a16:creationId xmlns:a16="http://schemas.microsoft.com/office/drawing/2014/main" id="{CD363306-8456-4093-8BBA-84CF482E40C2}"/>
              </a:ext>
            </a:extLst>
          </p:cNvPr>
          <p:cNvSpPr>
            <a:spLocks xmlns:a="http://schemas.openxmlformats.org/drawingml/2006/main" noGrp="1"/>
          </p:cNvSpPr>
          <p:nvPr/>
        </p:nvSpPr>
        <p:spPr>
          <a:xfrm xmlns:a="http://schemas.openxmlformats.org/drawingml/2006/main">
            <a:off x="8820150" y="1638300"/>
            <a:ext cx="76200" cy="2381250"/>
          </a:xfrm>
          <a:prstGeom xmlns:a="http://schemas.openxmlformats.org/drawingml/2006/main" prst="rect">
            <a:avLst/>
          </a:prstGeom>
          <a:solidFill xmlns:a="http://schemas.openxmlformats.org/drawingml/2006/main">
            <a:srgbClr val="171717"/>
          </a:solidFill>
          <a:ln xmlns:a="http://schemas.openxmlformats.org/drawingml/2006/main" w="0">
            <a:solidFill>
              <a:srgbClr val="171717"/>
            </a:solidFill>
            <a:prstDash val="solid"/>
          </a:ln>
        </p:spPr>
      </p:sp>
      <p:sp>
        <p:nvSpPr>
          <p:cNvPr id="18" name="future-4-head">
            <a:extLst xmlns:a="http://schemas.openxmlformats.org/drawingml/2006/main">
              <a:ext uri="{FF2B5EF4-FFF2-40B4-BE49-F238E27FC236}">
                <a16:creationId xmlns:a16="http://schemas.microsoft.com/office/drawing/2014/main" id="{151CF56B-35A1-41A6-812B-E315B811F9B3}"/>
              </a:ext>
            </a:extLst>
          </p:cNvPr>
          <p:cNvSpPr>
            <a:spLocks xmlns:a="http://schemas.openxmlformats.org/drawingml/2006/main" noGrp="1"/>
          </p:cNvSpPr>
          <p:nvPr/>
        </p:nvSpPr>
        <p:spPr>
          <a:xfrm xmlns:a="http://schemas.openxmlformats.org/drawingml/2006/main">
            <a:off x="9029700" y="1762125"/>
            <a:ext cx="236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171717"/>
                </a:solidFill>
                <a:latin typeface="Arial"/>
                <a:ea typeface="Arial"/>
                <a:cs typeface="Arial"/>
              </a:defRPr>
            </a:pPr>
            <a:r>
              <a:rPr sz="1575" b="1">
                <a:solidFill>
                  <a:srgbClr val="171717"/>
                </a:solidFill>
                <a:latin typeface="Arial"/>
                <a:ea typeface="Arial"/>
                <a:cs typeface="Arial"/>
              </a:rPr>
              <a:t>4  User control</a:t>
            </a:r>
          </a:p>
        </p:txBody>
      </p:sp>
      <p:sp>
        <p:nvSpPr>
          <p:cNvPr id="19" name="future-4-body">
            <a:extLst xmlns:a="http://schemas.openxmlformats.org/drawingml/2006/main">
              <a:ext uri="{FF2B5EF4-FFF2-40B4-BE49-F238E27FC236}">
                <a16:creationId xmlns:a16="http://schemas.microsoft.com/office/drawing/2014/main" id="{9C8D01C4-45B3-4E17-BA3C-6E246C82DE02}"/>
              </a:ext>
            </a:extLst>
          </p:cNvPr>
          <p:cNvSpPr>
            <a:spLocks xmlns:a="http://schemas.openxmlformats.org/drawingml/2006/main" noGrp="1"/>
          </p:cNvSpPr>
          <p:nvPr/>
        </p:nvSpPr>
        <p:spPr>
          <a:xfrm xmlns:a="http://schemas.openxmlformats.org/drawingml/2006/main">
            <a:off x="9029700" y="2095500"/>
            <a:ext cx="2362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Edit AI-generated tags</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Feedback on recommendations</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Explain why each source was used</a:t>
            </a:r>
          </a:p>
          <a:p xmlns:a="http://schemas.openxmlformats.org/drawingml/2006/main">
            <a:pPr algn="l">
              <a:defRPr sz="1200" b="0">
                <a:solidFill>
                  <a:srgbClr val="646464"/>
                </a:solidFill>
                <a:latin typeface="Arial"/>
                <a:ea typeface="Arial"/>
                <a:cs typeface="Arial"/>
              </a:defRPr>
            </a:pPr>
            <a:r>
              <a:rPr sz="1200" b="0">
                <a:solidFill>
                  <a:srgbClr val="646464"/>
                </a:solidFill>
                <a:latin typeface="Arial"/>
                <a:ea typeface="Arial"/>
                <a:cs typeface="Arial"/>
              </a:rPr>
              <a:t>Privacy and retention controls</a:t>
            </a:r>
          </a:p>
        </p:txBody>
      </p:sp>
      <p:sp>
        <p:nvSpPr>
          <p:cNvPr id="20" name="future-close">
            <a:extLst xmlns:a="http://schemas.openxmlformats.org/drawingml/2006/main">
              <a:ext uri="{FF2B5EF4-FFF2-40B4-BE49-F238E27FC236}">
                <a16:creationId xmlns:a16="http://schemas.microsoft.com/office/drawing/2014/main" id="{E094A7ED-3881-4EBF-94BD-5A5B6FE3B543}"/>
              </a:ext>
            </a:extLst>
          </p:cNvPr>
          <p:cNvSpPr>
            <a:spLocks xmlns:a="http://schemas.openxmlformats.org/drawingml/2006/main" noGrp="1"/>
          </p:cNvSpPr>
          <p:nvPr/>
        </p:nvSpPr>
        <p:spPr>
          <a:xfrm xmlns:a="http://schemas.openxmlformats.org/drawingml/2006/main">
            <a:off x="419100" y="4629150"/>
            <a:ext cx="11087100" cy="1066800"/>
          </a:xfrm>
          <a:prstGeom xmlns:a="http://schemas.openxmlformats.org/drawingml/2006/main" prst="rect">
            <a:avLst/>
          </a:prstGeom>
          <a:solidFill xmlns:a="http://schemas.openxmlformats.org/drawingml/2006/main">
            <a:srgbClr val="F0EEE8"/>
          </a:solidFill>
          <a:ln xmlns:a="http://schemas.openxmlformats.org/drawingml/2006/main" w="14288">
            <a:solidFill>
              <a:srgbClr val="F0EEE8"/>
            </a:solidFill>
            <a:prstDash val="solid"/>
          </a:ln>
        </p:spPr>
      </p:sp>
      <p:sp>
        <p:nvSpPr>
          <p:cNvPr id="21" name="future-close-head">
            <a:extLst xmlns:a="http://schemas.openxmlformats.org/drawingml/2006/main">
              <a:ext uri="{FF2B5EF4-FFF2-40B4-BE49-F238E27FC236}">
                <a16:creationId xmlns:a16="http://schemas.microsoft.com/office/drawing/2014/main" id="{73157A32-D98B-426F-ADD6-B838398EA908}"/>
              </a:ext>
            </a:extLst>
          </p:cNvPr>
          <p:cNvSpPr>
            <a:spLocks xmlns:a="http://schemas.openxmlformats.org/drawingml/2006/main" noGrp="1"/>
          </p:cNvSpPr>
          <p:nvPr/>
        </p:nvSpPr>
        <p:spPr>
          <a:xfrm xmlns:a="http://schemas.openxmlformats.org/drawingml/2006/main">
            <a:off x="685800" y="47625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p xmlns:a="http://schemas.openxmlformats.org/drawingml/2006/main">
            <a:pPr algn="l">
              <a:defRPr sz="1575" b="1">
                <a:solidFill>
                  <a:srgbClr val="3478F6"/>
                </a:solidFill>
                <a:latin typeface="Arial"/>
                <a:ea typeface="Arial"/>
                <a:cs typeface="Arial"/>
              </a:defRPr>
            </a:pPr>
            <a:r>
              <a:rPr sz="1575" b="1">
                <a:solidFill>
                  <a:srgbClr val="3478F6"/>
                </a:solidFill>
                <a:latin typeface="Arial"/>
                <a:ea typeface="Arial"/>
                <a:cs typeface="Arial"/>
              </a:rPr>
              <a:t>The architecture stays the same</a:t>
            </a:r>
          </a:p>
        </p:txBody>
      </p:sp>
      <p:sp>
        <p:nvSpPr>
          <p:cNvPr id="22" name="future-close-body">
            <a:extLst xmlns:a="http://schemas.openxmlformats.org/drawingml/2006/main">
              <a:ext uri="{FF2B5EF4-FFF2-40B4-BE49-F238E27FC236}">
                <a16:creationId xmlns:a16="http://schemas.microsoft.com/office/drawing/2014/main" id="{BDAEF433-655A-43FA-9D01-146674B20AFC}"/>
              </a:ext>
            </a:extLst>
          </p:cNvPr>
          <p:cNvSpPr>
            <a:spLocks xmlns:a="http://schemas.openxmlformats.org/drawingml/2006/main" noGrp="1"/>
          </p:cNvSpPr>
          <p:nvPr/>
        </p:nvSpPr>
        <p:spPr>
          <a:xfrm xmlns:a="http://schemas.openxmlformats.org/drawingml/2006/main">
            <a:off x="685800" y="5124450"/>
            <a:ext cx="1028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61"/>
          </a:bodyPr>
          <a:lstStyle xmlns:a="http://schemas.openxmlformats.org/drawingml/2006/main"/>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Capture → understand → embed → store → retrieve → generate. Future features improve each stage without breaking the trusted backend boundary.</a:t>
            </a:r>
          </a:p>
        </p:txBody>
      </p:sp>
    </p:spTree>
    <p:extLst>
      <p:ext uri="{BB962C8B-B14F-4D97-AF65-F5344CB8AC3E}">
        <p14:creationId xmlns:p14="http://schemas.microsoft.com/office/powerpoint/2010/main" val="627075955"/>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f22f8bc4166498d"/>
          <a:srcRect xmlns:a="http://schemas.openxmlformats.org/drawingml/2006/main" l="28504" t="0" r="28504" b="0"/>
          <a:stretch xmlns:a="http://schemas.openxmlformats.org/drawingml/2006/main">
            <a:fillRect l="0" t="0" r="0" b="0"/>
          </a:stretch>
        </p:blipFill>
        <p:spPr>
          <a:xfrm xmlns:a="http://schemas.openxmlformats.org/drawingml/2006/main">
            <a:off x="6953250" y="0"/>
            <a:ext cx="5238750" cy="6858000"/>
          </a:xfrm>
          <a:prstGeom xmlns:a="http://schemas.openxmlformats.org/drawingml/2006/main" prst="rect">
            <a:avLst/>
          </a:prstGeom>
        </p:spPr>
      </p:pic>
      <p:sp>
        <p:nvSpPr>
          <p:cNvPr id="2" name="qa-kicker">
            <a:extLst xmlns:a="http://schemas.openxmlformats.org/drawingml/2006/main">
              <a:ext uri="{FF2B5EF4-FFF2-40B4-BE49-F238E27FC236}">
                <a16:creationId xmlns:a16="http://schemas.microsoft.com/office/drawing/2014/main" id="{23ABD2BB-D1E8-47A0-A351-BC943B40D390}"/>
              </a:ext>
            </a:extLst>
          </p:cNvPr>
          <p:cNvSpPr>
            <a:spLocks xmlns:a="http://schemas.openxmlformats.org/drawingml/2006/main" noGrp="1"/>
          </p:cNvSpPr>
          <p:nvPr/>
        </p:nvSpPr>
        <p:spPr>
          <a:xfrm xmlns:a="http://schemas.openxmlformats.org/drawingml/2006/main">
            <a:off x="419100" y="49530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3478F6"/>
                </a:solidFill>
                <a:latin typeface="Arial"/>
                <a:ea typeface="Arial"/>
                <a:cs typeface="Arial"/>
              </a:defRPr>
            </a:pPr>
            <a:r>
              <a:rPr sz="1275" b="1">
                <a:solidFill>
                  <a:srgbClr val="3478F6"/>
                </a:solidFill>
                <a:latin typeface="Arial"/>
                <a:ea typeface="Arial"/>
                <a:cs typeface="Arial"/>
              </a:rPr>
              <a:t>IMPULSE • CREATORBRAIN</a:t>
            </a:r>
          </a:p>
        </p:txBody>
      </p:sp>
      <p:sp>
        <p:nvSpPr>
          <p:cNvPr id="3" name="qa-title">
            <a:extLst xmlns:a="http://schemas.openxmlformats.org/drawingml/2006/main">
              <a:ext uri="{FF2B5EF4-FFF2-40B4-BE49-F238E27FC236}">
                <a16:creationId xmlns:a16="http://schemas.microsoft.com/office/drawing/2014/main" id="{784B5530-5AB3-45C1-9380-8BC5A5B4D5C1}"/>
              </a:ext>
            </a:extLst>
          </p:cNvPr>
          <p:cNvSpPr>
            <a:spLocks xmlns:a="http://schemas.openxmlformats.org/drawingml/2006/main" noGrp="1"/>
          </p:cNvSpPr>
          <p:nvPr/>
        </p:nvSpPr>
        <p:spPr>
          <a:xfrm xmlns:a="http://schemas.openxmlformats.org/drawingml/2006/main">
            <a:off x="419100" y="2038350"/>
            <a:ext cx="533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171717"/>
                </a:solidFill>
                <a:latin typeface="Arial"/>
                <a:ea typeface="Arial"/>
                <a:cs typeface="Arial"/>
              </a:defRPr>
            </a:pPr>
            <a:r>
              <a:rPr sz="4350" b="1">
                <a:solidFill>
                  <a:srgbClr val="171717"/>
                </a:solidFill>
                <a:latin typeface="Arial"/>
                <a:ea typeface="Arial"/>
                <a:cs typeface="Arial"/>
              </a:rPr>
              <a:t>Questions?</a:t>
            </a:r>
          </a:p>
        </p:txBody>
      </p:sp>
      <p:sp>
        <p:nvSpPr>
          <p:cNvPr id="4" name="qa-subtitle">
            <a:extLst xmlns:a="http://schemas.openxmlformats.org/drawingml/2006/main">
              <a:ext uri="{FF2B5EF4-FFF2-40B4-BE49-F238E27FC236}">
                <a16:creationId xmlns:a16="http://schemas.microsoft.com/office/drawing/2014/main" id="{652F2F53-466D-4654-8716-0C62D873A930}"/>
              </a:ext>
            </a:extLst>
          </p:cNvPr>
          <p:cNvSpPr>
            <a:spLocks xmlns:a="http://schemas.openxmlformats.org/drawingml/2006/main" noGrp="1"/>
          </p:cNvSpPr>
          <p:nvPr/>
        </p:nvSpPr>
        <p:spPr>
          <a:xfrm xmlns:a="http://schemas.openxmlformats.org/drawingml/2006/main">
            <a:off x="419100" y="3124200"/>
            <a:ext cx="533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646464"/>
                </a:solidFill>
                <a:latin typeface="Arial"/>
                <a:ea typeface="Arial"/>
                <a:cs typeface="Arial"/>
              </a:defRPr>
            </a:pPr>
            <a:r>
              <a:rPr sz="2100" b="0">
                <a:solidFill>
                  <a:srgbClr val="646464"/>
                </a:solidFill>
                <a:latin typeface="Arial"/>
                <a:ea typeface="Arial"/>
                <a:cs typeface="Arial"/>
              </a:rPr>
              <a:t>Save once. Understand once.</a:t>
            </a:r>
          </a:p>
          <a:p xmlns:a="http://schemas.openxmlformats.org/drawingml/2006/main">
            <a:pPr algn="l">
              <a:defRPr sz="2100" b="0">
                <a:solidFill>
                  <a:srgbClr val="646464"/>
                </a:solidFill>
                <a:latin typeface="Arial"/>
                <a:ea typeface="Arial"/>
                <a:cs typeface="Arial"/>
              </a:defRPr>
            </a:pPr>
            <a:r>
              <a:rPr sz="2100" b="0">
                <a:solidFill>
                  <a:srgbClr val="646464"/>
                </a:solidFill>
                <a:latin typeface="Arial"/>
                <a:ea typeface="Arial"/>
                <a:cs typeface="Arial"/>
              </a:rPr>
              <a:t>Retrieve whenever it matters.</a:t>
            </a:r>
          </a:p>
        </p:txBody>
      </p:sp>
      <p:sp>
        <p:nvSpPr>
          <p:cNvPr id="5" name="qa-prompt">
            <a:extLst xmlns:a="http://schemas.openxmlformats.org/drawingml/2006/main">
              <a:ext uri="{FF2B5EF4-FFF2-40B4-BE49-F238E27FC236}">
                <a16:creationId xmlns:a16="http://schemas.microsoft.com/office/drawing/2014/main" id="{9543C358-48FC-450E-9636-C53CC88CE505}"/>
              </a:ext>
            </a:extLst>
          </p:cNvPr>
          <p:cNvSpPr>
            <a:spLocks xmlns:a="http://schemas.openxmlformats.org/drawingml/2006/main" noGrp="1"/>
          </p:cNvSpPr>
          <p:nvPr/>
        </p:nvSpPr>
        <p:spPr>
          <a:xfrm xmlns:a="http://schemas.openxmlformats.org/drawingml/2006/main">
            <a:off x="419100" y="4876800"/>
            <a:ext cx="5715000" cy="876300"/>
          </a:xfrm>
          <a:prstGeom xmlns:a="http://schemas.openxmlformats.org/drawingml/2006/main" prst="rect">
            <a:avLst/>
          </a:prstGeom>
          <a:solidFill xmlns:a="http://schemas.openxmlformats.org/drawingml/2006/main">
            <a:srgbClr val="F0EEE8"/>
          </a:solidFill>
          <a:ln xmlns:a="http://schemas.openxmlformats.org/drawingml/2006/main" w="14288">
            <a:solidFill>
              <a:srgbClr val="F0EEE8"/>
            </a:solidFill>
            <a:prstDash val="solid"/>
          </a:ln>
        </p:spPr>
      </p:sp>
      <p:sp>
        <p:nvSpPr>
          <p:cNvPr id="6" name="qa-prompt-text">
            <a:extLst xmlns:a="http://schemas.openxmlformats.org/drawingml/2006/main">
              <a:ext uri="{FF2B5EF4-FFF2-40B4-BE49-F238E27FC236}">
                <a16:creationId xmlns:a16="http://schemas.microsoft.com/office/drawing/2014/main" id="{90E3887A-D494-4C08-8E68-18A06E61B77E}"/>
              </a:ext>
            </a:extLst>
          </p:cNvPr>
          <p:cNvSpPr>
            <a:spLocks xmlns:a="http://schemas.openxmlformats.org/drawingml/2006/main" noGrp="1"/>
          </p:cNvSpPr>
          <p:nvPr/>
        </p:nvSpPr>
        <p:spPr>
          <a:xfrm xmlns:a="http://schemas.openxmlformats.org/drawingml/2006/main">
            <a:off x="685800" y="5067300"/>
            <a:ext cx="5181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540"/>
          </a:bodyPr>
          <a:lstStyle xmlns:a="http://schemas.openxmlformats.org/drawingml/2006/main"/>
          <a:p xmlns:a="http://schemas.openxmlformats.org/drawingml/2006/main">
            <a:pPr algn="ctr">
              <a:defRPr sz="1575" b="1">
                <a:solidFill>
                  <a:srgbClr val="171717"/>
                </a:solidFill>
                <a:latin typeface="Arial"/>
                <a:ea typeface="Arial"/>
                <a:cs typeface="Arial"/>
              </a:defRPr>
            </a:pPr>
            <a:r>
              <a:rPr sz="1575" b="1">
                <a:solidFill>
                  <a:srgbClr val="171717"/>
                </a:solidFill>
                <a:latin typeface="Arial"/>
                <a:ea typeface="Arial"/>
                <a:cs typeface="Arial"/>
              </a:rPr>
              <a:t>Capture → Understand → Embed → Retrieve → Answer</a:t>
            </a:r>
          </a:p>
        </p:txBody>
      </p:sp>
      <p:sp>
        <p:nvSpPr>
          <p:cNvPr id="7" name="qa-number">
            <a:extLst xmlns:a="http://schemas.openxmlformats.org/drawingml/2006/main">
              <a:ext uri="{FF2B5EF4-FFF2-40B4-BE49-F238E27FC236}">
                <a16:creationId xmlns:a16="http://schemas.microsoft.com/office/drawing/2014/main" id="{066D5033-FFE5-4E04-A9EB-4C421772F799}"/>
              </a:ext>
            </a:extLst>
          </p:cNvPr>
          <p:cNvSpPr>
            <a:spLocks xmlns:a="http://schemas.openxmlformats.org/drawingml/2006/main" noGrp="1"/>
          </p:cNvSpPr>
          <p:nvPr/>
        </p:nvSpPr>
        <p:spPr>
          <a:xfrm xmlns:a="http://schemas.openxmlformats.org/drawingml/2006/main">
            <a:off x="6400800" y="62865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p xmlns:a="http://schemas.openxmlformats.org/drawingml/2006/main">
            <a:pPr algn="r">
              <a:defRPr sz="975" b="0">
                <a:solidFill>
                  <a:srgbClr val="646464"/>
                </a:solidFill>
                <a:latin typeface="Arial"/>
                <a:ea typeface="Arial"/>
                <a:cs typeface="Arial"/>
              </a:defRPr>
            </a:pPr>
            <a:r>
              <a:rPr sz="975" b="0">
                <a:solidFill>
                  <a:srgbClr val="646464"/>
                </a:solidFill>
                <a:latin typeface="Arial"/>
                <a:ea typeface="Arial"/>
                <a:cs typeface="Arial"/>
              </a:rPr>
              <a:t>06</a:t>
            </a:r>
          </a:p>
        </p:txBody>
      </p:sp>
    </p:spTree>
    <p:extLst>
      <p:ext uri="{BB962C8B-B14F-4D97-AF65-F5344CB8AC3E}">
        <p14:creationId xmlns:p14="http://schemas.microsoft.com/office/powerpoint/2010/main" val="1587003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2026-07-24T09:09:40.2820000Z</dcterms:created>
  <dcterms:modified xsi:type="dcterms:W3CDTF">2026-07-24T09:09:40.2820000Z</dcterms:modified>
</coreProperties>
</file>